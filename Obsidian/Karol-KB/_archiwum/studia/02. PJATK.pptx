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4630400" cy="8229600"/>
  <p:notesSz cx="8229600" cy="14630400"/>
  <p:embeddedFontLst>
    <p:embeddedFont>
      <p:font typeface="Inter"/>
      <p:regular r:id="rId67"/>
    </p:embeddedFont>
    <p:embeddedFont>
      <p:font typeface="Inter"/>
      <p:regular r:id="rId68"/>
    </p:embeddedFont>
    <p:embeddedFont>
      <p:font typeface="Inter"/>
      <p:regular r:id="rId69"/>
    </p:embeddedFont>
    <p:embeddedFont>
      <p:font typeface="Inter"/>
      <p:regular r:id="rId70"/>
    </p:embeddedFont>
    <p:embeddedFont>
      <p:font typeface="Inter"/>
      <p:regular r:id="rId71"/>
    </p:embeddedFont>
    <p:embeddedFont>
      <p:font typeface="Inter"/>
      <p:regular r:id="rId72"/>
    </p:embeddedFont>
    <p:embeddedFont>
      <p:font typeface="Inter"/>
      <p:regular r:id="rId73"/>
    </p:embeddedFont>
    <p:embeddedFont>
      <p:font typeface="Inter"/>
      <p:regular r:id="rId7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openxmlformats.org/officeDocument/2006/relationships/font" Target="fonts/font1.fntdata"/><Relationship Id="rId68" Type="http://schemas.openxmlformats.org/officeDocument/2006/relationships/font" Target="fonts/font2.fntdata"/><Relationship Id="rId69" Type="http://schemas.openxmlformats.org/officeDocument/2006/relationships/font" Target="fonts/font3.fntdata"/><Relationship Id="rId70" Type="http://schemas.openxmlformats.org/officeDocument/2006/relationships/font" Target="fonts/font4.fntdata"/><Relationship Id="rId71" Type="http://schemas.openxmlformats.org/officeDocument/2006/relationships/font" Target="fonts/font5.fntdata"/><Relationship Id="rId72" Type="http://schemas.openxmlformats.org/officeDocument/2006/relationships/font" Target="fonts/font6.fntdata"/><Relationship Id="rId73" Type="http://schemas.openxmlformats.org/officeDocument/2006/relationships/font" Target="fonts/font7.fntdata"/><Relationship Id="rId7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5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lide 5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lide 5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lide 5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lide 5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lide 5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lide 5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lide 5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lide 5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lide 6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slideLayout" Target="../slideLayouts/slideLayout9.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svg"/><Relationship Id="rId4" Type="http://schemas.openxmlformats.org/officeDocument/2006/relationships/image" Target="../media/image-14-4.png"/><Relationship Id="rId5" Type="http://schemas.openxmlformats.org/officeDocument/2006/relationships/image" Target="../media/image-14-5.svg"/><Relationship Id="rId6" Type="http://schemas.openxmlformats.org/officeDocument/2006/relationships/image" Target="../media/image-14-6.png"/><Relationship Id="rId7" Type="http://schemas.openxmlformats.org/officeDocument/2006/relationships/image" Target="../media/image-14-7.svg"/><Relationship Id="rId8" Type="http://schemas.openxmlformats.org/officeDocument/2006/relationships/image" Target="../media/image-14-8.png"/><Relationship Id="rId9" Type="http://schemas.openxmlformats.org/officeDocument/2006/relationships/image" Target="../media/image-14-9.svg"/><Relationship Id="rId10" Type="http://schemas.openxmlformats.org/officeDocument/2006/relationships/slideLayout" Target="../slideLayouts/slideLayout15.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image" Target="../media/image-16-7.png"/><Relationship Id="rId8" Type="http://schemas.openxmlformats.org/officeDocument/2006/relationships/image" Target="../media/image-16-8.svg"/><Relationship Id="rId9" Type="http://schemas.openxmlformats.org/officeDocument/2006/relationships/image" Target="../media/image-16-9.png"/><Relationship Id="rId10" Type="http://schemas.openxmlformats.org/officeDocument/2006/relationships/slideLayout" Target="../slideLayouts/slideLayout17.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8.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6.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7.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svg"/><Relationship Id="rId4" Type="http://schemas.openxmlformats.org/officeDocument/2006/relationships/image" Target="../media/image-48-4.png"/><Relationship Id="rId5" Type="http://schemas.openxmlformats.org/officeDocument/2006/relationships/image" Target="../media/image-48-5.svg"/><Relationship Id="rId6" Type="http://schemas.openxmlformats.org/officeDocument/2006/relationships/image" Target="../media/image-48-6.png"/><Relationship Id="rId7" Type="http://schemas.openxmlformats.org/officeDocument/2006/relationships/image" Target="../media/image-48-7.svg"/><Relationship Id="rId8" Type="http://schemas.openxmlformats.org/officeDocument/2006/relationships/image" Target="../media/image-48-8.png"/><Relationship Id="rId9" Type="http://schemas.openxmlformats.org/officeDocument/2006/relationships/image" Target="../media/image-48-9.svg"/><Relationship Id="rId10" Type="http://schemas.openxmlformats.org/officeDocument/2006/relationships/slideLayout" Target="../slideLayouts/slideLayout49.xml"/><Relationship Id="rId11"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52.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57.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svg"/><Relationship Id="rId3" Type="http://schemas.openxmlformats.org/officeDocument/2006/relationships/image" Target="../media/image-58-3.png"/><Relationship Id="rId4" Type="http://schemas.openxmlformats.org/officeDocument/2006/relationships/image" Target="../media/image-58-4.svg"/><Relationship Id="rId5" Type="http://schemas.openxmlformats.org/officeDocument/2006/relationships/image" Target="../media/image-58-5.png"/><Relationship Id="rId6" Type="http://schemas.openxmlformats.org/officeDocument/2006/relationships/image" Target="../media/image-58-6.svg"/><Relationship Id="rId7" Type="http://schemas.openxmlformats.org/officeDocument/2006/relationships/slideLayout" Target="../slideLayouts/slideLayout59.xml"/><Relationship Id="rId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61.xml"/><Relationship Id="rId5"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831663"/>
            <a:ext cx="13042821" cy="1240155"/>
          </a:xfrm>
          <a:prstGeom prst="rect">
            <a:avLst/>
          </a:prstGeom>
          <a:noFill/>
          <a:ln/>
        </p:spPr>
        <p:txBody>
          <a:bodyPr wrap="squar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Due diligence AI - czego nie wiecie o narzędziach, które już kupiliście</a:t>
            </a:r>
            <a:endParaRPr lang="en-US" sz="3900" dirty="0"/>
          </a:p>
        </p:txBody>
      </p:sp>
      <p:sp>
        <p:nvSpPr>
          <p:cNvPr id="3" name="Text 1"/>
          <p:cNvSpPr/>
          <p:nvPr/>
        </p:nvSpPr>
        <p:spPr>
          <a:xfrm>
            <a:off x="793790" y="4468654"/>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4" name="Shape 2"/>
          <p:cNvSpPr/>
          <p:nvPr/>
        </p:nvSpPr>
        <p:spPr>
          <a:xfrm>
            <a:off x="793790" y="5017056"/>
            <a:ext cx="1007507" cy="373142"/>
          </a:xfrm>
          <a:prstGeom prst="roundRect">
            <a:avLst>
              <a:gd name="adj" fmla="val 17872"/>
            </a:avLst>
          </a:prstGeom>
          <a:solidFill>
            <a:srgbClr val="0A004D"/>
          </a:solidFill>
          <a:ln/>
        </p:spPr>
      </p:sp>
      <p:sp>
        <p:nvSpPr>
          <p:cNvPr id="5" name="Text 3"/>
          <p:cNvSpPr/>
          <p:nvPr/>
        </p:nvSpPr>
        <p:spPr>
          <a:xfrm>
            <a:off x="912852" y="5076587"/>
            <a:ext cx="769382" cy="254079"/>
          </a:xfrm>
          <a:prstGeom prst="rect">
            <a:avLst/>
          </a:prstGeom>
          <a:noFill/>
          <a:ln/>
        </p:spPr>
        <p:txBody>
          <a:bodyPr wrap="none" lIns="0" tIns="0" rIns="0" bIns="0" rtlCol="0" anchor="t"/>
          <a:lstStyle/>
          <a:p>
            <a:pPr algn="l" indent="0" marL="0">
              <a:lnSpc>
                <a:spcPts val="2000"/>
              </a:lnSpc>
              <a:buNone/>
            </a:pPr>
            <a:r>
              <a:rPr lang="en-US" sz="1250" dirty="0">
                <a:solidFill>
                  <a:srgbClr val="E5E0DF"/>
                </a:solidFill>
                <a:latin typeface="Inter" pitchFamily="34" charset="0"/>
                <a:ea typeface="Inter" pitchFamily="34" charset="-122"/>
                <a:cs typeface="Inter" pitchFamily="34" charset="-120"/>
              </a:rPr>
              <a:t>90 MINUT</a:t>
            </a:r>
            <a:endParaRPr lang="en-US" sz="1250" dirty="0"/>
          </a:p>
        </p:txBody>
      </p:sp>
      <p:sp>
        <p:nvSpPr>
          <p:cNvPr id="6" name="Shape 4"/>
          <p:cNvSpPr/>
          <p:nvPr/>
        </p:nvSpPr>
        <p:spPr>
          <a:xfrm>
            <a:off x="1900476" y="5009436"/>
            <a:ext cx="2421374" cy="388382"/>
          </a:xfrm>
          <a:prstGeom prst="roundRect">
            <a:avLst>
              <a:gd name="adj" fmla="val 17171"/>
            </a:avLst>
          </a:prstGeom>
          <a:noFill/>
          <a:ln w="7620">
            <a:solidFill>
              <a:srgbClr val="2B0AFF"/>
            </a:solidFill>
            <a:prstDash val="solid"/>
          </a:ln>
        </p:spPr>
      </p:sp>
      <p:sp>
        <p:nvSpPr>
          <p:cNvPr id="7" name="Text 5"/>
          <p:cNvSpPr/>
          <p:nvPr/>
        </p:nvSpPr>
        <p:spPr>
          <a:xfrm>
            <a:off x="2027158" y="5076587"/>
            <a:ext cx="2168009" cy="254079"/>
          </a:xfrm>
          <a:prstGeom prst="rect">
            <a:avLst/>
          </a:prstGeom>
          <a:noFill/>
          <a:ln/>
        </p:spPr>
        <p:txBody>
          <a:bodyPr wrap="none" lIns="0" tIns="0" rIns="0" bIns="0" rtlCol="0" anchor="t"/>
          <a:lstStyle/>
          <a:p>
            <a:pPr algn="l" indent="0" marL="0">
              <a:lnSpc>
                <a:spcPts val="2000"/>
              </a:lnSpc>
              <a:buNone/>
            </a:pPr>
            <a:r>
              <a:rPr lang="en-US" sz="1250" dirty="0">
                <a:solidFill>
                  <a:srgbClr val="2B0AFF"/>
                </a:solidFill>
                <a:latin typeface="Inter" pitchFamily="34" charset="0"/>
                <a:ea typeface="Inter" pitchFamily="34" charset="-122"/>
                <a:cs typeface="Inter" pitchFamily="34" charset="-120"/>
              </a:rPr>
              <a:t>WARSZTAT INTERAKTYWNY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873216"/>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Kontekst</a:t>
            </a:r>
            <a:endParaRPr lang="en-US" sz="1950" dirty="0"/>
          </a:p>
        </p:txBody>
      </p:sp>
      <p:sp>
        <p:nvSpPr>
          <p:cNvPr id="3" name="Text 1"/>
          <p:cNvSpPr/>
          <p:nvPr/>
        </p:nvSpPr>
        <p:spPr>
          <a:xfrm>
            <a:off x="793790" y="3262670"/>
            <a:ext cx="6957774"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Powrót po przerwie kawowej</a:t>
            </a:r>
            <a:endParaRPr lang="en-US" sz="3900" dirty="0"/>
          </a:p>
        </p:txBody>
      </p:sp>
      <p:sp>
        <p:nvSpPr>
          <p:cNvPr id="4" name="Text 2"/>
          <p:cNvSpPr/>
          <p:nvPr/>
        </p:nvSpPr>
        <p:spPr>
          <a:xfrm>
            <a:off x="793790" y="418040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W bloku 1 poznacieście już krajobraz regulacji AI - Digital Omnibus, raporty UODO, liczby pokazujące skalę luki świadomości. Teraz przechodzimy z poziomu „co się dzieje w regulacjach" na poziom „co to znaczy dla umowy, którą podpisaliście w zeszłym miesiącu".</a:t>
            </a:r>
            <a:endParaRPr lang="en-US" sz="1550" dirty="0"/>
          </a:p>
        </p:txBody>
      </p:sp>
      <p:sp>
        <p:nvSpPr>
          <p:cNvPr id="5" name="Text 3"/>
          <p:cNvSpPr/>
          <p:nvPr/>
        </p:nvSpPr>
        <p:spPr>
          <a:xfrm>
            <a:off x="793790" y="5038725"/>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71650"/>
            <a:ext cx="6341507"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Kto przeczytał regulamin?</a:t>
            </a:r>
            <a:endParaRPr lang="en-US" sz="3900" dirty="0"/>
          </a:p>
        </p:txBody>
      </p:sp>
      <p:sp>
        <p:nvSpPr>
          <p:cNvPr id="3" name="Text 1"/>
          <p:cNvSpPr/>
          <p:nvPr/>
        </p:nvSpPr>
        <p:spPr>
          <a:xfrm>
            <a:off x="793790" y="2471023"/>
            <a:ext cx="2983468"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Trzy pytania na otwarcie</a:t>
            </a:r>
            <a:endParaRPr lang="en-US" sz="1950" dirty="0"/>
          </a:p>
        </p:txBody>
      </p:sp>
      <p:sp>
        <p:nvSpPr>
          <p:cNvPr id="4" name="Text 2"/>
          <p:cNvSpPr/>
          <p:nvPr/>
        </p:nvSpPr>
        <p:spPr>
          <a:xfrm>
            <a:off x="793790" y="3078837"/>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Light" pitchFamily="34" charset="0"/>
                <a:ea typeface="Inter Light" pitchFamily="34" charset="-122"/>
                <a:cs typeface="Inter Light" pitchFamily="34" charset="-120"/>
              </a:rPr>
              <a:t>01</a:t>
            </a:r>
            <a:endParaRPr lang="en-US" sz="1550" dirty="0"/>
          </a:p>
        </p:txBody>
      </p:sp>
      <p:sp>
        <p:nvSpPr>
          <p:cNvPr id="5" name="Shape 3"/>
          <p:cNvSpPr/>
          <p:nvPr/>
        </p:nvSpPr>
        <p:spPr>
          <a:xfrm>
            <a:off x="793790" y="3393162"/>
            <a:ext cx="4215289" cy="22860"/>
          </a:xfrm>
          <a:prstGeom prst="rect">
            <a:avLst/>
          </a:prstGeom>
          <a:solidFill>
            <a:srgbClr val="2B0AFF"/>
          </a:solidFill>
          <a:ln/>
        </p:spPr>
      </p:sp>
      <p:sp>
        <p:nvSpPr>
          <p:cNvPr id="6" name="Text 4"/>
          <p:cNvSpPr/>
          <p:nvPr/>
        </p:nvSpPr>
        <p:spPr>
          <a:xfrm>
            <a:off x="793790" y="353806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Pierwsze pytanie</a:t>
            </a:r>
            <a:endParaRPr lang="en-US" sz="1950" dirty="0"/>
          </a:p>
        </p:txBody>
      </p:sp>
      <p:sp>
        <p:nvSpPr>
          <p:cNvPr id="7" name="Text 5"/>
          <p:cNvSpPr/>
          <p:nvPr/>
        </p:nvSpPr>
        <p:spPr>
          <a:xfrm>
            <a:off x="793790" y="3967282"/>
            <a:ext cx="4215289" cy="190523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Kto z was w ciągu ostatniego roku kupił dla swojej firmy jakiekolwiek narzędzie, w którym jest sztuczna inteligencja? CRM z funkcją predykcji? Analitykę? Chatbota na stronę? System do HR? Cokolwiek z napisem AI na opakowaniu?</a:t>
            </a:r>
            <a:endParaRPr lang="en-US" sz="1550" dirty="0"/>
          </a:p>
        </p:txBody>
      </p:sp>
      <p:sp>
        <p:nvSpPr>
          <p:cNvPr id="8" name="Text 6"/>
          <p:cNvSpPr/>
          <p:nvPr/>
        </p:nvSpPr>
        <p:spPr>
          <a:xfrm>
            <a:off x="793790" y="5991582"/>
            <a:ext cx="4215289"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9" name="Text 7"/>
          <p:cNvSpPr/>
          <p:nvPr/>
        </p:nvSpPr>
        <p:spPr>
          <a:xfrm>
            <a:off x="5207437" y="3078837"/>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Light" pitchFamily="34" charset="0"/>
                <a:ea typeface="Inter Light" pitchFamily="34" charset="-122"/>
                <a:cs typeface="Inter Light" pitchFamily="34" charset="-120"/>
              </a:rPr>
              <a:t>02</a:t>
            </a:r>
            <a:endParaRPr lang="en-US" sz="1550" dirty="0"/>
          </a:p>
        </p:txBody>
      </p:sp>
      <p:sp>
        <p:nvSpPr>
          <p:cNvPr id="10" name="Shape 8"/>
          <p:cNvSpPr/>
          <p:nvPr/>
        </p:nvSpPr>
        <p:spPr>
          <a:xfrm>
            <a:off x="5207437" y="3393162"/>
            <a:ext cx="4215408" cy="22860"/>
          </a:xfrm>
          <a:prstGeom prst="rect">
            <a:avLst/>
          </a:prstGeom>
          <a:solidFill>
            <a:srgbClr val="2B0AFF"/>
          </a:solidFill>
          <a:ln/>
        </p:spPr>
      </p:sp>
      <p:sp>
        <p:nvSpPr>
          <p:cNvPr id="11" name="Text 9"/>
          <p:cNvSpPr/>
          <p:nvPr/>
        </p:nvSpPr>
        <p:spPr>
          <a:xfrm>
            <a:off x="5207437" y="353806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Drugie pytanie</a:t>
            </a:r>
            <a:endParaRPr lang="en-US" sz="1950" dirty="0"/>
          </a:p>
        </p:txBody>
      </p:sp>
      <p:sp>
        <p:nvSpPr>
          <p:cNvPr id="12" name="Text 10"/>
          <p:cNvSpPr/>
          <p:nvPr/>
        </p:nvSpPr>
        <p:spPr>
          <a:xfrm>
            <a:off x="5207437" y="3967282"/>
            <a:ext cx="4215408" cy="127015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Kto z was - albo ktokolwiek w waszej firmie - przed podpisaniem umowy przeczytał model card, data sheet, dokumentację techniczną tego narzędzia AI?</a:t>
            </a:r>
            <a:endParaRPr lang="en-US" sz="1550" dirty="0"/>
          </a:p>
        </p:txBody>
      </p:sp>
      <p:sp>
        <p:nvSpPr>
          <p:cNvPr id="13" name="Text 11"/>
          <p:cNvSpPr/>
          <p:nvPr/>
        </p:nvSpPr>
        <p:spPr>
          <a:xfrm>
            <a:off x="5207437" y="5356503"/>
            <a:ext cx="4215408"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14" name="Text 12"/>
          <p:cNvSpPr/>
          <p:nvPr/>
        </p:nvSpPr>
        <p:spPr>
          <a:xfrm>
            <a:off x="5207437" y="5793105"/>
            <a:ext cx="4215408"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15" name="Text 13"/>
          <p:cNvSpPr/>
          <p:nvPr/>
        </p:nvSpPr>
        <p:spPr>
          <a:xfrm>
            <a:off x="9621203" y="3078837"/>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Light" pitchFamily="34" charset="0"/>
                <a:ea typeface="Inter Light" pitchFamily="34" charset="-122"/>
                <a:cs typeface="Inter Light" pitchFamily="34" charset="-120"/>
              </a:rPr>
              <a:t>03</a:t>
            </a:r>
            <a:endParaRPr lang="en-US" sz="1550" dirty="0"/>
          </a:p>
        </p:txBody>
      </p:sp>
      <p:sp>
        <p:nvSpPr>
          <p:cNvPr id="16" name="Shape 14"/>
          <p:cNvSpPr/>
          <p:nvPr/>
        </p:nvSpPr>
        <p:spPr>
          <a:xfrm>
            <a:off x="9621203" y="3393162"/>
            <a:ext cx="4215289" cy="22860"/>
          </a:xfrm>
          <a:prstGeom prst="rect">
            <a:avLst/>
          </a:prstGeom>
          <a:solidFill>
            <a:srgbClr val="2B0AFF"/>
          </a:solidFill>
          <a:ln/>
        </p:spPr>
      </p:sp>
      <p:sp>
        <p:nvSpPr>
          <p:cNvPr id="17" name="Text 15"/>
          <p:cNvSpPr/>
          <p:nvPr/>
        </p:nvSpPr>
        <p:spPr>
          <a:xfrm>
            <a:off x="9621203" y="353806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Trzecie pytanie</a:t>
            </a:r>
            <a:endParaRPr lang="en-US" sz="1950" dirty="0"/>
          </a:p>
        </p:txBody>
      </p:sp>
      <p:sp>
        <p:nvSpPr>
          <p:cNvPr id="18" name="Text 16"/>
          <p:cNvSpPr/>
          <p:nvPr/>
        </p:nvSpPr>
        <p:spPr>
          <a:xfrm>
            <a:off x="9621203" y="3967282"/>
            <a:ext cx="4215289"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Kto sprawdził, czy w umowie z vendorem jest klauzula określająca, kto odpowiada za klasyfikację systemu pod AI Act?</a:t>
            </a:r>
            <a:endParaRPr lang="en-US" sz="1550" dirty="0"/>
          </a:p>
        </p:txBody>
      </p:sp>
      <p:sp>
        <p:nvSpPr>
          <p:cNvPr id="19" name="Text 17"/>
          <p:cNvSpPr/>
          <p:nvPr/>
        </p:nvSpPr>
        <p:spPr>
          <a:xfrm>
            <a:off x="9621203" y="5038963"/>
            <a:ext cx="4215289" cy="317540"/>
          </a:xfrm>
          <a:prstGeom prst="rect">
            <a:avLst/>
          </a:prstGeom>
          <a:noFill/>
          <a:ln/>
        </p:spPr>
        <p:txBody>
          <a:bodyPr wrap="none" lIns="0" tIns="0" rIns="0" bIns="0" rtlCol="0" anchor="t"/>
          <a:lstStyle/>
          <a:p>
            <a:pPr algn="l" indent="0" marL="0">
              <a:lnSpc>
                <a:spcPts val="2500"/>
              </a:lnSpc>
              <a:buNone/>
            </a:pP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69720"/>
            <a:ext cx="5193506"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Provider vs. Deployer</a:t>
            </a:r>
            <a:endParaRPr lang="en-US" sz="3900" dirty="0"/>
          </a:p>
        </p:txBody>
      </p:sp>
      <p:sp>
        <p:nvSpPr>
          <p:cNvPr id="3" name="Text 1"/>
          <p:cNvSpPr/>
          <p:nvPr/>
        </p:nvSpPr>
        <p:spPr>
          <a:xfrm>
            <a:off x="793790" y="2269093"/>
            <a:ext cx="27476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Kluczowe rozróżnienie</a:t>
            </a:r>
            <a:endParaRPr lang="en-US" sz="1950" dirty="0"/>
          </a:p>
        </p:txBody>
      </p:sp>
      <p:sp>
        <p:nvSpPr>
          <p:cNvPr id="4" name="Shape 2"/>
          <p:cNvSpPr/>
          <p:nvPr/>
        </p:nvSpPr>
        <p:spPr>
          <a:xfrm>
            <a:off x="650915" y="2876907"/>
            <a:ext cx="6565106" cy="3782973"/>
          </a:xfrm>
          <a:prstGeom prst="roundRect">
            <a:avLst>
              <a:gd name="adj" fmla="val 3777"/>
            </a:avLst>
          </a:prstGeom>
          <a:solidFill>
            <a:srgbClr val="2B0AFF"/>
          </a:solidFill>
          <a:ln/>
        </p:spPr>
      </p:sp>
      <p:sp>
        <p:nvSpPr>
          <p:cNvPr id="5" name="Text 3"/>
          <p:cNvSpPr/>
          <p:nvPr/>
        </p:nvSpPr>
        <p:spPr>
          <a:xfrm>
            <a:off x="849273" y="307526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Provider (dostawca)</a:t>
            </a:r>
            <a:endParaRPr lang="en-US" sz="1950" dirty="0"/>
          </a:p>
        </p:txBody>
      </p:sp>
      <p:sp>
        <p:nvSpPr>
          <p:cNvPr id="6" name="Text 4"/>
          <p:cNvSpPr/>
          <p:nvPr/>
        </p:nvSpPr>
        <p:spPr>
          <a:xfrm>
            <a:off x="849273" y="3583781"/>
            <a:ext cx="6168390"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Firma, która tworzy modele i systemy AI. OpenAI, Google, Anthropic, polskie startupy. To oni są w centrum uwagi mediów i konferencji.</a:t>
            </a:r>
            <a:endParaRPr lang="en-US" sz="1550" dirty="0"/>
          </a:p>
        </p:txBody>
      </p:sp>
      <p:sp>
        <p:nvSpPr>
          <p:cNvPr id="7" name="Text 5"/>
          <p:cNvSpPr/>
          <p:nvPr/>
        </p:nvSpPr>
        <p:spPr>
          <a:xfrm>
            <a:off x="849273" y="4714994"/>
            <a:ext cx="6168390" cy="95261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Ich obowiązki:</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projektowanie zgodne z wymogami, dokumentacja techniczna, system zarządzania jakością, oznakowanie CE (dla high-risk).</a:t>
            </a:r>
            <a:endParaRPr lang="en-US" sz="1550" dirty="0"/>
          </a:p>
        </p:txBody>
      </p:sp>
      <p:sp>
        <p:nvSpPr>
          <p:cNvPr id="8" name="Text 6"/>
          <p:cNvSpPr/>
          <p:nvPr/>
        </p:nvSpPr>
        <p:spPr>
          <a:xfrm>
            <a:off x="7564874" y="3075265"/>
            <a:ext cx="2730698"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Deployer (wdrażający)</a:t>
            </a:r>
            <a:endParaRPr lang="en-US" sz="1950" dirty="0"/>
          </a:p>
        </p:txBody>
      </p:sp>
      <p:sp>
        <p:nvSpPr>
          <p:cNvPr id="9" name="Text 7"/>
          <p:cNvSpPr/>
          <p:nvPr/>
        </p:nvSpPr>
        <p:spPr>
          <a:xfrm>
            <a:off x="7564874" y="3583781"/>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Firma, która kupuje cudze rozwiązania AI i stosuje je w swojej działalności.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Większość osób na tej sali.</a:t>
            </a:r>
            <a:endParaRPr lang="en-US" sz="1550" dirty="0"/>
          </a:p>
        </p:txBody>
      </p:sp>
      <p:sp>
        <p:nvSpPr>
          <p:cNvPr id="10" name="Text 8"/>
          <p:cNvSpPr/>
          <p:nvPr/>
        </p:nvSpPr>
        <p:spPr>
          <a:xfrm>
            <a:off x="7564874" y="4397454"/>
            <a:ext cx="6279356" cy="127015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Wasze obowiązki (art. 26 AI Act):</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stosowanie systemu zgodnie z instrukcjami, zapewnienie human oversight, monitorowanie działania, logowanie, informowanie pracowników, współpraca z organem nadzoru.</a:t>
            </a:r>
            <a:endParaRPr lang="en-US" sz="1550" dirty="0"/>
          </a:p>
        </p:txBody>
      </p:sp>
      <p:sp>
        <p:nvSpPr>
          <p:cNvPr id="11" name="Text 9"/>
          <p:cNvSpPr/>
          <p:nvPr/>
        </p:nvSpPr>
        <p:spPr>
          <a:xfrm>
            <a:off x="7564874" y="5846207"/>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FFF00"/>
                </a:highlight>
                <a:latin typeface="Inter" pitchFamily="34" charset="0"/>
                <a:ea typeface="Inter" pitchFamily="34" charset="-122"/>
                <a:cs typeface="Inter" pitchFamily="34" charset="-120"/>
              </a:rPr>
              <a:t>Kluczowe: deployer klasyfikuje system w swoim kontekście użycia.</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15189"/>
            <a:ext cx="6777990"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Pułapka myślenia deployera</a:t>
            </a:r>
            <a:endParaRPr lang="en-US" sz="3900" dirty="0"/>
          </a:p>
        </p:txBody>
      </p:sp>
      <p:sp>
        <p:nvSpPr>
          <p:cNvPr id="3" name="Text 1"/>
          <p:cNvSpPr/>
          <p:nvPr/>
        </p:nvSpPr>
        <p:spPr>
          <a:xfrm>
            <a:off x="1091446" y="2755344"/>
            <a:ext cx="12745164"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„Skoro kupiliśmy gotowe narzędzie, to compliance jest po stronie dostawcy. Dostawca zadbał o klasyfikację, o DPIA, o techniczną dokumentację. Wystarczy podpisać umowę i zacząć używać."</a:t>
            </a:r>
            <a:endParaRPr lang="en-US" sz="1550" dirty="0"/>
          </a:p>
        </p:txBody>
      </p:sp>
      <p:sp>
        <p:nvSpPr>
          <p:cNvPr id="4" name="Shape 2"/>
          <p:cNvSpPr/>
          <p:nvPr/>
        </p:nvSpPr>
        <p:spPr>
          <a:xfrm>
            <a:off x="793790" y="2532102"/>
            <a:ext cx="22860" cy="1081564"/>
          </a:xfrm>
          <a:prstGeom prst="rect">
            <a:avLst/>
          </a:prstGeom>
          <a:solidFill>
            <a:srgbClr val="2B0AFF"/>
          </a:solidFill>
          <a:ln/>
        </p:spPr>
      </p:sp>
      <p:sp>
        <p:nvSpPr>
          <p:cNvPr id="5" name="Text 3"/>
          <p:cNvSpPr/>
          <p:nvPr/>
        </p:nvSpPr>
        <p:spPr>
          <a:xfrm>
            <a:off x="793790" y="383690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myślenie jest błędne i kosztowne. AI Act mówi coś zupełnie innego.</a:t>
            </a:r>
            <a:endParaRPr lang="en-US" sz="1550" dirty="0"/>
          </a:p>
        </p:txBody>
      </p:sp>
      <p:sp>
        <p:nvSpPr>
          <p:cNvPr id="6" name="Text 4"/>
          <p:cNvSpPr/>
          <p:nvPr/>
        </p:nvSpPr>
        <p:spPr>
          <a:xfrm>
            <a:off x="793790" y="437769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Nawet jeśli dostawca mówi „to nie jest high-risk" -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deployer musi to zweryfikować w odniesieniu do tego, jak sam używa tego systemu</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To samo narzędzie może być nie-high-risk w jednym kontekście i high-risk w innym.</a:t>
            </a:r>
            <a:endParaRPr lang="en-US" sz="1550" dirty="0"/>
          </a:p>
        </p:txBody>
      </p:sp>
      <p:sp>
        <p:nvSpPr>
          <p:cNvPr id="7" name="Shape 5"/>
          <p:cNvSpPr/>
          <p:nvPr/>
        </p:nvSpPr>
        <p:spPr>
          <a:xfrm>
            <a:off x="793790" y="5236012"/>
            <a:ext cx="13042821" cy="1478280"/>
          </a:xfrm>
          <a:prstGeom prst="roundRect">
            <a:avLst>
              <a:gd name="adj" fmla="val 5639"/>
            </a:avLst>
          </a:prstGeom>
          <a:solidFill>
            <a:srgbClr val="0A004D"/>
          </a:solidFill>
          <a:ln/>
        </p:spPr>
      </p:sp>
      <p:pic>
        <p:nvPicPr>
          <p:cNvPr id="8" name="Image 0" descr="preencoded.png">    </p:cNvPr>
          <p:cNvPicPr>
            <a:picLocks noChangeAspect="1"/>
          </p:cNvPicPr>
          <p:nvPr/>
        </p:nvPicPr>
        <p:blipFill>
          <a:blip r:embed="rId1"/>
          <a:stretch>
            <a:fillRect/>
          </a:stretch>
        </p:blipFill>
        <p:spPr>
          <a:xfrm>
            <a:off x="992148" y="5538907"/>
            <a:ext cx="248007" cy="198358"/>
          </a:xfrm>
          <a:prstGeom prst="rect">
            <a:avLst/>
          </a:prstGeom>
        </p:spPr>
      </p:pic>
      <p:sp>
        <p:nvSpPr>
          <p:cNvPr id="9" name="Text 6"/>
          <p:cNvSpPr/>
          <p:nvPr/>
        </p:nvSpPr>
        <p:spPr>
          <a:xfrm>
            <a:off x="1438513" y="5483900"/>
            <a:ext cx="12199739" cy="952619"/>
          </a:xfrm>
          <a:prstGeom prst="rect">
            <a:avLst/>
          </a:prstGeom>
          <a:noFill/>
          <a:ln/>
        </p:spPr>
        <p:txBody>
          <a:bodyPr wrap="square" lIns="0" tIns="0" rIns="0" bIns="0" rtlCol="0" anchor="t"/>
          <a:lstStyle/>
          <a:p>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Kluczowa zasada:</a:t>
            </a:r>
            <a:pPr algn="l" indent="0" marL="0">
              <a:lnSpc>
                <a:spcPts val="2500"/>
              </a:lnSpc>
              <a:buNone/>
            </a:pPr>
            <a:r>
              <a:rPr lang="en-US" sz="1550" dirty="0">
                <a:solidFill>
                  <a:srgbClr val="FFFFFF"/>
                </a:solidFill>
                <a:latin typeface="Inter" pitchFamily="34" charset="0"/>
                <a:ea typeface="Inter" pitchFamily="34" charset="-122"/>
                <a:cs typeface="Inter" pitchFamily="34" charset="-120"/>
              </a:rPr>
              <a:t> Opinia prawna dostawcy was nie chroni. Regulamin dostawcy was nie chroni. Dostawca klasyfikuje swoje narzędzie w oderwaniu od waszego kontekstu. Wy musicie sklasyfikować je w swoim kontekście - bo to wy odpowiadacie za to, jak go używacie.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76087"/>
            <a:ext cx="13042821" cy="1240155"/>
          </a:xfrm>
          <a:prstGeom prst="rect">
            <a:avLst/>
          </a:prstGeom>
          <a:noFill/>
          <a:ln/>
        </p:spPr>
        <p:txBody>
          <a:bodyPr wrap="squar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Dlaczego tradycyjne due diligence (należyta starnność) nie wystarcza</a:t>
            </a:r>
            <a:endParaRPr lang="en-US" sz="3900" dirty="0"/>
          </a:p>
        </p:txBody>
      </p:sp>
      <p:sp>
        <p:nvSpPr>
          <p:cNvPr id="3" name="Text 1"/>
          <p:cNvSpPr/>
          <p:nvPr/>
        </p:nvSpPr>
        <p:spPr>
          <a:xfrm>
            <a:off x="793790" y="271307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Tradycyjne due diligence przy zakupie oprogramowania koncentruje się na sprawdzonych obszarach: przegląd licencji, SLA, uptime, backup, zgodność z RODO, bezpieczeństwo danych. To wszystko pozostaje ważne.</a:t>
            </a:r>
            <a:endParaRPr lang="en-US" sz="1550" dirty="0"/>
          </a:p>
        </p:txBody>
      </p:sp>
      <p:sp>
        <p:nvSpPr>
          <p:cNvPr id="4" name="Text 2"/>
          <p:cNvSpPr/>
          <p:nvPr/>
        </p:nvSpPr>
        <p:spPr>
          <a:xfrm>
            <a:off x="793790" y="357139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Ale gdy w grę wchodzi AI, potrzebujecie dodatkowej warstwy analizy - warstwy, której większość działów prawnych i zakupów jeszcze nie zna. Bo AI to nie jest zwykłe oprogramowanie:</a:t>
            </a:r>
            <a:endParaRPr lang="en-US" sz="1550" dirty="0"/>
          </a:p>
        </p:txBody>
      </p:sp>
      <p:sp>
        <p:nvSpPr>
          <p:cNvPr id="5" name="Text 3"/>
          <p:cNvSpPr/>
          <p:nvPr/>
        </p:nvSpPr>
        <p:spPr>
          <a:xfrm>
            <a:off x="793790" y="4429720"/>
            <a:ext cx="13042821" cy="1587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AI uczy się na danych - w tym potencjalnie na waszych danych</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AI podejmuje decyzje probabilistyczne, nie deterministyczne - nie ma gwarancji poprawności</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AI może dyskryminować - nawet jeśli nie zamierzacie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AI zmienia się w czasie - model, który zaakceptowaliście w poniedziałek, może działać inaczej w piątek</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AI może generować halucynacje - przekonujące, ale fałszywe odpowiedzi</a:t>
            </a:r>
            <a:endParaRPr lang="en-US" sz="1550" dirty="0"/>
          </a:p>
        </p:txBody>
      </p:sp>
      <p:sp>
        <p:nvSpPr>
          <p:cNvPr id="6" name="Text 4"/>
          <p:cNvSpPr/>
          <p:nvPr/>
        </p:nvSpPr>
        <p:spPr>
          <a:xfrm>
            <a:off x="793790" y="624075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Dlatego potrzebujecie nowej metodologii due diligence - metodologii, która rozumie specyfikę systemów AI i adresuje ryzyka, których standardowe umowy SaaS nie przewidują.</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85324"/>
            <a:ext cx="6405563" cy="527090"/>
          </a:xfrm>
          <a:prstGeom prst="rect">
            <a:avLst/>
          </a:prstGeom>
          <a:noFill/>
          <a:ln/>
        </p:spPr>
        <p:txBody>
          <a:bodyPr wrap="none" lIns="0" tIns="0" rIns="0" bIns="0" rtlCol="0" anchor="t"/>
          <a:lstStyle/>
          <a:p>
            <a:pPr algn="l" indent="0" marL="0">
              <a:lnSpc>
                <a:spcPts val="4150"/>
              </a:lnSpc>
              <a:buNone/>
            </a:pPr>
            <a:r>
              <a:rPr lang="en-US" sz="3300" b="1" dirty="0">
                <a:solidFill>
                  <a:srgbClr val="FFFFFF"/>
                </a:solidFill>
                <a:latin typeface="Inter Bold" pitchFamily="34" charset="0"/>
                <a:ea typeface="Inter Bold" pitchFamily="34" charset="-122"/>
                <a:cs typeface="Inter Bold" pitchFamily="34" charset="-120"/>
              </a:rPr>
              <a:t>Pięć obszarów due diligence AI</a:t>
            </a:r>
            <a:endParaRPr lang="en-US" sz="3300" dirty="0"/>
          </a:p>
        </p:txBody>
      </p:sp>
      <p:sp>
        <p:nvSpPr>
          <p:cNvPr id="3" name="Shape 1"/>
          <p:cNvSpPr/>
          <p:nvPr/>
        </p:nvSpPr>
        <p:spPr>
          <a:xfrm>
            <a:off x="793790" y="1499116"/>
            <a:ext cx="13042821" cy="1012150"/>
          </a:xfrm>
          <a:prstGeom prst="roundRect">
            <a:avLst>
              <a:gd name="adj" fmla="val 7000"/>
            </a:avLst>
          </a:prstGeom>
          <a:solidFill>
            <a:srgbClr val="272525"/>
          </a:solidFill>
          <a:ln w="22860">
            <a:solidFill>
              <a:srgbClr val="2A1999"/>
            </a:solidFill>
            <a:prstDash val="solid"/>
          </a:ln>
        </p:spPr>
      </p:sp>
      <p:sp>
        <p:nvSpPr>
          <p:cNvPr id="4" name="Shape 2"/>
          <p:cNvSpPr/>
          <p:nvPr/>
        </p:nvSpPr>
        <p:spPr>
          <a:xfrm>
            <a:off x="816650" y="1521976"/>
            <a:ext cx="674727" cy="966430"/>
          </a:xfrm>
          <a:prstGeom prst="roundRect">
            <a:avLst>
              <a:gd name="adj" fmla="val 6436"/>
            </a:avLst>
          </a:prstGeom>
          <a:solidFill>
            <a:srgbClr val="110080"/>
          </a:solidFill>
          <a:ln/>
        </p:spPr>
      </p:sp>
      <p:sp>
        <p:nvSpPr>
          <p:cNvPr id="5" name="Text 3"/>
          <p:cNvSpPr/>
          <p:nvPr/>
        </p:nvSpPr>
        <p:spPr>
          <a:xfrm>
            <a:off x="1023699" y="1847017"/>
            <a:ext cx="253008" cy="316230"/>
          </a:xfrm>
          <a:prstGeom prst="rect">
            <a:avLst/>
          </a:prstGeom>
          <a:noFill/>
          <a:ln/>
        </p:spPr>
        <p:txBody>
          <a:bodyPr wrap="none" lIns="0" tIns="0" rIns="0" bIns="0" rtlCol="0" anchor="t"/>
          <a:lstStyle/>
          <a:p>
            <a:pPr algn="l" indent="0" marL="0">
              <a:lnSpc>
                <a:spcPts val="1950"/>
              </a:lnSpc>
              <a:buNone/>
            </a:pPr>
            <a:r>
              <a:rPr lang="en-US" sz="1950" b="1" dirty="0">
                <a:solidFill>
                  <a:srgbClr val="E5E0DF"/>
                </a:solidFill>
                <a:latin typeface="Inter Bold" pitchFamily="34" charset="0"/>
                <a:ea typeface="Inter Bold" pitchFamily="34" charset="-122"/>
                <a:cs typeface="Inter Bold" pitchFamily="34" charset="-120"/>
              </a:rPr>
              <a:t>1</a:t>
            </a:r>
            <a:endParaRPr lang="en-US" sz="1950" dirty="0"/>
          </a:p>
        </p:txBody>
      </p:sp>
      <p:sp>
        <p:nvSpPr>
          <p:cNvPr id="6" name="Text 4"/>
          <p:cNvSpPr/>
          <p:nvPr/>
        </p:nvSpPr>
        <p:spPr>
          <a:xfrm>
            <a:off x="1634728" y="1690568"/>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Dane treningowe</a:t>
            </a:r>
            <a:endParaRPr lang="en-US" sz="1650" dirty="0"/>
          </a:p>
        </p:txBody>
      </p:sp>
      <p:sp>
        <p:nvSpPr>
          <p:cNvPr id="7" name="Text 5"/>
          <p:cNvSpPr/>
          <p:nvPr/>
        </p:nvSpPr>
        <p:spPr>
          <a:xfrm>
            <a:off x="1634728" y="2040017"/>
            <a:ext cx="12010430" cy="249674"/>
          </a:xfrm>
          <a:prstGeom prst="rect">
            <a:avLst/>
          </a:prstGeom>
          <a:noFill/>
          <a:ln/>
        </p:spPr>
        <p:txBody>
          <a:bodyPr wrap="non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Co się dzieje z waszymi danymi wejściowymi</a:t>
            </a:r>
            <a:endParaRPr lang="en-US" sz="1300" dirty="0"/>
          </a:p>
        </p:txBody>
      </p:sp>
      <p:sp>
        <p:nvSpPr>
          <p:cNvPr id="8" name="Shape 6"/>
          <p:cNvSpPr/>
          <p:nvPr/>
        </p:nvSpPr>
        <p:spPr>
          <a:xfrm>
            <a:off x="793790" y="2654617"/>
            <a:ext cx="13042821" cy="1012150"/>
          </a:xfrm>
          <a:prstGeom prst="roundRect">
            <a:avLst>
              <a:gd name="adj" fmla="val 7000"/>
            </a:avLst>
          </a:prstGeom>
          <a:solidFill>
            <a:srgbClr val="272525"/>
          </a:solidFill>
          <a:ln w="22860">
            <a:solidFill>
              <a:srgbClr val="2A1999"/>
            </a:solidFill>
            <a:prstDash val="solid"/>
          </a:ln>
        </p:spPr>
      </p:sp>
      <p:sp>
        <p:nvSpPr>
          <p:cNvPr id="9" name="Shape 7"/>
          <p:cNvSpPr/>
          <p:nvPr/>
        </p:nvSpPr>
        <p:spPr>
          <a:xfrm>
            <a:off x="816650" y="2677478"/>
            <a:ext cx="674727" cy="966430"/>
          </a:xfrm>
          <a:prstGeom prst="roundRect">
            <a:avLst>
              <a:gd name="adj" fmla="val 6436"/>
            </a:avLst>
          </a:prstGeom>
          <a:solidFill>
            <a:srgbClr val="110080"/>
          </a:solidFill>
          <a:ln/>
        </p:spPr>
      </p:sp>
      <p:sp>
        <p:nvSpPr>
          <p:cNvPr id="10" name="Text 8"/>
          <p:cNvSpPr/>
          <p:nvPr/>
        </p:nvSpPr>
        <p:spPr>
          <a:xfrm>
            <a:off x="1023699" y="3002518"/>
            <a:ext cx="253008" cy="316230"/>
          </a:xfrm>
          <a:prstGeom prst="rect">
            <a:avLst/>
          </a:prstGeom>
          <a:noFill/>
          <a:ln/>
        </p:spPr>
        <p:txBody>
          <a:bodyPr wrap="none" lIns="0" tIns="0" rIns="0" bIns="0" rtlCol="0" anchor="t"/>
          <a:lstStyle/>
          <a:p>
            <a:pPr algn="l" indent="0" marL="0">
              <a:lnSpc>
                <a:spcPts val="1950"/>
              </a:lnSpc>
              <a:buNone/>
            </a:pPr>
            <a:r>
              <a:rPr lang="en-US" sz="1950" b="1" dirty="0">
                <a:solidFill>
                  <a:srgbClr val="E5E0DF"/>
                </a:solidFill>
                <a:latin typeface="Inter Bold" pitchFamily="34" charset="0"/>
                <a:ea typeface="Inter Bold" pitchFamily="34" charset="-122"/>
                <a:cs typeface="Inter Bold" pitchFamily="34" charset="-120"/>
              </a:rPr>
              <a:t>2</a:t>
            </a:r>
            <a:endParaRPr lang="en-US" sz="1950" dirty="0"/>
          </a:p>
        </p:txBody>
      </p:sp>
      <p:sp>
        <p:nvSpPr>
          <p:cNvPr id="11" name="Text 9"/>
          <p:cNvSpPr/>
          <p:nvPr/>
        </p:nvSpPr>
        <p:spPr>
          <a:xfrm>
            <a:off x="1634728" y="2846070"/>
            <a:ext cx="2978825"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karta modelu i dokumentacja</a:t>
            </a:r>
            <a:endParaRPr lang="en-US" sz="1650" dirty="0"/>
          </a:p>
        </p:txBody>
      </p:sp>
      <p:sp>
        <p:nvSpPr>
          <p:cNvPr id="12" name="Text 10"/>
          <p:cNvSpPr/>
          <p:nvPr/>
        </p:nvSpPr>
        <p:spPr>
          <a:xfrm>
            <a:off x="1634728" y="3195518"/>
            <a:ext cx="12010430" cy="249674"/>
          </a:xfrm>
          <a:prstGeom prst="rect">
            <a:avLst/>
          </a:prstGeom>
          <a:noFill/>
          <a:ln/>
        </p:spPr>
        <p:txBody>
          <a:bodyPr wrap="non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Czego narzędzie nie potrafi</a:t>
            </a:r>
            <a:endParaRPr lang="en-US" sz="1300" dirty="0"/>
          </a:p>
        </p:txBody>
      </p:sp>
      <p:sp>
        <p:nvSpPr>
          <p:cNvPr id="13" name="Shape 11"/>
          <p:cNvSpPr/>
          <p:nvPr/>
        </p:nvSpPr>
        <p:spPr>
          <a:xfrm>
            <a:off x="793790" y="3810119"/>
            <a:ext cx="13042821" cy="1012150"/>
          </a:xfrm>
          <a:prstGeom prst="roundRect">
            <a:avLst>
              <a:gd name="adj" fmla="val 7000"/>
            </a:avLst>
          </a:prstGeom>
          <a:solidFill>
            <a:srgbClr val="272525"/>
          </a:solidFill>
          <a:ln w="22860">
            <a:solidFill>
              <a:srgbClr val="2A1999"/>
            </a:solidFill>
            <a:prstDash val="solid"/>
          </a:ln>
        </p:spPr>
      </p:sp>
      <p:sp>
        <p:nvSpPr>
          <p:cNvPr id="14" name="Shape 12"/>
          <p:cNvSpPr/>
          <p:nvPr/>
        </p:nvSpPr>
        <p:spPr>
          <a:xfrm>
            <a:off x="816650" y="3832979"/>
            <a:ext cx="674727" cy="966430"/>
          </a:xfrm>
          <a:prstGeom prst="roundRect">
            <a:avLst>
              <a:gd name="adj" fmla="val 6436"/>
            </a:avLst>
          </a:prstGeom>
          <a:solidFill>
            <a:srgbClr val="110080"/>
          </a:solidFill>
          <a:ln/>
        </p:spPr>
      </p:sp>
      <p:sp>
        <p:nvSpPr>
          <p:cNvPr id="15" name="Text 13"/>
          <p:cNvSpPr/>
          <p:nvPr/>
        </p:nvSpPr>
        <p:spPr>
          <a:xfrm>
            <a:off x="1023699" y="4158020"/>
            <a:ext cx="253008" cy="316230"/>
          </a:xfrm>
          <a:prstGeom prst="rect">
            <a:avLst/>
          </a:prstGeom>
          <a:noFill/>
          <a:ln/>
        </p:spPr>
        <p:txBody>
          <a:bodyPr wrap="none" lIns="0" tIns="0" rIns="0" bIns="0" rtlCol="0" anchor="t"/>
          <a:lstStyle/>
          <a:p>
            <a:pPr algn="l" indent="0" marL="0">
              <a:lnSpc>
                <a:spcPts val="1950"/>
              </a:lnSpc>
              <a:buNone/>
            </a:pPr>
            <a:r>
              <a:rPr lang="en-US" sz="1950" b="1" dirty="0">
                <a:solidFill>
                  <a:srgbClr val="E5E0DF"/>
                </a:solidFill>
                <a:latin typeface="Inter Bold" pitchFamily="34" charset="0"/>
                <a:ea typeface="Inter Bold" pitchFamily="34" charset="-122"/>
                <a:cs typeface="Inter Bold" pitchFamily="34" charset="-120"/>
              </a:rPr>
              <a:t>3</a:t>
            </a:r>
            <a:endParaRPr lang="en-US" sz="1950" dirty="0"/>
          </a:p>
        </p:txBody>
      </p:sp>
      <p:sp>
        <p:nvSpPr>
          <p:cNvPr id="16" name="Text 14"/>
          <p:cNvSpPr/>
          <p:nvPr/>
        </p:nvSpPr>
        <p:spPr>
          <a:xfrm>
            <a:off x="1634728" y="4001572"/>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Klasyfikacja ryzyka</a:t>
            </a:r>
            <a:endParaRPr lang="en-US" sz="1650" dirty="0"/>
          </a:p>
        </p:txBody>
      </p:sp>
      <p:sp>
        <p:nvSpPr>
          <p:cNvPr id="17" name="Text 15"/>
          <p:cNvSpPr/>
          <p:nvPr/>
        </p:nvSpPr>
        <p:spPr>
          <a:xfrm>
            <a:off x="1634728" y="4351020"/>
            <a:ext cx="12010430" cy="249674"/>
          </a:xfrm>
          <a:prstGeom prst="rect">
            <a:avLst/>
          </a:prstGeom>
          <a:noFill/>
          <a:ln/>
        </p:spPr>
        <p:txBody>
          <a:bodyPr wrap="non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Kto za nią odpowiada</a:t>
            </a:r>
            <a:endParaRPr lang="en-US" sz="1300" dirty="0"/>
          </a:p>
        </p:txBody>
      </p:sp>
      <p:sp>
        <p:nvSpPr>
          <p:cNvPr id="18" name="Shape 16"/>
          <p:cNvSpPr/>
          <p:nvPr/>
        </p:nvSpPr>
        <p:spPr>
          <a:xfrm>
            <a:off x="793790" y="4965621"/>
            <a:ext cx="13042821" cy="1012150"/>
          </a:xfrm>
          <a:prstGeom prst="roundRect">
            <a:avLst>
              <a:gd name="adj" fmla="val 7000"/>
            </a:avLst>
          </a:prstGeom>
          <a:solidFill>
            <a:srgbClr val="272525"/>
          </a:solidFill>
          <a:ln w="22860">
            <a:solidFill>
              <a:srgbClr val="2A1999"/>
            </a:solidFill>
            <a:prstDash val="solid"/>
          </a:ln>
        </p:spPr>
      </p:sp>
      <p:sp>
        <p:nvSpPr>
          <p:cNvPr id="19" name="Shape 17"/>
          <p:cNvSpPr/>
          <p:nvPr/>
        </p:nvSpPr>
        <p:spPr>
          <a:xfrm>
            <a:off x="816650" y="4988481"/>
            <a:ext cx="674727" cy="966430"/>
          </a:xfrm>
          <a:prstGeom prst="roundRect">
            <a:avLst>
              <a:gd name="adj" fmla="val 6436"/>
            </a:avLst>
          </a:prstGeom>
          <a:solidFill>
            <a:srgbClr val="110080"/>
          </a:solidFill>
          <a:ln/>
        </p:spPr>
      </p:sp>
      <p:sp>
        <p:nvSpPr>
          <p:cNvPr id="20" name="Text 18"/>
          <p:cNvSpPr/>
          <p:nvPr/>
        </p:nvSpPr>
        <p:spPr>
          <a:xfrm>
            <a:off x="1023699" y="5313521"/>
            <a:ext cx="253008" cy="316230"/>
          </a:xfrm>
          <a:prstGeom prst="rect">
            <a:avLst/>
          </a:prstGeom>
          <a:noFill/>
          <a:ln/>
        </p:spPr>
        <p:txBody>
          <a:bodyPr wrap="none" lIns="0" tIns="0" rIns="0" bIns="0" rtlCol="0" anchor="t"/>
          <a:lstStyle/>
          <a:p>
            <a:pPr algn="l" indent="0" marL="0">
              <a:lnSpc>
                <a:spcPts val="1950"/>
              </a:lnSpc>
              <a:buNone/>
            </a:pPr>
            <a:r>
              <a:rPr lang="en-US" sz="1950" b="1" dirty="0">
                <a:solidFill>
                  <a:srgbClr val="E5E0DF"/>
                </a:solidFill>
                <a:latin typeface="Inter Bold" pitchFamily="34" charset="0"/>
                <a:ea typeface="Inter Bold" pitchFamily="34" charset="-122"/>
                <a:cs typeface="Inter Bold" pitchFamily="34" charset="-120"/>
              </a:rPr>
              <a:t>4</a:t>
            </a:r>
            <a:endParaRPr lang="en-US" sz="1950" dirty="0"/>
          </a:p>
        </p:txBody>
      </p:sp>
      <p:sp>
        <p:nvSpPr>
          <p:cNvPr id="21" name="Text 19"/>
          <p:cNvSpPr/>
          <p:nvPr/>
        </p:nvSpPr>
        <p:spPr>
          <a:xfrm>
            <a:off x="1634728" y="5157073"/>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Strategia wyjścia</a:t>
            </a:r>
            <a:endParaRPr lang="en-US" sz="1650" dirty="0"/>
          </a:p>
        </p:txBody>
      </p:sp>
      <p:sp>
        <p:nvSpPr>
          <p:cNvPr id="22" name="Text 20"/>
          <p:cNvSpPr/>
          <p:nvPr/>
        </p:nvSpPr>
        <p:spPr>
          <a:xfrm>
            <a:off x="1634728" y="5506522"/>
            <a:ext cx="12010430" cy="249674"/>
          </a:xfrm>
          <a:prstGeom prst="rect">
            <a:avLst/>
          </a:prstGeom>
          <a:noFill/>
          <a:ln/>
        </p:spPr>
        <p:txBody>
          <a:bodyPr wrap="non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Co jeśli vendor zniknie</a:t>
            </a:r>
            <a:endParaRPr lang="en-US" sz="1300" dirty="0"/>
          </a:p>
        </p:txBody>
      </p:sp>
      <p:sp>
        <p:nvSpPr>
          <p:cNvPr id="23" name="Shape 21"/>
          <p:cNvSpPr/>
          <p:nvPr/>
        </p:nvSpPr>
        <p:spPr>
          <a:xfrm>
            <a:off x="793790" y="6121122"/>
            <a:ext cx="13042821" cy="1012150"/>
          </a:xfrm>
          <a:prstGeom prst="roundRect">
            <a:avLst>
              <a:gd name="adj" fmla="val 7000"/>
            </a:avLst>
          </a:prstGeom>
          <a:solidFill>
            <a:srgbClr val="272525"/>
          </a:solidFill>
          <a:ln w="22860">
            <a:solidFill>
              <a:srgbClr val="2A1999"/>
            </a:solidFill>
            <a:prstDash val="solid"/>
          </a:ln>
        </p:spPr>
      </p:sp>
      <p:sp>
        <p:nvSpPr>
          <p:cNvPr id="24" name="Shape 22"/>
          <p:cNvSpPr/>
          <p:nvPr/>
        </p:nvSpPr>
        <p:spPr>
          <a:xfrm>
            <a:off x="816650" y="6143982"/>
            <a:ext cx="674727" cy="966430"/>
          </a:xfrm>
          <a:prstGeom prst="roundRect">
            <a:avLst>
              <a:gd name="adj" fmla="val 6436"/>
            </a:avLst>
          </a:prstGeom>
          <a:solidFill>
            <a:srgbClr val="110080"/>
          </a:solidFill>
          <a:ln/>
        </p:spPr>
      </p:sp>
      <p:sp>
        <p:nvSpPr>
          <p:cNvPr id="25" name="Text 23"/>
          <p:cNvSpPr/>
          <p:nvPr/>
        </p:nvSpPr>
        <p:spPr>
          <a:xfrm>
            <a:off x="1023699" y="6469023"/>
            <a:ext cx="253008" cy="316230"/>
          </a:xfrm>
          <a:prstGeom prst="rect">
            <a:avLst/>
          </a:prstGeom>
          <a:noFill/>
          <a:ln/>
        </p:spPr>
        <p:txBody>
          <a:bodyPr wrap="none" lIns="0" tIns="0" rIns="0" bIns="0" rtlCol="0" anchor="t"/>
          <a:lstStyle/>
          <a:p>
            <a:pPr algn="l" indent="0" marL="0">
              <a:lnSpc>
                <a:spcPts val="1950"/>
              </a:lnSpc>
              <a:buNone/>
            </a:pPr>
            <a:r>
              <a:rPr lang="en-US" sz="1950" b="1" dirty="0">
                <a:solidFill>
                  <a:srgbClr val="E5E0DF"/>
                </a:solidFill>
                <a:latin typeface="Inter Bold" pitchFamily="34" charset="0"/>
                <a:ea typeface="Inter Bold" pitchFamily="34" charset="-122"/>
                <a:cs typeface="Inter Bold" pitchFamily="34" charset="-120"/>
              </a:rPr>
              <a:t>5</a:t>
            </a:r>
            <a:endParaRPr lang="en-US" sz="1950" dirty="0"/>
          </a:p>
        </p:txBody>
      </p:sp>
      <p:sp>
        <p:nvSpPr>
          <p:cNvPr id="26" name="Text 24"/>
          <p:cNvSpPr/>
          <p:nvPr/>
        </p:nvSpPr>
        <p:spPr>
          <a:xfrm>
            <a:off x="1634728" y="6312575"/>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Odpowiedzialność</a:t>
            </a:r>
            <a:endParaRPr lang="en-US" sz="1650" dirty="0"/>
          </a:p>
        </p:txBody>
      </p:sp>
      <p:sp>
        <p:nvSpPr>
          <p:cNvPr id="27" name="Text 25"/>
          <p:cNvSpPr/>
          <p:nvPr/>
        </p:nvSpPr>
        <p:spPr>
          <a:xfrm>
            <a:off x="1634728" y="6662023"/>
            <a:ext cx="12010430" cy="249674"/>
          </a:xfrm>
          <a:prstGeom prst="rect">
            <a:avLst/>
          </a:prstGeom>
          <a:noFill/>
          <a:ln/>
        </p:spPr>
        <p:txBody>
          <a:bodyPr wrap="non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Kto płaci gdy AI się myli</a:t>
            </a:r>
            <a:endParaRPr lang="en-US" sz="1300" dirty="0"/>
          </a:p>
        </p:txBody>
      </p:sp>
      <p:sp>
        <p:nvSpPr>
          <p:cNvPr id="28" name="Text 26"/>
          <p:cNvSpPr/>
          <p:nvPr/>
        </p:nvSpPr>
        <p:spPr>
          <a:xfrm>
            <a:off x="793790" y="7294483"/>
            <a:ext cx="13042821" cy="249674"/>
          </a:xfrm>
          <a:prstGeom prst="rect">
            <a:avLst/>
          </a:prstGeom>
          <a:noFill/>
          <a:ln/>
        </p:spPr>
        <p:txBody>
          <a:bodyPr wrap="none" lIns="0" tIns="0" rIns="0" bIns="0" rtlCol="0" anchor="t"/>
          <a:lstStyle/>
          <a:p>
            <a:pPr algn="l" indent="0" marL="0">
              <a:lnSpc>
                <a:spcPts val="1950"/>
              </a:lnSpc>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1647" y="544235"/>
            <a:ext cx="4515803" cy="432911"/>
          </a:xfrm>
          <a:prstGeom prst="rect">
            <a:avLst/>
          </a:prstGeom>
          <a:noFill/>
          <a:ln/>
        </p:spPr>
        <p:txBody>
          <a:bodyPr wrap="none" lIns="0" tIns="0" rIns="0" bIns="0" rtlCol="0" anchor="t"/>
          <a:lstStyle/>
          <a:p>
            <a:pPr algn="l" indent="0" marL="0">
              <a:lnSpc>
                <a:spcPts val="3400"/>
              </a:lnSpc>
              <a:buNone/>
            </a:pPr>
            <a:r>
              <a:rPr lang="en-US" sz="2700" b="1" dirty="0">
                <a:solidFill>
                  <a:srgbClr val="FFFFFF"/>
                </a:solidFill>
                <a:latin typeface="Inter Bold" pitchFamily="34" charset="0"/>
                <a:ea typeface="Inter Bold" pitchFamily="34" charset="-122"/>
                <a:cs typeface="Inter Bold" pitchFamily="34" charset="-120"/>
              </a:rPr>
              <a:t>Obszar 1: Dane treningowe</a:t>
            </a:r>
            <a:endParaRPr lang="en-US" sz="2700" dirty="0"/>
          </a:p>
        </p:txBody>
      </p:sp>
      <p:sp>
        <p:nvSpPr>
          <p:cNvPr id="3" name="Text 1"/>
          <p:cNvSpPr/>
          <p:nvPr/>
        </p:nvSpPr>
        <p:spPr>
          <a:xfrm>
            <a:off x="791647" y="1015722"/>
            <a:ext cx="2669858" cy="216456"/>
          </a:xfrm>
          <a:prstGeom prst="rect">
            <a:avLst/>
          </a:prstGeom>
          <a:noFill/>
          <a:ln/>
        </p:spPr>
        <p:txBody>
          <a:bodyPr wrap="none" lIns="0" tIns="0" rIns="0" bIns="0" rtlCol="0" anchor="t"/>
          <a:lstStyle/>
          <a:p>
            <a:pPr algn="l" indent="0" marL="0">
              <a:lnSpc>
                <a:spcPts val="1700"/>
              </a:lnSpc>
              <a:buNone/>
            </a:pPr>
            <a:r>
              <a:rPr lang="en-US" sz="1350" b="1" dirty="0">
                <a:solidFill>
                  <a:srgbClr val="FFFFFF"/>
                </a:solidFill>
                <a:latin typeface="Inter Bold" pitchFamily="34" charset="0"/>
                <a:ea typeface="Inter Bold" pitchFamily="34" charset="-122"/>
                <a:cs typeface="Inter Bold" pitchFamily="34" charset="-120"/>
              </a:rPr>
              <a:t>Co się dzieje z waszymi danymi</a:t>
            </a:r>
            <a:endParaRPr lang="en-US" sz="1350" dirty="0"/>
          </a:p>
        </p:txBody>
      </p:sp>
      <p:sp>
        <p:nvSpPr>
          <p:cNvPr id="4" name="Text 2"/>
          <p:cNvSpPr/>
          <p:nvPr/>
        </p:nvSpPr>
        <p:spPr>
          <a:xfrm>
            <a:off x="791647" y="1377196"/>
            <a:ext cx="13047107" cy="235268"/>
          </a:xfrm>
          <a:prstGeom prst="rect">
            <a:avLst/>
          </a:prstGeom>
          <a:noFill/>
          <a:ln/>
        </p:spPr>
        <p:txBody>
          <a:bodyPr wrap="none" lIns="0" tIns="0" rIns="0" bIns="0" rtlCol="0" anchor="t"/>
          <a:lstStyle/>
          <a:p>
            <a:pPr algn="l" indent="0" marL="0">
              <a:lnSpc>
                <a:spcPts val="1850"/>
              </a:lnSpc>
              <a:buNone/>
            </a:pPr>
            <a:r>
              <a:rPr lang="en-US" sz="1350" b="1" dirty="0">
                <a:solidFill>
                  <a:srgbClr val="E5E0DF"/>
                </a:solidFill>
                <a:latin typeface="Inter" pitchFamily="34" charset="0"/>
                <a:ea typeface="Inter" pitchFamily="34" charset="-122"/>
                <a:cs typeface="Inter" pitchFamily="34" charset="-120"/>
              </a:rPr>
              <a:t>Kluczowe pytanie:</a:t>
            </a:r>
            <a:pPr algn="l" indent="0" marL="0">
              <a:lnSpc>
                <a:spcPts val="1850"/>
              </a:lnSpc>
              <a:buNone/>
            </a:pPr>
            <a:r>
              <a:rPr lang="en-US" sz="1350" dirty="0">
                <a:solidFill>
                  <a:srgbClr val="E5E0DF"/>
                </a:solidFill>
                <a:latin typeface="Inter" pitchFamily="34" charset="0"/>
                <a:ea typeface="Inter" pitchFamily="34" charset="-122"/>
                <a:cs typeface="Inter" pitchFamily="34" charset="-120"/>
              </a:rPr>
              <a:t> Czy nasze dane wejściowe (prompty, dokumenty, zapytania) są wykorzystywane do dalszego trenowania modelu?</a:t>
            </a:r>
            <a:endParaRPr lang="en-US" sz="1350" dirty="0"/>
          </a:p>
        </p:txBody>
      </p:sp>
      <p:sp>
        <p:nvSpPr>
          <p:cNvPr id="5" name="Text 3"/>
          <p:cNvSpPr/>
          <p:nvPr/>
        </p:nvSpPr>
        <p:spPr>
          <a:xfrm>
            <a:off x="791647" y="1721168"/>
            <a:ext cx="13047107" cy="470535"/>
          </a:xfrm>
          <a:prstGeom prst="rect">
            <a:avLst/>
          </a:prstGeom>
          <a:noFill/>
          <a:ln/>
        </p:spPr>
        <p:txBody>
          <a:bodyPr wrap="squar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To nie jest pytanie akademickie. To jest pytanie o to, czy poufne dane waszej firmy trafiają do globalnego modelu, z którego korzystają wszyscy użytkownicy vendora - w tym potencjalnie wasza konkurencja.</a:t>
            </a:r>
            <a:endParaRPr lang="en-US" sz="1350" dirty="0"/>
          </a:p>
        </p:txBody>
      </p:sp>
      <p:pic>
        <p:nvPicPr>
          <p:cNvPr id="6" name="Image 0" descr="preencoded.png">    </p:cNvPr>
          <p:cNvPicPr>
            <a:picLocks noChangeAspect="1"/>
          </p:cNvPicPr>
          <p:nvPr/>
        </p:nvPicPr>
        <p:blipFill>
          <a:blip r:embed="rId1"/>
          <a:stretch>
            <a:fillRect/>
          </a:stretch>
        </p:blipFill>
        <p:spPr>
          <a:xfrm>
            <a:off x="2748677" y="2300407"/>
            <a:ext cx="9132927" cy="4570928"/>
          </a:xfrm>
          <a:prstGeom prst="rect">
            <a:avLst/>
          </a:prstGeom>
        </p:spPr>
      </p:pic>
      <p:sp>
        <p:nvSpPr>
          <p:cNvPr id="7" name="Text 4"/>
          <p:cNvSpPr/>
          <p:nvPr/>
        </p:nvSpPr>
        <p:spPr>
          <a:xfrm>
            <a:off x="2789830" y="4393705"/>
            <a:ext cx="1715239" cy="256602"/>
          </a:xfrm>
          <a:prstGeom prst="rect">
            <a:avLst/>
          </a:prstGeom>
          <a:noFill/>
          <a:ln/>
        </p:spPr>
        <p:txBody>
          <a:bodyPr wrap="none" lIns="0" tIns="0" rIns="0" bIns="0" rtlCol="0" anchor="t"/>
          <a:lstStyle/>
          <a:p>
            <a:pPr algn="ctr" indent="0" marL="0">
              <a:lnSpc>
                <a:spcPts val="2000"/>
              </a:lnSpc>
              <a:buNone/>
            </a:pPr>
            <a:r>
              <a:rPr lang="en-US" sz="1600" b="1" dirty="0">
                <a:solidFill>
                  <a:srgbClr val="E5E0DF"/>
                </a:solidFill>
                <a:latin typeface="Inter Bold" pitchFamily="34" charset="0"/>
                <a:ea typeface="Inter Bold" pitchFamily="34" charset="-122"/>
                <a:cs typeface="Inter Bold" pitchFamily="34" charset="-120"/>
              </a:rPr>
              <a:t>Niskie ryzyko</a:t>
            </a:r>
            <a:endParaRPr lang="en-US" sz="1600" dirty="0"/>
          </a:p>
        </p:txBody>
      </p:sp>
      <p:sp>
        <p:nvSpPr>
          <p:cNvPr id="8" name="Text 5"/>
          <p:cNvSpPr/>
          <p:nvPr/>
        </p:nvSpPr>
        <p:spPr>
          <a:xfrm>
            <a:off x="6290730" y="6482156"/>
            <a:ext cx="2052812" cy="256602"/>
          </a:xfrm>
          <a:prstGeom prst="rect">
            <a:avLst/>
          </a:prstGeom>
          <a:noFill/>
          <a:ln/>
        </p:spPr>
        <p:txBody>
          <a:bodyPr wrap="none" lIns="0" tIns="0" rIns="0" bIns="0" rtlCol="0" anchor="t"/>
          <a:lstStyle/>
          <a:p>
            <a:pPr algn="ctr" indent="0" marL="0">
              <a:lnSpc>
                <a:spcPts val="2000"/>
              </a:lnSpc>
              <a:buNone/>
            </a:pPr>
            <a:r>
              <a:rPr lang="en-US" sz="1600" b="1" dirty="0">
                <a:solidFill>
                  <a:srgbClr val="E5E0DF"/>
                </a:solidFill>
                <a:latin typeface="Inter Bold" pitchFamily="34" charset="0"/>
                <a:ea typeface="Inter Bold" pitchFamily="34" charset="-122"/>
                <a:cs typeface="Inter Bold" pitchFamily="34" charset="-120"/>
              </a:rPr>
              <a:t>Niskie zaufanie</a:t>
            </a:r>
            <a:endParaRPr lang="en-US" sz="1600" dirty="0"/>
          </a:p>
        </p:txBody>
      </p:sp>
      <p:sp>
        <p:nvSpPr>
          <p:cNvPr id="9" name="Text 6"/>
          <p:cNvSpPr/>
          <p:nvPr/>
        </p:nvSpPr>
        <p:spPr>
          <a:xfrm>
            <a:off x="10116089" y="4393705"/>
            <a:ext cx="1715239" cy="256602"/>
          </a:xfrm>
          <a:prstGeom prst="rect">
            <a:avLst/>
          </a:prstGeom>
          <a:noFill/>
          <a:ln/>
        </p:spPr>
        <p:txBody>
          <a:bodyPr wrap="none" lIns="0" tIns="0" rIns="0" bIns="0" rtlCol="0" anchor="t"/>
          <a:lstStyle/>
          <a:p>
            <a:pPr algn="ctr" indent="0" marL="0">
              <a:lnSpc>
                <a:spcPts val="2000"/>
              </a:lnSpc>
              <a:buNone/>
            </a:pPr>
            <a:r>
              <a:rPr lang="en-US" sz="1600" b="1" dirty="0">
                <a:solidFill>
                  <a:srgbClr val="E5E0DF"/>
                </a:solidFill>
                <a:latin typeface="Inter Bold" pitchFamily="34" charset="0"/>
                <a:ea typeface="Inter Bold" pitchFamily="34" charset="-122"/>
                <a:cs typeface="Inter Bold" pitchFamily="34" charset="-120"/>
              </a:rPr>
              <a:t>Wysokie ryzyko</a:t>
            </a:r>
            <a:endParaRPr lang="en-US" sz="1600" dirty="0"/>
          </a:p>
        </p:txBody>
      </p:sp>
      <p:sp>
        <p:nvSpPr>
          <p:cNvPr id="10" name="Text 7"/>
          <p:cNvSpPr/>
          <p:nvPr/>
        </p:nvSpPr>
        <p:spPr>
          <a:xfrm>
            <a:off x="6285598" y="2488011"/>
            <a:ext cx="2052812" cy="256602"/>
          </a:xfrm>
          <a:prstGeom prst="rect">
            <a:avLst/>
          </a:prstGeom>
          <a:noFill/>
          <a:ln/>
        </p:spPr>
        <p:txBody>
          <a:bodyPr wrap="none" lIns="0" tIns="0" rIns="0" bIns="0" rtlCol="0" anchor="t"/>
          <a:lstStyle/>
          <a:p>
            <a:pPr algn="ctr" indent="0" marL="0">
              <a:lnSpc>
                <a:spcPts val="2000"/>
              </a:lnSpc>
              <a:buNone/>
            </a:pPr>
            <a:r>
              <a:rPr lang="en-US" sz="1600" b="1" dirty="0">
                <a:solidFill>
                  <a:srgbClr val="E5E0DF"/>
                </a:solidFill>
                <a:latin typeface="Inter Bold" pitchFamily="34" charset="0"/>
                <a:ea typeface="Inter Bold" pitchFamily="34" charset="-122"/>
                <a:cs typeface="Inter Bold" pitchFamily="34" charset="-120"/>
              </a:rPr>
              <a:t>Wysokie zaufanie</a:t>
            </a:r>
            <a:endParaRPr lang="en-US" sz="1600" dirty="0"/>
          </a:p>
        </p:txBody>
      </p:sp>
      <p:sp>
        <p:nvSpPr>
          <p:cNvPr id="11" name="Text 8"/>
          <p:cNvSpPr/>
          <p:nvPr/>
        </p:nvSpPr>
        <p:spPr>
          <a:xfrm>
            <a:off x="5307946" y="5410274"/>
            <a:ext cx="1760857" cy="522612"/>
          </a:xfrm>
          <a:prstGeom prst="rect">
            <a:avLst/>
          </a:prstGeom>
          <a:noFill/>
          <a:ln/>
        </p:spPr>
        <p:txBody>
          <a:bodyPr wrap="square" lIns="0" tIns="0" rIns="0" bIns="0" rtlCol="0" anchor="t"/>
          <a:lstStyle/>
          <a:p>
            <a:pPr algn="ctr" indent="0" marL="0">
              <a:lnSpc>
                <a:spcPts val="1350"/>
              </a:lnSpc>
              <a:buNone/>
            </a:pPr>
            <a:r>
              <a:rPr lang="en-US" sz="1250" dirty="0">
                <a:solidFill>
                  <a:srgbClr val="E5E0DF"/>
                </a:solidFill>
                <a:latin typeface="Inter" pitchFamily="34" charset="0"/>
                <a:ea typeface="Inter" pitchFamily="34" charset="-122"/>
                <a:cs typeface="Inter" pitchFamily="34" charset="-120"/>
              </a:rPr>
              <a:t>Dane automatycznie do treningu - bez zgody</a:t>
            </a:r>
            <a:endParaRPr lang="en-US" sz="1250" dirty="0"/>
          </a:p>
        </p:txBody>
      </p:sp>
      <p:pic>
        <p:nvPicPr>
          <p:cNvPr id="12"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07043" y="4913466"/>
            <a:ext cx="255462" cy="255461"/>
          </a:xfrm>
          <a:prstGeom prst="rect">
            <a:avLst/>
          </a:prstGeom>
        </p:spPr>
      </p:pic>
      <p:sp>
        <p:nvSpPr>
          <p:cNvPr id="13" name="Text 9"/>
          <p:cNvSpPr/>
          <p:nvPr/>
        </p:nvSpPr>
        <p:spPr>
          <a:xfrm>
            <a:off x="7725703" y="5419398"/>
            <a:ext cx="1760857" cy="522612"/>
          </a:xfrm>
          <a:prstGeom prst="rect">
            <a:avLst/>
          </a:prstGeom>
          <a:noFill/>
          <a:ln/>
        </p:spPr>
        <p:txBody>
          <a:bodyPr wrap="square" lIns="0" tIns="0" rIns="0" bIns="0" rtlCol="0" anchor="t"/>
          <a:lstStyle/>
          <a:p>
            <a:pPr algn="ctr" indent="0" marL="0">
              <a:lnSpc>
                <a:spcPts val="1350"/>
              </a:lnSpc>
              <a:buNone/>
            </a:pPr>
            <a:r>
              <a:rPr lang="en-US" sz="1250" dirty="0">
                <a:solidFill>
                  <a:srgbClr val="E5E0DF"/>
                </a:solidFill>
                <a:latin typeface="Inter" pitchFamily="34" charset="0"/>
                <a:ea typeface="Inter" pitchFamily="34" charset="-122"/>
                <a:cs typeface="Inter" pitchFamily="34" charset="-120"/>
              </a:rPr>
              <a:t>Dane przechowywane lokalnie - minimalne ryzyko</a:t>
            </a:r>
            <a:endParaRPr lang="en-US" sz="1250" dirty="0"/>
          </a:p>
        </p:txBody>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78401" y="4918883"/>
            <a:ext cx="255461" cy="255461"/>
          </a:xfrm>
          <a:prstGeom prst="rect">
            <a:avLst/>
          </a:prstGeom>
        </p:spPr>
      </p:pic>
      <p:sp>
        <p:nvSpPr>
          <p:cNvPr id="15" name="Text 10"/>
          <p:cNvSpPr/>
          <p:nvPr/>
        </p:nvSpPr>
        <p:spPr>
          <a:xfrm>
            <a:off x="7725703" y="3818632"/>
            <a:ext cx="1760857" cy="348408"/>
          </a:xfrm>
          <a:prstGeom prst="rect">
            <a:avLst/>
          </a:prstGeom>
          <a:noFill/>
          <a:ln/>
        </p:spPr>
        <p:txBody>
          <a:bodyPr wrap="square" lIns="0" tIns="0" rIns="0" bIns="0" rtlCol="0" anchor="t"/>
          <a:lstStyle/>
          <a:p>
            <a:pPr algn="ctr" indent="0" marL="0">
              <a:lnSpc>
                <a:spcPts val="1350"/>
              </a:lnSpc>
              <a:buNone/>
            </a:pPr>
            <a:r>
              <a:rPr lang="en-US" sz="1250" dirty="0">
                <a:solidFill>
                  <a:srgbClr val="E5E0DF"/>
                </a:solidFill>
                <a:latin typeface="Inter" pitchFamily="34" charset="0"/>
                <a:ea typeface="Inter" pitchFamily="34" charset="-122"/>
                <a:cs typeface="Inter" pitchFamily="34" charset="-120"/>
              </a:rPr>
              <a:t>Dane z użyciem do treningu - opt-out</a:t>
            </a:r>
            <a:endParaRPr lang="en-US" sz="1250" dirty="0"/>
          </a:p>
        </p:txBody>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78401" y="3231015"/>
            <a:ext cx="255461" cy="255461"/>
          </a:xfrm>
          <a:prstGeom prst="rect">
            <a:avLst/>
          </a:prstGeom>
        </p:spPr>
      </p:pic>
      <p:sp>
        <p:nvSpPr>
          <p:cNvPr id="17" name="Text 11"/>
          <p:cNvSpPr/>
          <p:nvPr/>
        </p:nvSpPr>
        <p:spPr>
          <a:xfrm>
            <a:off x="5253205" y="3818632"/>
            <a:ext cx="1760856" cy="348408"/>
          </a:xfrm>
          <a:prstGeom prst="rect">
            <a:avLst/>
          </a:prstGeom>
          <a:noFill/>
          <a:ln/>
        </p:spPr>
        <p:txBody>
          <a:bodyPr wrap="square" lIns="0" tIns="0" rIns="0" bIns="0" rtlCol="0" anchor="t"/>
          <a:lstStyle/>
          <a:p>
            <a:pPr algn="ctr" indent="0" marL="0">
              <a:lnSpc>
                <a:spcPts val="1350"/>
              </a:lnSpc>
              <a:buNone/>
            </a:pPr>
            <a:r>
              <a:rPr lang="en-US" sz="1250" dirty="0">
                <a:solidFill>
                  <a:srgbClr val="E5E0DF"/>
                </a:solidFill>
                <a:latin typeface="Inter" pitchFamily="34" charset="0"/>
                <a:ea typeface="Inter" pitchFamily="34" charset="-122"/>
                <a:cs typeface="Inter" pitchFamily="34" charset="-120"/>
              </a:rPr>
              <a:t>Dane izolowane - nie używane do treningu</a:t>
            </a:r>
            <a:endParaRPr lang="en-US" sz="1250" dirty="0"/>
          </a:p>
        </p:txBody>
      </p:sp>
      <p:pic>
        <p:nvPicPr>
          <p:cNvPr id="18"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05902" y="3231015"/>
            <a:ext cx="255462" cy="255461"/>
          </a:xfrm>
          <a:prstGeom prst="rect">
            <a:avLst/>
          </a:prstGeom>
        </p:spPr>
      </p:pic>
      <p:sp>
        <p:nvSpPr>
          <p:cNvPr id="19" name="Text 12"/>
          <p:cNvSpPr/>
          <p:nvPr/>
        </p:nvSpPr>
        <p:spPr>
          <a:xfrm>
            <a:off x="791647" y="6980039"/>
            <a:ext cx="13047107" cy="705803"/>
          </a:xfrm>
          <a:prstGeom prst="rect">
            <a:avLst/>
          </a:prstGeom>
          <a:noFill/>
          <a:ln/>
        </p:spPr>
        <p:txBody>
          <a:bodyPr wrap="squar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Większość popularnych modeli AI generatywnego miała - a niektóre nadal mają - w regulaminie klauzulę opt-out: domyślnie dane użytkowników trafiają do treningu. Opt-out wymaga wysłania formularza i czekania na potwierdzenie. W wersji enterprise opt-out bywa domyślny - ale wersja enterprise kosztuje trzykrotnie więcej.</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71982"/>
            <a:ext cx="8880753"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Przykład z praktyki: Dane w treningu</a:t>
            </a:r>
            <a:endParaRPr lang="en-US" sz="3900" dirty="0"/>
          </a:p>
        </p:txBody>
      </p:sp>
      <p:sp>
        <p:nvSpPr>
          <p:cNvPr id="3" name="Text 1"/>
          <p:cNvSpPr/>
          <p:nvPr/>
        </p:nvSpPr>
        <p:spPr>
          <a:xfrm>
            <a:off x="1091446" y="2812137"/>
            <a:ext cx="12745164" cy="1190863"/>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Wyobraźcie sobie, że dział prawny waszej firmy wkleja do AI drafty umów z klauzulami poufności. Te umowy - dosłownie - mogą pojawić się jako fragment odpowiedzi dla kogoś innego. Może nie dosłownie, ale wzorce, fragmenty, logika - to wszystko trafia do modelu.</a:t>
            </a:r>
            <a:endParaRPr lang="en-US" sz="1950" dirty="0"/>
          </a:p>
        </p:txBody>
      </p:sp>
      <p:sp>
        <p:nvSpPr>
          <p:cNvPr id="4" name="Shape 2"/>
          <p:cNvSpPr/>
          <p:nvPr/>
        </p:nvSpPr>
        <p:spPr>
          <a:xfrm>
            <a:off x="793790" y="2588895"/>
            <a:ext cx="22860" cy="1637348"/>
          </a:xfrm>
          <a:prstGeom prst="rect">
            <a:avLst/>
          </a:prstGeom>
          <a:solidFill>
            <a:srgbClr val="2B0AFF"/>
          </a:solidFill>
          <a:ln/>
        </p:spPr>
      </p:sp>
      <p:sp>
        <p:nvSpPr>
          <p:cNvPr id="5" name="Text 3"/>
          <p:cNvSpPr/>
          <p:nvPr/>
        </p:nvSpPr>
        <p:spPr>
          <a:xfrm>
            <a:off x="793790" y="4449485"/>
            <a:ext cx="13042821" cy="1190863"/>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To nie jest hipotetyczny scenariusz. Jak wskazałem wcześniej, w 2023 roku Samsung zabronił pracownikom korzystania z ChatGPT po tym, jak inżynierowie wkleili do niego fragment kodu źródłowego i poufne zapisy ze spotkań zarządu. Dane trafiły do OpenAI. Samsung nie miał kontroli nad tym, co się z nimi stanie.</a:t>
            </a:r>
            <a:endParaRPr lang="en-US" sz="1950" dirty="0"/>
          </a:p>
        </p:txBody>
      </p:sp>
      <p:sp>
        <p:nvSpPr>
          <p:cNvPr id="6" name="Text 4"/>
          <p:cNvSpPr/>
          <p:nvPr/>
        </p:nvSpPr>
        <p:spPr>
          <a:xfrm>
            <a:off x="793790" y="5863590"/>
            <a:ext cx="13042821" cy="793909"/>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Podobne incydenty miały miejsce w bankach, kancelariach prawnych, firmach farmaceutycznych. We wszystkich przypadkach problem był ten sam: </a:t>
            </a:r>
            <a:pPr algn="l" indent="0" marL="0">
              <a:lnSpc>
                <a:spcPts val="3100"/>
              </a:lnSpc>
              <a:buNone/>
            </a:pPr>
            <a:r>
              <a:rPr lang="en-US" sz="1950" b="1" dirty="0">
                <a:solidFill>
                  <a:srgbClr val="E5E0DF"/>
                </a:solidFill>
                <a:latin typeface="Inter" pitchFamily="34" charset="0"/>
                <a:ea typeface="Inter" pitchFamily="34" charset="-122"/>
                <a:cs typeface="Inter" pitchFamily="34" charset="-120"/>
              </a:rPr>
              <a:t>nikt nie przeczytał regulaminu przed wdrożeniem narzędzia</a:t>
            </a:r>
            <a:pPr algn="l" indent="0" marL="0">
              <a:lnSpc>
                <a:spcPts val="3100"/>
              </a:lnSpc>
              <a:buNone/>
            </a:pPr>
            <a:r>
              <a:rPr lang="en-US" sz="1950" dirty="0">
                <a:solidFill>
                  <a:srgbClr val="E5E0DF"/>
                </a:solidFill>
                <a:latin typeface="Inter" pitchFamily="34" charset="0"/>
                <a:ea typeface="Inter" pitchFamily="34" charset="-122"/>
                <a:cs typeface="Inter" pitchFamily="34" charset="-120"/>
              </a:rPr>
              <a:t>.</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99185"/>
            <a:ext cx="6447830"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Co powinno być w umowie</a:t>
            </a:r>
            <a:endParaRPr lang="en-US" sz="3900" dirty="0"/>
          </a:p>
        </p:txBody>
      </p:sp>
      <p:sp>
        <p:nvSpPr>
          <p:cNvPr id="3" name="Text 1"/>
          <p:cNvSpPr/>
          <p:nvPr/>
        </p:nvSpPr>
        <p:spPr>
          <a:xfrm>
            <a:off x="793790" y="1798558"/>
            <a:ext cx="4523184"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Dane treningowe - klauzule ochronne</a:t>
            </a:r>
            <a:endParaRPr lang="en-US" sz="1950" dirty="0"/>
          </a:p>
        </p:txBody>
      </p:sp>
      <p:sp>
        <p:nvSpPr>
          <p:cNvPr id="4" name="Shape 2"/>
          <p:cNvSpPr/>
          <p:nvPr/>
        </p:nvSpPr>
        <p:spPr>
          <a:xfrm>
            <a:off x="793790" y="2406372"/>
            <a:ext cx="3111937" cy="4723924"/>
          </a:xfrm>
          <a:prstGeom prst="roundRect">
            <a:avLst>
              <a:gd name="adj" fmla="val 2679"/>
            </a:avLst>
          </a:prstGeom>
          <a:solidFill>
            <a:srgbClr val="110080"/>
          </a:solidFill>
          <a:ln w="7620">
            <a:solidFill>
              <a:srgbClr val="2A1999"/>
            </a:solidFill>
            <a:prstDash val="solid"/>
          </a:ln>
        </p:spPr>
      </p:sp>
      <p:sp>
        <p:nvSpPr>
          <p:cNvPr id="5" name="Text 3"/>
          <p:cNvSpPr/>
          <p:nvPr/>
        </p:nvSpPr>
        <p:spPr>
          <a:xfrm>
            <a:off x="999768" y="2612350"/>
            <a:ext cx="2699980"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Jednoznaczne oświadczenie</a:t>
            </a:r>
            <a:endParaRPr lang="en-US" sz="1950" dirty="0"/>
          </a:p>
        </p:txBody>
      </p:sp>
      <p:sp>
        <p:nvSpPr>
          <p:cNvPr id="6" name="Text 4"/>
          <p:cNvSpPr/>
          <p:nvPr/>
        </p:nvSpPr>
        <p:spPr>
          <a:xfrm>
            <a:off x="999768" y="3351728"/>
            <a:ext cx="2699980" cy="3572589"/>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„Dane klienta nie są wykorzystywane do trenowania, fine-tuningu ani ulepszania modeli AI, chyba że klient wyrazi na to wyraźną pisemną zgodę dla konkretnego przypadku użycia."</a:t>
            </a:r>
            <a:endParaRPr lang="en-US" sz="1950" dirty="0"/>
          </a:p>
        </p:txBody>
      </p:sp>
      <p:sp>
        <p:nvSpPr>
          <p:cNvPr id="7" name="Shape 5"/>
          <p:cNvSpPr/>
          <p:nvPr/>
        </p:nvSpPr>
        <p:spPr>
          <a:xfrm>
            <a:off x="4104084" y="2406372"/>
            <a:ext cx="3111937" cy="4723924"/>
          </a:xfrm>
          <a:prstGeom prst="roundRect">
            <a:avLst>
              <a:gd name="adj" fmla="val 2679"/>
            </a:avLst>
          </a:prstGeom>
          <a:solidFill>
            <a:srgbClr val="110080"/>
          </a:solidFill>
          <a:ln w="7620">
            <a:solidFill>
              <a:srgbClr val="2A1999"/>
            </a:solidFill>
            <a:prstDash val="solid"/>
          </a:ln>
        </p:spPr>
      </p:sp>
      <p:sp>
        <p:nvSpPr>
          <p:cNvPr id="8" name="Text 6"/>
          <p:cNvSpPr/>
          <p:nvPr/>
        </p:nvSpPr>
        <p:spPr>
          <a:xfrm>
            <a:off x="4310063" y="2612350"/>
            <a:ext cx="2699980"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Mechanizm techniczny</a:t>
            </a:r>
            <a:endParaRPr lang="en-US" sz="1950" dirty="0"/>
          </a:p>
        </p:txBody>
      </p:sp>
      <p:sp>
        <p:nvSpPr>
          <p:cNvPr id="9" name="Text 7"/>
          <p:cNvSpPr/>
          <p:nvPr/>
        </p:nvSpPr>
        <p:spPr>
          <a:xfrm>
            <a:off x="4310063" y="3351728"/>
            <a:ext cx="2699980" cy="3175635"/>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Nie tylko zobowiązanie kontraktowe - wymóg technicznego zabezpieczenia izolacji danych (np. dedicated instance, air-gapped environment).</a:t>
            </a:r>
            <a:endParaRPr lang="en-US" sz="1950" dirty="0"/>
          </a:p>
        </p:txBody>
      </p:sp>
      <p:sp>
        <p:nvSpPr>
          <p:cNvPr id="10" name="Shape 8"/>
          <p:cNvSpPr/>
          <p:nvPr/>
        </p:nvSpPr>
        <p:spPr>
          <a:xfrm>
            <a:off x="7414379" y="2406372"/>
            <a:ext cx="3111937" cy="4723924"/>
          </a:xfrm>
          <a:prstGeom prst="roundRect">
            <a:avLst>
              <a:gd name="adj" fmla="val 2679"/>
            </a:avLst>
          </a:prstGeom>
          <a:solidFill>
            <a:srgbClr val="110080"/>
          </a:solidFill>
          <a:ln w="7620">
            <a:solidFill>
              <a:srgbClr val="2A1999"/>
            </a:solidFill>
            <a:prstDash val="solid"/>
          </a:ln>
        </p:spPr>
      </p:sp>
      <p:sp>
        <p:nvSpPr>
          <p:cNvPr id="11" name="Text 9"/>
          <p:cNvSpPr/>
          <p:nvPr/>
        </p:nvSpPr>
        <p:spPr>
          <a:xfrm>
            <a:off x="7620357" y="2612350"/>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Prawo audytu</a:t>
            </a:r>
            <a:endParaRPr lang="en-US" sz="1950" dirty="0"/>
          </a:p>
        </p:txBody>
      </p:sp>
      <p:sp>
        <p:nvSpPr>
          <p:cNvPr id="12" name="Text 10"/>
          <p:cNvSpPr/>
          <p:nvPr/>
        </p:nvSpPr>
        <p:spPr>
          <a:xfrm>
            <a:off x="7620357" y="3041571"/>
            <a:ext cx="2699980" cy="2778681"/>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Prawo do weryfikacji (przez klienta lub jego audytora) że dane faktycznie nie trafiają do treningu. Vendor musi udokumentować ścieżkę danych.</a:t>
            </a:r>
            <a:endParaRPr lang="en-US" sz="1950" dirty="0"/>
          </a:p>
        </p:txBody>
      </p:sp>
      <p:sp>
        <p:nvSpPr>
          <p:cNvPr id="13" name="Shape 11"/>
          <p:cNvSpPr/>
          <p:nvPr/>
        </p:nvSpPr>
        <p:spPr>
          <a:xfrm>
            <a:off x="10724674" y="2406372"/>
            <a:ext cx="3111937" cy="4723924"/>
          </a:xfrm>
          <a:prstGeom prst="roundRect">
            <a:avLst>
              <a:gd name="adj" fmla="val 2679"/>
            </a:avLst>
          </a:prstGeom>
          <a:solidFill>
            <a:srgbClr val="110080"/>
          </a:solidFill>
          <a:ln w="7620">
            <a:solidFill>
              <a:srgbClr val="2A1999"/>
            </a:solidFill>
            <a:prstDash val="solid"/>
          </a:ln>
        </p:spPr>
      </p:sp>
      <p:sp>
        <p:nvSpPr>
          <p:cNvPr id="14" name="Text 12"/>
          <p:cNvSpPr/>
          <p:nvPr/>
        </p:nvSpPr>
        <p:spPr>
          <a:xfrm>
            <a:off x="10930652" y="2612350"/>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Ścieżka eskalacji</a:t>
            </a:r>
            <a:endParaRPr lang="en-US" sz="1950" dirty="0"/>
          </a:p>
        </p:txBody>
      </p:sp>
      <p:sp>
        <p:nvSpPr>
          <p:cNvPr id="15" name="Text 13"/>
          <p:cNvSpPr/>
          <p:nvPr/>
        </p:nvSpPr>
        <p:spPr>
          <a:xfrm>
            <a:off x="10930652" y="3041571"/>
            <a:ext cx="2699980" cy="3175635"/>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Procedura postępowania w przypadku naruszenia - natychmiastowe powiadomienie, informacja o naruszeniu zgodna z RODO, kary umowne.</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365052"/>
            <a:ext cx="12339161"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Obszar 2: Karta modelu i dokumentacja techniczna</a:t>
            </a:r>
            <a:endParaRPr lang="en-US" sz="3900" dirty="0"/>
          </a:p>
        </p:txBody>
      </p:sp>
      <p:sp>
        <p:nvSpPr>
          <p:cNvPr id="3" name="Text 1"/>
          <p:cNvSpPr/>
          <p:nvPr/>
        </p:nvSpPr>
        <p:spPr>
          <a:xfrm>
            <a:off x="793790" y="2064425"/>
            <a:ext cx="3328988"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Czego narzędzie nie potrafi</a:t>
            </a:r>
            <a:endParaRPr lang="en-US" sz="1950" dirty="0"/>
          </a:p>
        </p:txBody>
      </p:sp>
      <p:sp>
        <p:nvSpPr>
          <p:cNvPr id="4" name="Text 2"/>
          <p:cNvSpPr/>
          <p:nvPr/>
        </p:nvSpPr>
        <p:spPr>
          <a:xfrm>
            <a:off x="793790" y="2672239"/>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Karta modelu</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to dokument, który opisuje możliwości i ograniczenia modelu AI. Zawiera informacje o:</a:t>
            </a:r>
            <a:endParaRPr lang="en-US" sz="1550" dirty="0"/>
          </a:p>
        </p:txBody>
      </p:sp>
      <p:sp>
        <p:nvSpPr>
          <p:cNvPr id="5" name="Text 3"/>
          <p:cNvSpPr/>
          <p:nvPr/>
        </p:nvSpPr>
        <p:spPr>
          <a:xfrm>
            <a:off x="793790" y="3213021"/>
            <a:ext cx="13042821" cy="1905354"/>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Danych użytych do treningu (jakość, źródło, reprezentatywność)</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Zbiorze testowym i metodologii ewaluacji</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Znanych stopach błędów (accuracy, precision, recall, F1 score)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Scenariuszach, w których model się myli</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Grupach użytkowników, które mogą być dyskryminowane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Ograniczeniach technicznych i kontekstowych</a:t>
            </a:r>
            <a:endParaRPr lang="en-US" sz="1550" dirty="0"/>
          </a:p>
        </p:txBody>
      </p:sp>
      <p:sp>
        <p:nvSpPr>
          <p:cNvPr id="6" name="Text 4"/>
          <p:cNvSpPr/>
          <p:nvPr/>
        </p:nvSpPr>
        <p:spPr>
          <a:xfrm>
            <a:off x="793790" y="534161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AI Act (art. 13) wymaga, by systemy high-risk miały taką dokumentację. Ale nawet dla systemów, które nie są high-risk, karta modelu jest kluczowa dla due diligence.</a:t>
            </a:r>
            <a:endParaRPr lang="en-US" sz="1550" dirty="0"/>
          </a:p>
        </p:txBody>
      </p:sp>
      <p:sp>
        <p:nvSpPr>
          <p:cNvPr id="7" name="Text 5"/>
          <p:cNvSpPr/>
          <p:nvPr/>
        </p:nvSpPr>
        <p:spPr>
          <a:xfrm>
            <a:off x="793790" y="619993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FFF00"/>
                </a:highlight>
                <a:latin typeface="Inter" pitchFamily="34" charset="0"/>
                <a:ea typeface="Inter" pitchFamily="34" charset="-122"/>
                <a:cs typeface="Inter" pitchFamily="34" charset="-120"/>
              </a:rPr>
              <a:t>Jeśli vendor nie ma karty modelu -  to jest czerwona flaga numer jeden.</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715208"/>
            <a:ext cx="8202930"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Przykład z praktyki: CV screening</a:t>
            </a:r>
            <a:endParaRPr lang="en-US" sz="3900" dirty="0"/>
          </a:p>
        </p:txBody>
      </p:sp>
      <p:sp>
        <p:nvSpPr>
          <p:cNvPr id="3" name="Text 1"/>
          <p:cNvSpPr/>
          <p:nvPr/>
        </p:nvSpPr>
        <p:spPr>
          <a:xfrm>
            <a:off x="793790" y="173212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Firma wdrożyła narzędzie AI do analizy CV kandydatów. Narzędzie miało karty modelu ale nikt go nie przeczytał przed wdrożeniem. Karta modelu wskazywała wyraźnie, że model był trenowany na danych z rynku anglosaskiego (USA, UK, Australia).</a:t>
            </a:r>
            <a:endParaRPr lang="en-US" sz="1550" dirty="0"/>
          </a:p>
        </p:txBody>
      </p:sp>
      <p:sp>
        <p:nvSpPr>
          <p:cNvPr id="4" name="Text 2"/>
          <p:cNvSpPr/>
          <p:nvPr/>
        </p:nvSpPr>
        <p:spPr>
          <a:xfrm>
            <a:off x="793790" y="259044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Firma używała go do rekrutacji w Polsce. Problem ujawnił się po trzech miesiącach, gdy dział HR zauważył, że system konsekwentnie odrzuca kandydatów z pewnych polskich uczelni i niedowartościowuje polskie kwalifikacje zawodowe.</a:t>
            </a:r>
            <a:endParaRPr lang="en-US" sz="1550" dirty="0"/>
          </a:p>
        </p:txBody>
      </p:sp>
      <p:sp>
        <p:nvSpPr>
          <p:cNvPr id="5" name="Text 3"/>
          <p:cNvSpPr/>
          <p:nvPr/>
        </p:nvSpPr>
        <p:spPr>
          <a:xfrm>
            <a:off x="793790" y="3647122"/>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Co się stało?</a:t>
            </a:r>
            <a:endParaRPr lang="en-US" sz="1950" dirty="0"/>
          </a:p>
        </p:txBody>
      </p:sp>
      <p:sp>
        <p:nvSpPr>
          <p:cNvPr id="6" name="Text 4"/>
          <p:cNvSpPr/>
          <p:nvPr/>
        </p:nvSpPr>
        <p:spPr>
          <a:xfrm>
            <a:off x="793790" y="4155638"/>
            <a:ext cx="6279356" cy="2540471"/>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Model nie rozpoznawał polskich nazw uczelni (np. „Politechnika Warszawska" vs „Warsaw University of Technology")</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Model nie rozumiał polskiego systemu kwalifikacji zawodowych (technik, mistrz, inżynier)</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Model nie radził sobie z polskim formatem CV (inne niż amerykański resume)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Model preferował anglojęzyczne nazwy firm i stanowisk</a:t>
            </a:r>
            <a:endParaRPr lang="en-US" sz="1550" dirty="0"/>
          </a:p>
        </p:txBody>
      </p:sp>
      <p:sp>
        <p:nvSpPr>
          <p:cNvPr id="7" name="Text 5"/>
          <p:cNvSpPr/>
          <p:nvPr/>
        </p:nvSpPr>
        <p:spPr>
          <a:xfrm>
            <a:off x="7564874" y="3647122"/>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Konsekwencje</a:t>
            </a:r>
            <a:endParaRPr lang="en-US" sz="1950" dirty="0"/>
          </a:p>
        </p:txBody>
      </p:sp>
      <p:sp>
        <p:nvSpPr>
          <p:cNvPr id="8" name="Text 6"/>
          <p:cNvSpPr/>
          <p:nvPr/>
        </p:nvSpPr>
        <p:spPr>
          <a:xfrm>
            <a:off x="7564874" y="4155638"/>
            <a:ext cx="6279356" cy="2222912"/>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Trzy miesiące dyskryminacji kandydatów - potencjalna odpowiedzialność prawna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Utrata najlepszych kandydatów z polskich uczelni</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Konieczność ręcznej weryfikacji wszystkich wcześniejszych decyzji</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Koszt fine-tuningu modelu na polskich danych</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Uszczerbek reputacyjny</a:t>
            </a:r>
            <a:endParaRPr lang="en-US" sz="1550" dirty="0"/>
          </a:p>
        </p:txBody>
      </p:sp>
      <p:sp>
        <p:nvSpPr>
          <p:cNvPr id="9" name="Text 7"/>
          <p:cNvSpPr/>
          <p:nvPr/>
        </p:nvSpPr>
        <p:spPr>
          <a:xfrm>
            <a:off x="793790" y="6711246"/>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Wniosek:</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Model był nieadekwatny dla polskiego kontekstu - i każdy, kto przeczytałby kartę modelu, wiedziałby o tym przed wdrożeniem.</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799034"/>
            <a:ext cx="8402836"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Pytania do vendora o kartę modelu</a:t>
            </a:r>
            <a:endParaRPr lang="en-US" sz="3900" dirty="0"/>
          </a:p>
        </p:txBody>
      </p:sp>
      <p:sp>
        <p:nvSpPr>
          <p:cNvPr id="3" name="Shape 1"/>
          <p:cNvSpPr/>
          <p:nvPr/>
        </p:nvSpPr>
        <p:spPr>
          <a:xfrm>
            <a:off x="793790" y="2815947"/>
            <a:ext cx="446484" cy="446484"/>
          </a:xfrm>
          <a:prstGeom prst="roundRect">
            <a:avLst>
              <a:gd name="adj" fmla="val 18670"/>
            </a:avLst>
          </a:prstGeom>
          <a:solidFill>
            <a:srgbClr val="110080"/>
          </a:solidFill>
          <a:ln w="7620">
            <a:solidFill>
              <a:srgbClr val="2A1999"/>
            </a:solidFill>
            <a:prstDash val="solid"/>
          </a:ln>
        </p:spPr>
      </p:sp>
      <p:sp>
        <p:nvSpPr>
          <p:cNvPr id="4" name="Text 2"/>
          <p:cNvSpPr/>
          <p:nvPr/>
        </p:nvSpPr>
        <p:spPr>
          <a:xfrm>
            <a:off x="1438632" y="2884170"/>
            <a:ext cx="2744391"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Pokaż mi kartę modelu</a:t>
            </a:r>
            <a:endParaRPr lang="en-US" sz="1950" dirty="0"/>
          </a:p>
        </p:txBody>
      </p:sp>
      <p:sp>
        <p:nvSpPr>
          <p:cNvPr id="5" name="Text 3"/>
          <p:cNvSpPr/>
          <p:nvPr/>
        </p:nvSpPr>
        <p:spPr>
          <a:xfrm>
            <a:off x="1438632" y="3313390"/>
            <a:ext cx="5752505"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Jeśli vendor nie posiada - należy zatrzymać proces zakupu. Jeśli vendor ma kartę modelu tylko dla wersji cloud, a kupujesz on-premise - wymagaj dedykowanego dokumentu.</a:t>
            </a:r>
            <a:endParaRPr lang="en-US" sz="1550" dirty="0"/>
          </a:p>
        </p:txBody>
      </p:sp>
      <p:sp>
        <p:nvSpPr>
          <p:cNvPr id="6" name="Shape 4"/>
          <p:cNvSpPr/>
          <p:nvPr/>
        </p:nvSpPr>
        <p:spPr>
          <a:xfrm>
            <a:off x="7439144" y="2815947"/>
            <a:ext cx="446484" cy="446484"/>
          </a:xfrm>
          <a:prstGeom prst="roundRect">
            <a:avLst>
              <a:gd name="adj" fmla="val 18670"/>
            </a:avLst>
          </a:prstGeom>
          <a:solidFill>
            <a:srgbClr val="110080"/>
          </a:solidFill>
          <a:ln w="7620">
            <a:solidFill>
              <a:srgbClr val="2A1999"/>
            </a:solidFill>
            <a:prstDash val="solid"/>
          </a:ln>
        </p:spPr>
      </p:sp>
      <p:sp>
        <p:nvSpPr>
          <p:cNvPr id="7" name="Text 5"/>
          <p:cNvSpPr/>
          <p:nvPr/>
        </p:nvSpPr>
        <p:spPr>
          <a:xfrm>
            <a:off x="8083987" y="2884170"/>
            <a:ext cx="4419362"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Na jakich danych trenowałeś model?</a:t>
            </a:r>
            <a:endParaRPr lang="en-US" sz="1950" dirty="0"/>
          </a:p>
        </p:txBody>
      </p:sp>
      <p:sp>
        <p:nvSpPr>
          <p:cNvPr id="8" name="Text 6"/>
          <p:cNvSpPr/>
          <p:nvPr/>
        </p:nvSpPr>
        <p:spPr>
          <a:xfrm>
            <a:off x="8083987" y="3313390"/>
            <a:ext cx="5752624"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Jakie języki? Jakie rynki? Jakie domeny? Czy dane treningowe są reprezentatywne dla mojego przypadku użycia? Czy dane były audytowane pod kątem bias?</a:t>
            </a:r>
            <a:endParaRPr lang="en-US" sz="1550" dirty="0"/>
          </a:p>
        </p:txBody>
      </p:sp>
      <p:sp>
        <p:nvSpPr>
          <p:cNvPr id="9" name="Shape 7"/>
          <p:cNvSpPr/>
          <p:nvPr/>
        </p:nvSpPr>
        <p:spPr>
          <a:xfrm>
            <a:off x="793790" y="4662845"/>
            <a:ext cx="446484" cy="446484"/>
          </a:xfrm>
          <a:prstGeom prst="roundRect">
            <a:avLst>
              <a:gd name="adj" fmla="val 18670"/>
            </a:avLst>
          </a:prstGeom>
          <a:solidFill>
            <a:srgbClr val="110080"/>
          </a:solidFill>
          <a:ln w="7620">
            <a:solidFill>
              <a:srgbClr val="2A1999"/>
            </a:solidFill>
            <a:prstDash val="solid"/>
          </a:ln>
        </p:spPr>
      </p:sp>
      <p:sp>
        <p:nvSpPr>
          <p:cNvPr id="10" name="Text 8"/>
          <p:cNvSpPr/>
          <p:nvPr/>
        </p:nvSpPr>
        <p:spPr>
          <a:xfrm>
            <a:off x="1438632" y="4731068"/>
            <a:ext cx="5657731"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Jaka jest stopa błędów dla mojego przypadku?</a:t>
            </a:r>
            <a:endParaRPr lang="en-US" sz="1950" dirty="0"/>
          </a:p>
        </p:txBody>
      </p:sp>
      <p:sp>
        <p:nvSpPr>
          <p:cNvPr id="11" name="Text 9"/>
          <p:cNvSpPr/>
          <p:nvPr/>
        </p:nvSpPr>
        <p:spPr>
          <a:xfrm>
            <a:off x="1438632" y="5160288"/>
            <a:ext cx="5752505" cy="127015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Nie pytaj o ogólną dokładność modelu. Pytaj o dokładność dla </a:t>
            </a:r>
            <a:pPr algn="l" indent="0" marL="0">
              <a:lnSpc>
                <a:spcPts val="2500"/>
              </a:lnSpc>
              <a:buNone/>
            </a:pPr>
            <a:r>
              <a:rPr lang="en-US" sz="1550" i="1" dirty="0">
                <a:solidFill>
                  <a:srgbClr val="E5E0DF"/>
                </a:solidFill>
                <a:latin typeface="Inter" pitchFamily="34" charset="0"/>
                <a:ea typeface="Inter" pitchFamily="34" charset="-122"/>
                <a:cs typeface="Inter" pitchFamily="34" charset="-120"/>
              </a:rPr>
              <a:t>twojego</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scenariusza: polska rekrutacja, polski rynek finansowy, polskie prawo. Jeśli vendor nie ma takich danych - wymagaj pilotażu.</a:t>
            </a:r>
            <a:endParaRPr lang="en-US" sz="1550" dirty="0"/>
          </a:p>
        </p:txBody>
      </p:sp>
      <p:sp>
        <p:nvSpPr>
          <p:cNvPr id="12" name="Shape 10"/>
          <p:cNvSpPr/>
          <p:nvPr/>
        </p:nvSpPr>
        <p:spPr>
          <a:xfrm>
            <a:off x="7439144" y="4662845"/>
            <a:ext cx="446484" cy="446484"/>
          </a:xfrm>
          <a:prstGeom prst="roundRect">
            <a:avLst>
              <a:gd name="adj" fmla="val 18670"/>
            </a:avLst>
          </a:prstGeom>
          <a:solidFill>
            <a:srgbClr val="110080"/>
          </a:solidFill>
          <a:ln w="7620">
            <a:solidFill>
              <a:srgbClr val="2A1999"/>
            </a:solidFill>
            <a:prstDash val="solid"/>
          </a:ln>
        </p:spPr>
      </p:sp>
      <p:sp>
        <p:nvSpPr>
          <p:cNvPr id="13" name="Text 11"/>
          <p:cNvSpPr/>
          <p:nvPr/>
        </p:nvSpPr>
        <p:spPr>
          <a:xfrm>
            <a:off x="8083987" y="4731068"/>
            <a:ext cx="3551634"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Jakie są znane ograniczenia?</a:t>
            </a:r>
            <a:endParaRPr lang="en-US" sz="1950" dirty="0"/>
          </a:p>
        </p:txBody>
      </p:sp>
      <p:sp>
        <p:nvSpPr>
          <p:cNvPr id="14" name="Text 12"/>
          <p:cNvSpPr/>
          <p:nvPr/>
        </p:nvSpPr>
        <p:spPr>
          <a:xfrm>
            <a:off x="8083987" y="5160288"/>
            <a:ext cx="5752624"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W jakich scenariuszach model się myli? Jakich danych nie potrafi przetworzyć? Jakie grupy użytkowników mogą być dyskryminowane? Czy są znane przypadki brzegowe?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775692"/>
            <a:ext cx="5070634" cy="434102"/>
          </a:xfrm>
          <a:prstGeom prst="rect">
            <a:avLst/>
          </a:prstGeom>
          <a:noFill/>
          <a:ln/>
        </p:spPr>
        <p:txBody>
          <a:bodyPr wrap="none" lIns="0" tIns="0" rIns="0" bIns="0" rtlCol="0" anchor="t"/>
          <a:lstStyle/>
          <a:p>
            <a:pPr algn="l" indent="0" marL="0">
              <a:lnSpc>
                <a:spcPts val="3400"/>
              </a:lnSpc>
              <a:buNone/>
            </a:pPr>
            <a:r>
              <a:rPr lang="en-US" sz="2700" b="1" dirty="0">
                <a:solidFill>
                  <a:srgbClr val="FFFFFF"/>
                </a:solidFill>
                <a:latin typeface="Inter Bold" pitchFamily="34" charset="0"/>
                <a:ea typeface="Inter Bold" pitchFamily="34" charset="-122"/>
                <a:cs typeface="Inter Bold" pitchFamily="34" charset="-120"/>
              </a:rPr>
              <a:t>Obszar 3: Klasyfikacja ryzyka</a:t>
            </a:r>
            <a:endParaRPr lang="en-US" sz="2700" dirty="0"/>
          </a:p>
        </p:txBody>
      </p:sp>
      <p:sp>
        <p:nvSpPr>
          <p:cNvPr id="3" name="Text 1"/>
          <p:cNvSpPr/>
          <p:nvPr/>
        </p:nvSpPr>
        <p:spPr>
          <a:xfrm>
            <a:off x="793790" y="1248608"/>
            <a:ext cx="1807726" cy="217051"/>
          </a:xfrm>
          <a:prstGeom prst="rect">
            <a:avLst/>
          </a:prstGeom>
          <a:noFill/>
          <a:ln/>
        </p:spPr>
        <p:txBody>
          <a:bodyPr wrap="none" lIns="0" tIns="0" rIns="0" bIns="0" rtlCol="0" anchor="t"/>
          <a:lstStyle/>
          <a:p>
            <a:pPr algn="l" indent="0" marL="0">
              <a:lnSpc>
                <a:spcPts val="1700"/>
              </a:lnSpc>
              <a:buNone/>
            </a:pPr>
            <a:r>
              <a:rPr lang="en-US" sz="1350" b="1" dirty="0">
                <a:solidFill>
                  <a:srgbClr val="FFFFFF"/>
                </a:solidFill>
                <a:latin typeface="Inter Bold" pitchFamily="34" charset="0"/>
                <a:ea typeface="Inter Bold" pitchFamily="34" charset="-122"/>
                <a:cs typeface="Inter Bold" pitchFamily="34" charset="-120"/>
              </a:rPr>
              <a:t>Kto za nią odpowiada</a:t>
            </a:r>
            <a:endParaRPr lang="en-US" sz="1350" dirty="0"/>
          </a:p>
        </p:txBody>
      </p:sp>
      <p:sp>
        <p:nvSpPr>
          <p:cNvPr id="4" name="Text 2"/>
          <p:cNvSpPr/>
          <p:nvPr/>
        </p:nvSpPr>
        <p:spPr>
          <a:xfrm>
            <a:off x="793790" y="1611511"/>
            <a:ext cx="13042821" cy="236220"/>
          </a:xfrm>
          <a:prstGeom prst="rect">
            <a:avLst/>
          </a:prstGeom>
          <a:noFill/>
          <a:ln/>
        </p:spPr>
        <p:txBody>
          <a:bodyPr wrap="non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To jest najważniejszy - i najczęściej niezrozumiany - obszar due diligence AI.</a:t>
            </a:r>
            <a:endParaRPr lang="en-US" sz="1350" dirty="0"/>
          </a:p>
        </p:txBody>
      </p:sp>
      <p:sp>
        <p:nvSpPr>
          <p:cNvPr id="5" name="Text 3"/>
          <p:cNvSpPr/>
          <p:nvPr/>
        </p:nvSpPr>
        <p:spPr>
          <a:xfrm>
            <a:off x="793790" y="1957030"/>
            <a:ext cx="13042821" cy="236220"/>
          </a:xfrm>
          <a:prstGeom prst="rect">
            <a:avLst/>
          </a:prstGeom>
          <a:noFill/>
          <a:ln/>
        </p:spPr>
        <p:txBody>
          <a:bodyPr wrap="none" lIns="0" tIns="0" rIns="0" bIns="0" rtlCol="0" anchor="t"/>
          <a:lstStyle/>
          <a:p>
            <a:pPr algn="l" indent="0" marL="0">
              <a:lnSpc>
                <a:spcPts val="1850"/>
              </a:lnSpc>
              <a:buNone/>
            </a:pPr>
            <a:r>
              <a:rPr lang="en-US" sz="1350" b="1" dirty="0">
                <a:solidFill>
                  <a:srgbClr val="E5E0DF"/>
                </a:solidFill>
                <a:latin typeface="Inter" pitchFamily="34" charset="0"/>
                <a:ea typeface="Inter" pitchFamily="34" charset="-122"/>
                <a:cs typeface="Inter" pitchFamily="34" charset="-120"/>
              </a:rPr>
              <a:t>Kluczowa zasada:</a:t>
            </a:r>
            <a:pPr algn="l" indent="0" marL="0">
              <a:lnSpc>
                <a:spcPts val="1850"/>
              </a:lnSpc>
              <a:buNone/>
            </a:pPr>
            <a:r>
              <a:rPr lang="en-US" sz="1350" dirty="0">
                <a:solidFill>
                  <a:srgbClr val="E5E0DF"/>
                </a:solidFill>
                <a:latin typeface="Inter" pitchFamily="34" charset="0"/>
                <a:ea typeface="Inter" pitchFamily="34" charset="-122"/>
                <a:cs typeface="Inter" pitchFamily="34" charset="-120"/>
              </a:rPr>
              <a:t> To samo narzędzie AI może być nie-high-risk w jednym kontekście użycia i high-risk w innym.</a:t>
            </a:r>
            <a:endParaRPr lang="en-US" sz="1350" dirty="0"/>
          </a:p>
        </p:txBody>
      </p:sp>
      <p:pic>
        <p:nvPicPr>
          <p:cNvPr id="6" name="Image 0" descr="preencoded.png">    </p:cNvPr>
          <p:cNvPicPr>
            <a:picLocks noChangeAspect="1"/>
          </p:cNvPicPr>
          <p:nvPr/>
        </p:nvPicPr>
        <p:blipFill>
          <a:blip r:embed="rId1"/>
          <a:stretch>
            <a:fillRect/>
          </a:stretch>
        </p:blipFill>
        <p:spPr>
          <a:xfrm>
            <a:off x="2750225" y="2302550"/>
            <a:ext cx="9129951" cy="4569500"/>
          </a:xfrm>
          <a:prstGeom prst="rect">
            <a:avLst/>
          </a:prstGeom>
        </p:spPr>
      </p:pic>
      <p:sp>
        <p:nvSpPr>
          <p:cNvPr id="7" name="Text 4"/>
          <p:cNvSpPr/>
          <p:nvPr/>
        </p:nvSpPr>
        <p:spPr>
          <a:xfrm>
            <a:off x="2791304" y="4266933"/>
            <a:ext cx="1714703" cy="513042"/>
          </a:xfrm>
          <a:prstGeom prst="rect">
            <a:avLst/>
          </a:prstGeom>
          <a:noFill/>
          <a:ln/>
        </p:spPr>
        <p:txBody>
          <a:bodyPr wrap="square" lIns="0" tIns="0" rIns="0" bIns="0" rtlCol="0" anchor="t"/>
          <a:lstStyle/>
          <a:p>
            <a:pPr algn="ctr" indent="0" marL="0">
              <a:lnSpc>
                <a:spcPts val="2000"/>
              </a:lnSpc>
              <a:buNone/>
            </a:pPr>
            <a:r>
              <a:rPr lang="en-US" sz="1600" b="1" dirty="0">
                <a:solidFill>
                  <a:srgbClr val="E5E0DF"/>
                </a:solidFill>
                <a:latin typeface="Inter Bold" pitchFamily="34" charset="0"/>
                <a:ea typeface="Inter Bold" pitchFamily="34" charset="-122"/>
                <a:cs typeface="Inter Bold" pitchFamily="34" charset="-120"/>
              </a:rPr>
              <a:t>Operacyjny wpływ</a:t>
            </a:r>
            <a:endParaRPr lang="en-US" sz="1600" dirty="0"/>
          </a:p>
        </p:txBody>
      </p:sp>
      <p:sp>
        <p:nvSpPr>
          <p:cNvPr id="8" name="Text 5"/>
          <p:cNvSpPr/>
          <p:nvPr/>
        </p:nvSpPr>
        <p:spPr>
          <a:xfrm>
            <a:off x="6291110" y="6482992"/>
            <a:ext cx="2052171" cy="256521"/>
          </a:xfrm>
          <a:prstGeom prst="rect">
            <a:avLst/>
          </a:prstGeom>
          <a:noFill/>
          <a:ln/>
        </p:spPr>
        <p:txBody>
          <a:bodyPr wrap="none" lIns="0" tIns="0" rIns="0" bIns="0" rtlCol="0" anchor="t"/>
          <a:lstStyle/>
          <a:p>
            <a:pPr algn="ctr" indent="0" marL="0">
              <a:lnSpc>
                <a:spcPts val="2000"/>
              </a:lnSpc>
              <a:buNone/>
            </a:pPr>
            <a:r>
              <a:rPr lang="en-US" sz="1600" b="1" dirty="0">
                <a:solidFill>
                  <a:srgbClr val="E5E0DF"/>
                </a:solidFill>
                <a:latin typeface="Inter Bold" pitchFamily="34" charset="0"/>
                <a:ea typeface="Inter Bold" pitchFamily="34" charset="-122"/>
                <a:cs typeface="Inter Bold" pitchFamily="34" charset="-120"/>
              </a:rPr>
              <a:t>Niskie ryzyko</a:t>
            </a:r>
            <a:endParaRPr lang="en-US" sz="1600" dirty="0"/>
          </a:p>
        </p:txBody>
      </p:sp>
      <p:sp>
        <p:nvSpPr>
          <p:cNvPr id="9" name="Text 6"/>
          <p:cNvSpPr/>
          <p:nvPr/>
        </p:nvSpPr>
        <p:spPr>
          <a:xfrm>
            <a:off x="10115273" y="4266933"/>
            <a:ext cx="1714703" cy="513042"/>
          </a:xfrm>
          <a:prstGeom prst="rect">
            <a:avLst/>
          </a:prstGeom>
          <a:noFill/>
          <a:ln/>
        </p:spPr>
        <p:txBody>
          <a:bodyPr wrap="square" lIns="0" tIns="0" rIns="0" bIns="0" rtlCol="0" anchor="t"/>
          <a:lstStyle/>
          <a:p>
            <a:pPr algn="ctr" indent="0" marL="0">
              <a:lnSpc>
                <a:spcPts val="2000"/>
              </a:lnSpc>
              <a:buNone/>
            </a:pPr>
            <a:r>
              <a:rPr lang="en-US" sz="1600" b="1" dirty="0">
                <a:solidFill>
                  <a:srgbClr val="E5E0DF"/>
                </a:solidFill>
                <a:latin typeface="Inter Bold" pitchFamily="34" charset="0"/>
                <a:ea typeface="Inter Bold" pitchFamily="34" charset="-122"/>
                <a:cs typeface="Inter Bold" pitchFamily="34" charset="-120"/>
              </a:rPr>
              <a:t>Prawo i zgodność</a:t>
            </a:r>
            <a:endParaRPr lang="en-US" sz="1600" dirty="0"/>
          </a:p>
        </p:txBody>
      </p:sp>
      <p:sp>
        <p:nvSpPr>
          <p:cNvPr id="10" name="Text 7"/>
          <p:cNvSpPr/>
          <p:nvPr/>
        </p:nvSpPr>
        <p:spPr>
          <a:xfrm>
            <a:off x="6285980" y="2490095"/>
            <a:ext cx="2052170" cy="256521"/>
          </a:xfrm>
          <a:prstGeom prst="rect">
            <a:avLst/>
          </a:prstGeom>
          <a:noFill/>
          <a:ln/>
        </p:spPr>
        <p:txBody>
          <a:bodyPr wrap="none" lIns="0" tIns="0" rIns="0" bIns="0" rtlCol="0" anchor="t"/>
          <a:lstStyle/>
          <a:p>
            <a:pPr algn="ctr" indent="0" marL="0">
              <a:lnSpc>
                <a:spcPts val="2000"/>
              </a:lnSpc>
              <a:buNone/>
            </a:pPr>
            <a:r>
              <a:rPr lang="en-US" sz="1600" b="1" dirty="0">
                <a:solidFill>
                  <a:srgbClr val="E5E0DF"/>
                </a:solidFill>
                <a:latin typeface="Inter Bold" pitchFamily="34" charset="0"/>
                <a:ea typeface="Inter Bold" pitchFamily="34" charset="-122"/>
                <a:cs typeface="Inter Bold" pitchFamily="34" charset="-120"/>
              </a:rPr>
              <a:t>Wysokie ryzyko</a:t>
            </a:r>
            <a:endParaRPr lang="en-US" sz="1600" dirty="0"/>
          </a:p>
        </p:txBody>
      </p:sp>
      <p:sp>
        <p:nvSpPr>
          <p:cNvPr id="11" name="Text 8"/>
          <p:cNvSpPr/>
          <p:nvPr/>
        </p:nvSpPr>
        <p:spPr>
          <a:xfrm>
            <a:off x="5308633" y="5411018"/>
            <a:ext cx="1760307" cy="523303"/>
          </a:xfrm>
          <a:prstGeom prst="rect">
            <a:avLst/>
          </a:prstGeom>
          <a:noFill/>
          <a:ln/>
        </p:spPr>
        <p:txBody>
          <a:bodyPr wrap="square" lIns="0" tIns="0" rIns="0" bIns="0" rtlCol="0" anchor="t"/>
          <a:lstStyle/>
          <a:p>
            <a:pPr algn="ctr" indent="0" marL="0">
              <a:lnSpc>
                <a:spcPts val="1350"/>
              </a:lnSpc>
              <a:buNone/>
            </a:pPr>
            <a:r>
              <a:rPr lang="en-US" sz="1250" dirty="0">
                <a:solidFill>
                  <a:srgbClr val="E5E0DF"/>
                </a:solidFill>
                <a:latin typeface="Inter" pitchFamily="34" charset="0"/>
                <a:ea typeface="Inter" pitchFamily="34" charset="-122"/>
                <a:cs typeface="Inter" pitchFamily="34" charset="-120"/>
              </a:rPr>
              <a:t>Selekcja kandydatów (high-risk, Annex III 4a)</a:t>
            </a:r>
            <a:endParaRPr lang="en-US" sz="1250" dirty="0"/>
          </a:p>
        </p:txBody>
      </p:sp>
      <p:pic>
        <p:nvPicPr>
          <p:cNvPr id="12"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07511" y="4914792"/>
            <a:ext cx="255381" cy="255381"/>
          </a:xfrm>
          <a:prstGeom prst="rect">
            <a:avLst/>
          </a:prstGeom>
        </p:spPr>
      </p:pic>
      <p:sp>
        <p:nvSpPr>
          <p:cNvPr id="13" name="Text 9"/>
          <p:cNvSpPr/>
          <p:nvPr/>
        </p:nvSpPr>
        <p:spPr>
          <a:xfrm>
            <a:off x="7725634" y="5420139"/>
            <a:ext cx="1760306" cy="523303"/>
          </a:xfrm>
          <a:prstGeom prst="rect">
            <a:avLst/>
          </a:prstGeom>
          <a:noFill/>
          <a:ln/>
        </p:spPr>
        <p:txBody>
          <a:bodyPr wrap="square" lIns="0" tIns="0" rIns="0" bIns="0" rtlCol="0" anchor="t"/>
          <a:lstStyle/>
          <a:p>
            <a:pPr algn="ctr" indent="0" marL="0">
              <a:lnSpc>
                <a:spcPts val="1350"/>
              </a:lnSpc>
              <a:buNone/>
            </a:pPr>
            <a:r>
              <a:rPr lang="en-US" sz="1250" dirty="0">
                <a:solidFill>
                  <a:srgbClr val="E5E0DF"/>
                </a:solidFill>
                <a:latin typeface="Inter" pitchFamily="34" charset="0"/>
                <a:ea typeface="Inter" pitchFamily="34" charset="-122"/>
                <a:cs typeface="Inter" pitchFamily="34" charset="-120"/>
              </a:rPr>
              <a:t>Analiza zachowań klientów (nie high-risk)</a:t>
            </a:r>
            <a:endParaRPr lang="en-US" sz="1250" dirty="0"/>
          </a:p>
        </p:txBody>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78096" y="4920207"/>
            <a:ext cx="255382" cy="255381"/>
          </a:xfrm>
          <a:prstGeom prst="rect">
            <a:avLst/>
          </a:prstGeom>
        </p:spPr>
      </p:pic>
      <p:sp>
        <p:nvSpPr>
          <p:cNvPr id="15" name="Text 10"/>
          <p:cNvSpPr/>
          <p:nvPr/>
        </p:nvSpPr>
        <p:spPr>
          <a:xfrm>
            <a:off x="7725634" y="3732799"/>
            <a:ext cx="1760306" cy="523303"/>
          </a:xfrm>
          <a:prstGeom prst="rect">
            <a:avLst/>
          </a:prstGeom>
          <a:noFill/>
          <a:ln/>
        </p:spPr>
        <p:txBody>
          <a:bodyPr wrap="square" lIns="0" tIns="0" rIns="0" bIns="0" rtlCol="0" anchor="t"/>
          <a:lstStyle/>
          <a:p>
            <a:pPr algn="ctr" indent="0" marL="0">
              <a:lnSpc>
                <a:spcPts val="1350"/>
              </a:lnSpc>
              <a:buNone/>
            </a:pPr>
            <a:r>
              <a:rPr lang="en-US" sz="1250" dirty="0">
                <a:solidFill>
                  <a:srgbClr val="E5E0DF"/>
                </a:solidFill>
                <a:latin typeface="Inter" pitchFamily="34" charset="0"/>
                <a:ea typeface="Inter" pitchFamily="34" charset="-122"/>
                <a:cs typeface="Inter" pitchFamily="34" charset="-120"/>
              </a:rPr>
              <a:t>Ocena kredytowa (high-risk, Annex III 5b)</a:t>
            </a:r>
            <a:endParaRPr lang="en-US" sz="1250" dirty="0"/>
          </a:p>
        </p:txBody>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78096" y="3232867"/>
            <a:ext cx="255382" cy="255381"/>
          </a:xfrm>
          <a:prstGeom prst="rect">
            <a:avLst/>
          </a:prstGeom>
        </p:spPr>
      </p:pic>
      <p:sp>
        <p:nvSpPr>
          <p:cNvPr id="17" name="Text 11"/>
          <p:cNvSpPr/>
          <p:nvPr/>
        </p:nvSpPr>
        <p:spPr>
          <a:xfrm>
            <a:off x="5253909" y="3732799"/>
            <a:ext cx="1760307" cy="523303"/>
          </a:xfrm>
          <a:prstGeom prst="rect">
            <a:avLst/>
          </a:prstGeom>
          <a:noFill/>
          <a:ln/>
        </p:spPr>
        <p:txBody>
          <a:bodyPr wrap="square" lIns="0" tIns="0" rIns="0" bIns="0" rtlCol="0" anchor="t"/>
          <a:lstStyle/>
          <a:p>
            <a:pPr algn="ctr" indent="0" marL="0">
              <a:lnSpc>
                <a:spcPts val="1350"/>
              </a:lnSpc>
              <a:buNone/>
            </a:pPr>
            <a:r>
              <a:rPr lang="en-US" sz="1250" dirty="0">
                <a:solidFill>
                  <a:srgbClr val="E5E0DF"/>
                </a:solidFill>
                <a:latin typeface="Inter" pitchFamily="34" charset="0"/>
                <a:ea typeface="Inter" pitchFamily="34" charset="-122"/>
                <a:cs typeface="Inter" pitchFamily="34" charset="-120"/>
              </a:rPr>
              <a:t>Rekomendacje produktowe (nie high-risk)</a:t>
            </a:r>
            <a:endParaRPr lang="en-US" sz="1250" dirty="0"/>
          </a:p>
        </p:txBody>
      </p:sp>
      <p:pic>
        <p:nvPicPr>
          <p:cNvPr id="18"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06371" y="3232867"/>
            <a:ext cx="255382" cy="255381"/>
          </a:xfrm>
          <a:prstGeom prst="rect">
            <a:avLst/>
          </a:prstGeom>
        </p:spPr>
      </p:pic>
      <p:sp>
        <p:nvSpPr>
          <p:cNvPr id="19" name="Text 12"/>
          <p:cNvSpPr/>
          <p:nvPr/>
        </p:nvSpPr>
        <p:spPr>
          <a:xfrm>
            <a:off x="793790" y="6981349"/>
            <a:ext cx="13042821" cy="472440"/>
          </a:xfrm>
          <a:prstGeom prst="rect">
            <a:avLst/>
          </a:prstGeom>
          <a:noFill/>
          <a:ln/>
        </p:spPr>
        <p:txBody>
          <a:bodyPr wrap="squar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Vendor sprzedaje jedno narzędzie wielu klientom. Vendor nie wie, jak wy go użyjecie. Vendor powie wam, że jego narzędzie nie jest high-risk - </a:t>
            </a:r>
            <a:pPr algn="l" indent="0" marL="0">
              <a:lnSpc>
                <a:spcPts val="1850"/>
              </a:lnSpc>
              <a:buNone/>
            </a:pPr>
            <a:r>
              <a:rPr lang="en-US" sz="1350" b="1" dirty="0">
                <a:solidFill>
                  <a:srgbClr val="E5E0DF"/>
                </a:solidFill>
                <a:latin typeface="Inter" pitchFamily="34" charset="0"/>
                <a:ea typeface="Inter" pitchFamily="34" charset="-122"/>
                <a:cs typeface="Inter" pitchFamily="34" charset="-120"/>
              </a:rPr>
              <a:t>bo w jego głównym scenariuszu użycia nie jest</a:t>
            </a:r>
            <a:pPr algn="l" indent="0" marL="0">
              <a:lnSpc>
                <a:spcPts val="1850"/>
              </a:lnSpc>
              <a:buNone/>
            </a:pPr>
            <a:r>
              <a:rPr lang="en-US" sz="1350" dirty="0">
                <a:solidFill>
                  <a:srgbClr val="E5E0DF"/>
                </a:solidFill>
                <a:latin typeface="Inter" pitchFamily="34" charset="0"/>
                <a:ea typeface="Inter" pitchFamily="34" charset="-122"/>
                <a:cs typeface="Inter" pitchFamily="34" charset="-120"/>
              </a:rPr>
              <a:t>. Ale w waszym scenariuszu może być. I to wy za to odpowiadacie.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493996"/>
            <a:ext cx="7210901"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Przykład: System scoringowy</a:t>
            </a:r>
            <a:endParaRPr lang="en-US" sz="3900" dirty="0"/>
          </a:p>
        </p:txBody>
      </p:sp>
      <p:sp>
        <p:nvSpPr>
          <p:cNvPr id="3" name="Text 1"/>
          <p:cNvSpPr/>
          <p:nvPr/>
        </p:nvSpPr>
        <p:spPr>
          <a:xfrm>
            <a:off x="793790" y="2610088"/>
            <a:ext cx="322004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Scenariusz 1: E-commerce</a:t>
            </a:r>
            <a:endParaRPr lang="en-US" sz="1950" dirty="0"/>
          </a:p>
        </p:txBody>
      </p:sp>
      <p:sp>
        <p:nvSpPr>
          <p:cNvPr id="4" name="Text 2"/>
          <p:cNvSpPr/>
          <p:nvPr/>
        </p:nvSpPr>
        <p:spPr>
          <a:xfrm>
            <a:off x="793790" y="3118604"/>
            <a:ext cx="3979664"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System AI generuje scoring klienta do rekomendacji produktów w sklepie internetowym.</a:t>
            </a:r>
            <a:endParaRPr lang="en-US" sz="1550" dirty="0"/>
          </a:p>
        </p:txBody>
      </p:sp>
      <p:sp>
        <p:nvSpPr>
          <p:cNvPr id="5" name="Text 3"/>
          <p:cNvSpPr/>
          <p:nvPr/>
        </p:nvSpPr>
        <p:spPr>
          <a:xfrm>
            <a:off x="793790" y="4249817"/>
            <a:ext cx="3979664"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Klasyfikacja: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Nie-high-risk</a:t>
            </a:r>
            <a:endParaRPr lang="en-US" sz="1550" dirty="0"/>
          </a:p>
        </p:txBody>
      </p:sp>
      <p:sp>
        <p:nvSpPr>
          <p:cNvPr id="6" name="Text 4"/>
          <p:cNvSpPr/>
          <p:nvPr/>
        </p:nvSpPr>
        <p:spPr>
          <a:xfrm>
            <a:off x="793790" y="4745950"/>
            <a:ext cx="3979664" cy="95261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Uzasadnienie: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Nie wpływa na dostęp do usług podstawowych, nie dotyczy obszarów z Aneksu III.</a:t>
            </a:r>
            <a:endParaRPr lang="en-US" sz="1550" dirty="0"/>
          </a:p>
        </p:txBody>
      </p:sp>
      <p:sp>
        <p:nvSpPr>
          <p:cNvPr id="7" name="Text 5"/>
          <p:cNvSpPr/>
          <p:nvPr/>
        </p:nvSpPr>
        <p:spPr>
          <a:xfrm>
            <a:off x="5265182" y="2610088"/>
            <a:ext cx="2694742"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Scenariusz 2: Kredyty</a:t>
            </a:r>
            <a:endParaRPr lang="en-US" sz="1950" dirty="0"/>
          </a:p>
        </p:txBody>
      </p:sp>
      <p:sp>
        <p:nvSpPr>
          <p:cNvPr id="8" name="Text 6"/>
          <p:cNvSpPr/>
          <p:nvPr/>
        </p:nvSpPr>
        <p:spPr>
          <a:xfrm>
            <a:off x="5265182" y="3118604"/>
            <a:ext cx="3979664"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Ten sam system używany do oceny zdolności kredytowej klientów ubiegających się o pożyczkę.</a:t>
            </a:r>
            <a:endParaRPr lang="en-US" sz="1550" dirty="0"/>
          </a:p>
        </p:txBody>
      </p:sp>
      <p:sp>
        <p:nvSpPr>
          <p:cNvPr id="9" name="Text 7"/>
          <p:cNvSpPr/>
          <p:nvPr/>
        </p:nvSpPr>
        <p:spPr>
          <a:xfrm>
            <a:off x="5265182" y="4249817"/>
            <a:ext cx="3979664"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Klasyfikacja: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High-risk</a:t>
            </a:r>
            <a:endParaRPr lang="en-US" sz="1550" dirty="0"/>
          </a:p>
        </p:txBody>
      </p:sp>
      <p:sp>
        <p:nvSpPr>
          <p:cNvPr id="10" name="Text 8"/>
          <p:cNvSpPr/>
          <p:nvPr/>
        </p:nvSpPr>
        <p:spPr>
          <a:xfrm>
            <a:off x="5265182" y="4745950"/>
            <a:ext cx="3979664" cy="95261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Uzasadnienie: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Aneks III, punkt 5b - „systemy AI przeznaczone do oceny zdolności kredytowej osób fizycznych".</a:t>
            </a:r>
            <a:endParaRPr lang="en-US" sz="1550" dirty="0"/>
          </a:p>
        </p:txBody>
      </p:sp>
      <p:sp>
        <p:nvSpPr>
          <p:cNvPr id="11" name="Text 9"/>
          <p:cNvSpPr/>
          <p:nvPr/>
        </p:nvSpPr>
        <p:spPr>
          <a:xfrm>
            <a:off x="9736574" y="2610088"/>
            <a:ext cx="3019544"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Scenariusz 3: Rekrutacja</a:t>
            </a:r>
            <a:endParaRPr lang="en-US" sz="1950" dirty="0"/>
          </a:p>
        </p:txBody>
      </p:sp>
      <p:sp>
        <p:nvSpPr>
          <p:cNvPr id="12" name="Text 10"/>
          <p:cNvSpPr/>
          <p:nvPr/>
        </p:nvSpPr>
        <p:spPr>
          <a:xfrm>
            <a:off x="9736574" y="3118604"/>
            <a:ext cx="4115038"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Ten sam system używany do preselekcji CV kandydatów do pracy.</a:t>
            </a:r>
            <a:endParaRPr lang="en-US" sz="1550" dirty="0"/>
          </a:p>
        </p:txBody>
      </p:sp>
      <p:sp>
        <p:nvSpPr>
          <p:cNvPr id="13" name="Text 11"/>
          <p:cNvSpPr/>
          <p:nvPr/>
        </p:nvSpPr>
        <p:spPr>
          <a:xfrm>
            <a:off x="9736574" y="3932277"/>
            <a:ext cx="4115038"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Klasyfikacja: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High-risk</a:t>
            </a:r>
            <a:endParaRPr lang="en-US" sz="1550" dirty="0"/>
          </a:p>
        </p:txBody>
      </p:sp>
      <p:sp>
        <p:nvSpPr>
          <p:cNvPr id="14" name="Text 12"/>
          <p:cNvSpPr/>
          <p:nvPr/>
        </p:nvSpPr>
        <p:spPr>
          <a:xfrm>
            <a:off x="9736574" y="4428411"/>
            <a:ext cx="4115038" cy="95261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Uzasadnienie: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Aneks III, punkt 4a - „systemy AI przeznaczone do rekrutacji lub selekcji osób fizycznych".</a:t>
            </a:r>
            <a:endParaRPr lang="en-US" sz="1550" dirty="0"/>
          </a:p>
        </p:txBody>
      </p:sp>
      <p:sp>
        <p:nvSpPr>
          <p:cNvPr id="15" name="Text 13"/>
          <p:cNvSpPr/>
          <p:nvPr/>
        </p:nvSpPr>
        <p:spPr>
          <a:xfrm>
            <a:off x="793790" y="610040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jest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to samo narzędzie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Vendor sklasyfikował je jako nie-high-risk dla głównego scenariusza (e-commerce). Ale gdy wy użyjecie go do kredytów lub rekrutacji - staje się high-risk. I obowiązki compliance spoczywają na was.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178957"/>
            <a:ext cx="8144589"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Pytania do vendora o klasyfikację</a:t>
            </a:r>
            <a:endParaRPr lang="en-US" sz="39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204" y="2201942"/>
            <a:ext cx="297656" cy="297656"/>
          </a:xfrm>
          <a:prstGeom prst="rect">
            <a:avLst/>
          </a:prstGeom>
        </p:spPr>
      </p:pic>
      <p:sp>
        <p:nvSpPr>
          <p:cNvPr id="4" name="Text 1"/>
          <p:cNvSpPr/>
          <p:nvPr/>
        </p:nvSpPr>
        <p:spPr>
          <a:xfrm>
            <a:off x="1438632" y="2195870"/>
            <a:ext cx="4774763"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Jaka jest twoja klasyfikacja pod AI Act?</a:t>
            </a:r>
            <a:endParaRPr lang="en-US" sz="1950" dirty="0"/>
          </a:p>
        </p:txBody>
      </p:sp>
      <p:sp>
        <p:nvSpPr>
          <p:cNvPr id="5" name="Text 2"/>
          <p:cNvSpPr/>
          <p:nvPr/>
        </p:nvSpPr>
        <p:spPr>
          <a:xfrm>
            <a:off x="1438632" y="2625090"/>
            <a:ext cx="5752505"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Vendor powinien wskazać, czy system jest high-risk, limited-risk, czy minimal-risk - i na jakiej podstawie (odniesienie do Aneksu III, jeśli high-risk).</a:t>
            </a:r>
            <a:endParaRPr lang="en-US" sz="15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13558" y="2201942"/>
            <a:ext cx="297656" cy="297656"/>
          </a:xfrm>
          <a:prstGeom prst="rect">
            <a:avLst/>
          </a:prstGeom>
        </p:spPr>
      </p:pic>
      <p:sp>
        <p:nvSpPr>
          <p:cNvPr id="7" name="Text 3"/>
          <p:cNvSpPr/>
          <p:nvPr/>
        </p:nvSpPr>
        <p:spPr>
          <a:xfrm>
            <a:off x="8083987" y="2195870"/>
            <a:ext cx="5243632"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Na jakiej podstawie dokonałeś klasyfikacji?</a:t>
            </a:r>
            <a:endParaRPr lang="en-US" sz="1950" dirty="0"/>
          </a:p>
        </p:txBody>
      </p:sp>
      <p:sp>
        <p:nvSpPr>
          <p:cNvPr id="8" name="Text 4"/>
          <p:cNvSpPr/>
          <p:nvPr/>
        </p:nvSpPr>
        <p:spPr>
          <a:xfrm>
            <a:off x="8083987" y="2625090"/>
            <a:ext cx="5752624"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Czy vendor przeprowadził formalną analizę zgodności z Aneksem III? Czy ma opinię prawną? Czy konsultował się z organem nadzoru?</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204" y="3980617"/>
            <a:ext cx="297656" cy="297656"/>
          </a:xfrm>
          <a:prstGeom prst="rect">
            <a:avLst/>
          </a:prstGeom>
        </p:spPr>
      </p:pic>
      <p:sp>
        <p:nvSpPr>
          <p:cNvPr id="10" name="Text 5"/>
          <p:cNvSpPr/>
          <p:nvPr/>
        </p:nvSpPr>
        <p:spPr>
          <a:xfrm>
            <a:off x="1438632" y="3974544"/>
            <a:ext cx="5752505"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W moim scenariuszu użycia — czy klasyfikacja się zmienia?</a:t>
            </a:r>
            <a:endParaRPr lang="en-US" sz="1950" dirty="0"/>
          </a:p>
        </p:txBody>
      </p:sp>
      <p:sp>
        <p:nvSpPr>
          <p:cNvPr id="11" name="Text 6"/>
          <p:cNvSpPr/>
          <p:nvPr/>
        </p:nvSpPr>
        <p:spPr>
          <a:xfrm>
            <a:off x="1438632" y="4713923"/>
            <a:ext cx="5752505" cy="127015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Podaj vendorowi szczegółowy opis twojego przypadku użycia. Jeśli vendor odpowiada „nie wiem" lub „to zależy od was" - masz odpowiedź: musisz sam przeprowadzić klasyfikację.</a:t>
            </a:r>
            <a:endParaRPr lang="en-US" sz="15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13558" y="3980617"/>
            <a:ext cx="297656" cy="297656"/>
          </a:xfrm>
          <a:prstGeom prst="rect">
            <a:avLst/>
          </a:prstGeom>
        </p:spPr>
      </p:pic>
      <p:sp>
        <p:nvSpPr>
          <p:cNvPr id="13" name="Text 7"/>
          <p:cNvSpPr/>
          <p:nvPr/>
        </p:nvSpPr>
        <p:spPr>
          <a:xfrm>
            <a:off x="8083987" y="3974544"/>
            <a:ext cx="5752624"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Kto formalnie odpowiada za klasyfikację w umowie?</a:t>
            </a:r>
            <a:endParaRPr lang="en-US" sz="1950" dirty="0"/>
          </a:p>
        </p:txBody>
      </p:sp>
      <p:sp>
        <p:nvSpPr>
          <p:cNvPr id="14" name="Text 8"/>
          <p:cNvSpPr/>
          <p:nvPr/>
        </p:nvSpPr>
        <p:spPr>
          <a:xfrm>
            <a:off x="8083987" y="4713923"/>
            <a:ext cx="5752624"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musi być zapisane wprost w umowie. Jeśli vendor unika tego zapisu - to dlatego, że chce przerzucić odpowiedzialność na ciebie bez pomagania ci w compliance.</a:t>
            </a:r>
            <a:endParaRPr lang="en-US" sz="1550" dirty="0"/>
          </a:p>
        </p:txBody>
      </p:sp>
      <p:sp>
        <p:nvSpPr>
          <p:cNvPr id="15" name="Shape 9"/>
          <p:cNvSpPr/>
          <p:nvPr/>
        </p:nvSpPr>
        <p:spPr>
          <a:xfrm>
            <a:off x="793790" y="6207323"/>
            <a:ext cx="13042821" cy="843201"/>
          </a:xfrm>
          <a:prstGeom prst="roundRect">
            <a:avLst>
              <a:gd name="adj" fmla="val 9886"/>
            </a:avLst>
          </a:prstGeom>
          <a:solidFill>
            <a:srgbClr val="0A004D"/>
          </a:solidFill>
          <a:ln/>
        </p:spPr>
      </p:sp>
      <p:pic>
        <p:nvPicPr>
          <p:cNvPr id="16" name="Image 4" descr="preencoded.png">    </p:cNvPr>
          <p:cNvPicPr>
            <a:picLocks noChangeAspect="1"/>
          </p:cNvPicPr>
          <p:nvPr/>
        </p:nvPicPr>
        <p:blipFill>
          <a:blip r:embed="rId9"/>
          <a:stretch>
            <a:fillRect/>
          </a:stretch>
        </p:blipFill>
        <p:spPr>
          <a:xfrm>
            <a:off x="992148" y="6510218"/>
            <a:ext cx="248007" cy="198358"/>
          </a:xfrm>
          <a:prstGeom prst="rect">
            <a:avLst/>
          </a:prstGeom>
        </p:spPr>
      </p:pic>
      <p:sp>
        <p:nvSpPr>
          <p:cNvPr id="17" name="Text 10"/>
          <p:cNvSpPr/>
          <p:nvPr/>
        </p:nvSpPr>
        <p:spPr>
          <a:xfrm>
            <a:off x="1438513" y="6455212"/>
            <a:ext cx="12199739" cy="317540"/>
          </a:xfrm>
          <a:prstGeom prst="rect">
            <a:avLst/>
          </a:prstGeom>
          <a:noFill/>
          <a:ln/>
        </p:spPr>
        <p:txBody>
          <a:bodyPr wrap="none" lIns="0" tIns="0" rIns="0" bIns="0" rtlCol="0" anchor="t"/>
          <a:lstStyle/>
          <a:p>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Red flag:</a:t>
            </a:r>
            <a:pPr algn="l" indent="0" marL="0">
              <a:lnSpc>
                <a:spcPts val="2500"/>
              </a:lnSpc>
              <a:buNone/>
            </a:pPr>
            <a:r>
              <a:rPr lang="en-US" sz="1550" dirty="0">
                <a:solidFill>
                  <a:srgbClr val="FFFFFF"/>
                </a:solidFill>
                <a:latin typeface="Inter" pitchFamily="34" charset="0"/>
                <a:ea typeface="Inter" pitchFamily="34" charset="-122"/>
                <a:cs typeface="Inter" pitchFamily="34" charset="-120"/>
              </a:rPr>
              <a:t> Jeśli vendor nie potrafi odpowiedzieć na te pytania, to nie jest vendor gotowy na AI Act. Szukajcie kogoś innego.</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2126575"/>
            <a:ext cx="12083415"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Obszar 4: Strategia wyjścia i przenośność danych</a:t>
            </a:r>
            <a:endParaRPr lang="en-US" sz="3900" dirty="0"/>
          </a:p>
        </p:txBody>
      </p:sp>
      <p:sp>
        <p:nvSpPr>
          <p:cNvPr id="3" name="Text 1"/>
          <p:cNvSpPr/>
          <p:nvPr/>
        </p:nvSpPr>
        <p:spPr>
          <a:xfrm>
            <a:off x="793790" y="2825948"/>
            <a:ext cx="2732723"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Co jeśli vendor zniknie</a:t>
            </a:r>
            <a:endParaRPr lang="en-US" sz="1950" dirty="0"/>
          </a:p>
        </p:txBody>
      </p:sp>
      <p:sp>
        <p:nvSpPr>
          <p:cNvPr id="4" name="Text 2"/>
          <p:cNvSpPr/>
          <p:nvPr/>
        </p:nvSpPr>
        <p:spPr>
          <a:xfrm>
            <a:off x="793790" y="343376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obszar, o którym mało kto myśli na etapie zakupu — ale wszyscy o nim myślą, gdy trzeba zmienić dostawcę i okazuje się, że dane są zamknięte w systemie.</a:t>
            </a:r>
            <a:endParaRPr lang="en-US" sz="1550" dirty="0"/>
          </a:p>
        </p:txBody>
      </p:sp>
      <p:sp>
        <p:nvSpPr>
          <p:cNvPr id="5" name="Text 3"/>
          <p:cNvSpPr/>
          <p:nvPr/>
        </p:nvSpPr>
        <p:spPr>
          <a:xfrm>
            <a:off x="793790" y="4292084"/>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Scenariusz: firma przez dwa lata korzysta z systemu AI do analizy dokumentów prawnych. System był fine-tuned na wewnętrznych danych firmy - wzorcach umów, orzecznictwie wewnętrznym, interpretacjach prawnych specyficznych dla branży. System „zna" język firmy, rozumie kontekst biznesowy, potrafi znaleźć precedensy w historycznych dokumentach.</a:t>
            </a:r>
            <a:endParaRPr lang="en-US" sz="1550" dirty="0"/>
          </a:p>
        </p:txBody>
      </p:sp>
      <p:sp>
        <p:nvSpPr>
          <p:cNvPr id="6" name="Text 4"/>
          <p:cNvSpPr/>
          <p:nvPr/>
        </p:nvSpPr>
        <p:spPr>
          <a:xfrm>
            <a:off x="793790" y="546794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Firma chce zmienić vendora. Powody mogą być różne: vendor podnosi ceny trzykrotnie, vendor zaprzestaje wsparcia dla wersji używanej przez firmę, vendor zostaje przejęty przez konkurencję, vendor ma incydent bezpieczeństwa i firma traci zaufanie.</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005959"/>
            <a:ext cx="5760125"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Pytania bez odpowiedzi</a:t>
            </a:r>
            <a:endParaRPr lang="en-US" sz="3900" dirty="0"/>
          </a:p>
        </p:txBody>
      </p:sp>
      <p:sp>
        <p:nvSpPr>
          <p:cNvPr id="3" name="Shape 1"/>
          <p:cNvSpPr/>
          <p:nvPr/>
        </p:nvSpPr>
        <p:spPr>
          <a:xfrm>
            <a:off x="793790" y="2022872"/>
            <a:ext cx="3111937" cy="4342448"/>
          </a:xfrm>
          <a:prstGeom prst="roundRect">
            <a:avLst>
              <a:gd name="adj" fmla="val 2679"/>
            </a:avLst>
          </a:prstGeom>
          <a:solidFill>
            <a:srgbClr val="272525"/>
          </a:solidFill>
          <a:ln w="22860">
            <a:solidFill>
              <a:srgbClr val="2A1999"/>
            </a:solidFill>
            <a:prstDash val="solid"/>
          </a:ln>
        </p:spPr>
      </p:sp>
      <p:sp>
        <p:nvSpPr>
          <p:cNvPr id="4" name="Text 2"/>
          <p:cNvSpPr/>
          <p:nvPr/>
        </p:nvSpPr>
        <p:spPr>
          <a:xfrm>
            <a:off x="1015008" y="2244090"/>
            <a:ext cx="2669500"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Komu należy się fine-tuned model?</a:t>
            </a:r>
            <a:endParaRPr lang="en-US" sz="1950" dirty="0"/>
          </a:p>
        </p:txBody>
      </p:sp>
      <p:sp>
        <p:nvSpPr>
          <p:cNvPr id="5" name="Text 3"/>
          <p:cNvSpPr/>
          <p:nvPr/>
        </p:nvSpPr>
        <p:spPr>
          <a:xfrm>
            <a:off x="1015008" y="2983468"/>
            <a:ext cx="2669500" cy="254031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Czy firma może zabrać wagi modelu, który był trenowany na jej danych? Czy vendor twierdzi, że model to jego własność intelektualna, nawet jeśli został trenowany na waszych danych?</a:t>
            </a:r>
            <a:endParaRPr lang="en-US" sz="1550" dirty="0"/>
          </a:p>
        </p:txBody>
      </p:sp>
      <p:sp>
        <p:nvSpPr>
          <p:cNvPr id="6" name="Shape 4"/>
          <p:cNvSpPr/>
          <p:nvPr/>
        </p:nvSpPr>
        <p:spPr>
          <a:xfrm>
            <a:off x="4104084" y="2022872"/>
            <a:ext cx="3111937" cy="4342448"/>
          </a:xfrm>
          <a:prstGeom prst="roundRect">
            <a:avLst>
              <a:gd name="adj" fmla="val 2679"/>
            </a:avLst>
          </a:prstGeom>
          <a:solidFill>
            <a:srgbClr val="272525"/>
          </a:solidFill>
          <a:ln w="22860">
            <a:solidFill>
              <a:srgbClr val="2A1999"/>
            </a:solidFill>
            <a:prstDash val="solid"/>
          </a:ln>
        </p:spPr>
      </p:sp>
      <p:sp>
        <p:nvSpPr>
          <p:cNvPr id="7" name="Text 5"/>
          <p:cNvSpPr/>
          <p:nvPr/>
        </p:nvSpPr>
        <p:spPr>
          <a:xfrm>
            <a:off x="4325303" y="2244090"/>
            <a:ext cx="2669500"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Czy firma może zabrać swoje dane?</a:t>
            </a:r>
            <a:endParaRPr lang="en-US" sz="1950" dirty="0"/>
          </a:p>
        </p:txBody>
      </p:sp>
      <p:sp>
        <p:nvSpPr>
          <p:cNvPr id="8" name="Text 6"/>
          <p:cNvSpPr/>
          <p:nvPr/>
        </p:nvSpPr>
        <p:spPr>
          <a:xfrm>
            <a:off x="4325303" y="2983468"/>
            <a:ext cx="2669500" cy="127015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W jakim formacie? W jakim terminie? Czy dostajesz surowe dane, czy przetworzony output? </a:t>
            </a:r>
            <a:endParaRPr lang="en-US" sz="1550" dirty="0"/>
          </a:p>
        </p:txBody>
      </p:sp>
      <p:sp>
        <p:nvSpPr>
          <p:cNvPr id="9" name="Shape 7"/>
          <p:cNvSpPr/>
          <p:nvPr/>
        </p:nvSpPr>
        <p:spPr>
          <a:xfrm>
            <a:off x="7414379" y="2022872"/>
            <a:ext cx="3111937" cy="4342448"/>
          </a:xfrm>
          <a:prstGeom prst="roundRect">
            <a:avLst>
              <a:gd name="adj" fmla="val 2679"/>
            </a:avLst>
          </a:prstGeom>
          <a:solidFill>
            <a:srgbClr val="272525"/>
          </a:solidFill>
          <a:ln w="22860">
            <a:solidFill>
              <a:srgbClr val="2A1999"/>
            </a:solidFill>
            <a:prstDash val="solid"/>
          </a:ln>
        </p:spPr>
      </p:sp>
      <p:sp>
        <p:nvSpPr>
          <p:cNvPr id="10" name="Text 8"/>
          <p:cNvSpPr/>
          <p:nvPr/>
        </p:nvSpPr>
        <p:spPr>
          <a:xfrm>
            <a:off x="7635597" y="2244090"/>
            <a:ext cx="2669500" cy="1240631"/>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Co się stanie z danymi po zakończeniu współpracy?</a:t>
            </a:r>
            <a:endParaRPr lang="en-US" sz="1950" dirty="0"/>
          </a:p>
        </p:txBody>
      </p:sp>
      <p:sp>
        <p:nvSpPr>
          <p:cNvPr id="11" name="Text 9"/>
          <p:cNvSpPr/>
          <p:nvPr/>
        </p:nvSpPr>
        <p:spPr>
          <a:xfrm>
            <a:off x="7635597" y="3603784"/>
            <a:ext cx="2669500" cy="254031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Czy vendor musi usunąć wszystkie dane klienta? W jakim terminie? Czy vendor może zachować dane do celów archiwizacyjnych? Czy vendor musi wydać certyfikat zniszczenia danych?</a:t>
            </a:r>
            <a:endParaRPr lang="en-US" sz="1550" dirty="0"/>
          </a:p>
        </p:txBody>
      </p:sp>
      <p:sp>
        <p:nvSpPr>
          <p:cNvPr id="12" name="Shape 10"/>
          <p:cNvSpPr/>
          <p:nvPr/>
        </p:nvSpPr>
        <p:spPr>
          <a:xfrm>
            <a:off x="10724674" y="2022872"/>
            <a:ext cx="3111937" cy="4342448"/>
          </a:xfrm>
          <a:prstGeom prst="roundRect">
            <a:avLst>
              <a:gd name="adj" fmla="val 2679"/>
            </a:avLst>
          </a:prstGeom>
          <a:solidFill>
            <a:srgbClr val="272525"/>
          </a:solidFill>
          <a:ln w="22860">
            <a:solidFill>
              <a:srgbClr val="2A1999"/>
            </a:solidFill>
            <a:prstDash val="solid"/>
          </a:ln>
        </p:spPr>
      </p:sp>
      <p:sp>
        <p:nvSpPr>
          <p:cNvPr id="13" name="Text 11"/>
          <p:cNvSpPr/>
          <p:nvPr/>
        </p:nvSpPr>
        <p:spPr>
          <a:xfrm>
            <a:off x="10945892" y="2244090"/>
            <a:ext cx="2669500" cy="930473"/>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Czy vendor może dalej używać modelu?</a:t>
            </a:r>
            <a:endParaRPr lang="en-US" sz="1950" dirty="0"/>
          </a:p>
        </p:txBody>
      </p:sp>
      <p:sp>
        <p:nvSpPr>
          <p:cNvPr id="14" name="Text 12"/>
          <p:cNvSpPr/>
          <p:nvPr/>
        </p:nvSpPr>
        <p:spPr>
          <a:xfrm>
            <a:off x="10945892" y="3293626"/>
            <a:ext cx="2669500" cy="190523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Czy wasze dane „siedzą" w wagach modelu i nie da się ich wyekstrahować? Czy vendor może sprzedawać ten sam fine-tuned model innym klientom?</a:t>
            </a:r>
            <a:endParaRPr lang="en-US" sz="1550" dirty="0"/>
          </a:p>
        </p:txBody>
      </p:sp>
      <p:sp>
        <p:nvSpPr>
          <p:cNvPr id="15" name="Text 13"/>
          <p:cNvSpPr/>
          <p:nvPr/>
        </p:nvSpPr>
        <p:spPr>
          <a:xfrm>
            <a:off x="793790" y="658856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W 80% umów, które widziałem, nie ma klauzuli exit strategy specyficznej dla AI. Są ogólne zapisy o zwrocie danych - ale nie adresują tego, co się dzieje z modelem, który był trenowany na waszych danych.</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929170"/>
            <a:ext cx="6447830"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Co powinno być w umowie</a:t>
            </a:r>
            <a:endParaRPr lang="en-US" sz="3900" dirty="0"/>
          </a:p>
        </p:txBody>
      </p:sp>
      <p:sp>
        <p:nvSpPr>
          <p:cNvPr id="3" name="Text 1"/>
          <p:cNvSpPr/>
          <p:nvPr/>
        </p:nvSpPr>
        <p:spPr>
          <a:xfrm>
            <a:off x="793790" y="2628543"/>
            <a:ext cx="4550093"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Strategia wyjścia - klauzule ochronne</a:t>
            </a:r>
            <a:endParaRPr lang="en-US" sz="1950" dirty="0"/>
          </a:p>
        </p:txBody>
      </p:sp>
      <p:sp>
        <p:nvSpPr>
          <p:cNvPr id="4" name="Shape 2"/>
          <p:cNvSpPr/>
          <p:nvPr/>
        </p:nvSpPr>
        <p:spPr>
          <a:xfrm>
            <a:off x="793790" y="3236357"/>
            <a:ext cx="13042821" cy="3063954"/>
          </a:xfrm>
          <a:prstGeom prst="roundRect">
            <a:avLst>
              <a:gd name="adj" fmla="val 2721"/>
            </a:avLst>
          </a:prstGeom>
          <a:solidFill>
            <a:srgbClr val="110080"/>
          </a:solidFill>
          <a:ln w="7620">
            <a:solidFill>
              <a:srgbClr val="2A1999"/>
            </a:solidFill>
            <a:prstDash val="solid"/>
          </a:ln>
        </p:spPr>
      </p:sp>
      <p:sp>
        <p:nvSpPr>
          <p:cNvPr id="5" name="Shape 3"/>
          <p:cNvSpPr/>
          <p:nvPr/>
        </p:nvSpPr>
        <p:spPr>
          <a:xfrm>
            <a:off x="801410" y="3243977"/>
            <a:ext cx="3256836" cy="3048714"/>
          </a:xfrm>
          <a:prstGeom prst="roundRect">
            <a:avLst>
              <a:gd name="adj" fmla="val 2734"/>
            </a:avLst>
          </a:prstGeom>
          <a:solidFill>
            <a:srgbClr val="110080"/>
          </a:solidFill>
          <a:ln/>
        </p:spPr>
      </p:sp>
      <p:sp>
        <p:nvSpPr>
          <p:cNvPr id="6" name="Text 4"/>
          <p:cNvSpPr/>
          <p:nvPr/>
        </p:nvSpPr>
        <p:spPr>
          <a:xfrm>
            <a:off x="999768" y="344233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Prawo do eksportu</a:t>
            </a:r>
            <a:endParaRPr lang="en-US" sz="1950" dirty="0"/>
          </a:p>
        </p:txBody>
      </p:sp>
      <p:sp>
        <p:nvSpPr>
          <p:cNvPr id="7" name="Text 5"/>
          <p:cNvSpPr/>
          <p:nvPr/>
        </p:nvSpPr>
        <p:spPr>
          <a:xfrm>
            <a:off x="999768" y="3871555"/>
            <a:ext cx="2860119" cy="190523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Prawo do pełnego eksportu danych w standardowym, maszynowo czytelnym formacie (np. JSON, CSV, Parquet) w ciągu 30 dni od wypowiedzenia umowy.</a:t>
            </a:r>
            <a:endParaRPr lang="en-US" sz="1550" dirty="0"/>
          </a:p>
        </p:txBody>
      </p:sp>
      <p:sp>
        <p:nvSpPr>
          <p:cNvPr id="8" name="Shape 6"/>
          <p:cNvSpPr/>
          <p:nvPr/>
        </p:nvSpPr>
        <p:spPr>
          <a:xfrm>
            <a:off x="4058245" y="3243977"/>
            <a:ext cx="3256955" cy="3048714"/>
          </a:xfrm>
          <a:prstGeom prst="rect">
            <a:avLst/>
          </a:prstGeom>
          <a:solidFill>
            <a:srgbClr val="110080"/>
          </a:solidFill>
          <a:ln/>
        </p:spPr>
      </p:sp>
      <p:sp>
        <p:nvSpPr>
          <p:cNvPr id="9" name="Shape 7"/>
          <p:cNvSpPr/>
          <p:nvPr/>
        </p:nvSpPr>
        <p:spPr>
          <a:xfrm>
            <a:off x="4058245" y="3243977"/>
            <a:ext cx="22860" cy="3048714"/>
          </a:xfrm>
          <a:prstGeom prst="roundRect">
            <a:avLst>
              <a:gd name="adj" fmla="val 364651"/>
            </a:avLst>
          </a:prstGeom>
          <a:solidFill>
            <a:srgbClr val="2A1999"/>
          </a:solidFill>
          <a:ln/>
        </p:spPr>
      </p:sp>
      <p:sp>
        <p:nvSpPr>
          <p:cNvPr id="10" name="Text 8"/>
          <p:cNvSpPr/>
          <p:nvPr/>
        </p:nvSpPr>
        <p:spPr>
          <a:xfrm>
            <a:off x="4256603" y="3442335"/>
            <a:ext cx="2546152"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Przenośność modelu</a:t>
            </a:r>
            <a:endParaRPr lang="en-US" sz="1950" dirty="0"/>
          </a:p>
        </p:txBody>
      </p:sp>
      <p:sp>
        <p:nvSpPr>
          <p:cNvPr id="11" name="Text 9"/>
          <p:cNvSpPr/>
          <p:nvPr/>
        </p:nvSpPr>
        <p:spPr>
          <a:xfrm>
            <a:off x="4256603" y="3871555"/>
            <a:ext cx="2860238" cy="190523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Jeśli model był fine-tuned na waszych danych - prawo do otrzymania wag modelu lub równoważnego mechanizmu przeniesienia „wiedzy" modelu do nowego vendora.</a:t>
            </a:r>
            <a:endParaRPr lang="en-US" sz="1550" dirty="0"/>
          </a:p>
        </p:txBody>
      </p:sp>
      <p:sp>
        <p:nvSpPr>
          <p:cNvPr id="12" name="Shape 10"/>
          <p:cNvSpPr/>
          <p:nvPr/>
        </p:nvSpPr>
        <p:spPr>
          <a:xfrm>
            <a:off x="7315200" y="3243977"/>
            <a:ext cx="3256836" cy="3048714"/>
          </a:xfrm>
          <a:prstGeom prst="rect">
            <a:avLst/>
          </a:prstGeom>
          <a:solidFill>
            <a:srgbClr val="110080"/>
          </a:solidFill>
          <a:ln/>
        </p:spPr>
      </p:sp>
      <p:sp>
        <p:nvSpPr>
          <p:cNvPr id="13" name="Shape 11"/>
          <p:cNvSpPr/>
          <p:nvPr/>
        </p:nvSpPr>
        <p:spPr>
          <a:xfrm>
            <a:off x="7315200" y="3243977"/>
            <a:ext cx="22860" cy="3048714"/>
          </a:xfrm>
          <a:prstGeom prst="roundRect">
            <a:avLst>
              <a:gd name="adj" fmla="val 364651"/>
            </a:avLst>
          </a:prstGeom>
          <a:solidFill>
            <a:srgbClr val="2A1999"/>
          </a:solidFill>
          <a:ln/>
        </p:spPr>
      </p:sp>
      <p:sp>
        <p:nvSpPr>
          <p:cNvPr id="14" name="Text 12"/>
          <p:cNvSpPr/>
          <p:nvPr/>
        </p:nvSpPr>
        <p:spPr>
          <a:xfrm>
            <a:off x="7513558" y="3442335"/>
            <a:ext cx="2754511"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Zakaz dalszego użycia</a:t>
            </a:r>
            <a:endParaRPr lang="en-US" sz="1950" dirty="0"/>
          </a:p>
        </p:txBody>
      </p:sp>
      <p:sp>
        <p:nvSpPr>
          <p:cNvPr id="15" name="Text 13"/>
          <p:cNvSpPr/>
          <p:nvPr/>
        </p:nvSpPr>
        <p:spPr>
          <a:xfrm>
            <a:off x="7513558" y="3871555"/>
            <a:ext cx="2860119" cy="222277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Vendor zobowiązuje się nie używać fine-tuned modelu dla innych klientów po zakończeniu współpracy. Vendor zobowiązuje się usunąć wszystkie dane klienta w ciągu 90 dni.</a:t>
            </a:r>
            <a:endParaRPr lang="en-US" sz="1550" dirty="0"/>
          </a:p>
        </p:txBody>
      </p:sp>
      <p:sp>
        <p:nvSpPr>
          <p:cNvPr id="16" name="Shape 14"/>
          <p:cNvSpPr/>
          <p:nvPr/>
        </p:nvSpPr>
        <p:spPr>
          <a:xfrm>
            <a:off x="10572036" y="3243977"/>
            <a:ext cx="3256955" cy="3048714"/>
          </a:xfrm>
          <a:prstGeom prst="rect">
            <a:avLst/>
          </a:prstGeom>
          <a:solidFill>
            <a:srgbClr val="110080"/>
          </a:solidFill>
          <a:ln/>
        </p:spPr>
      </p:sp>
      <p:sp>
        <p:nvSpPr>
          <p:cNvPr id="17" name="Shape 15"/>
          <p:cNvSpPr/>
          <p:nvPr/>
        </p:nvSpPr>
        <p:spPr>
          <a:xfrm>
            <a:off x="10572036" y="3243977"/>
            <a:ext cx="22860" cy="3048714"/>
          </a:xfrm>
          <a:prstGeom prst="roundRect">
            <a:avLst>
              <a:gd name="adj" fmla="val 364651"/>
            </a:avLst>
          </a:prstGeom>
          <a:solidFill>
            <a:srgbClr val="2A1999"/>
          </a:solidFill>
          <a:ln/>
        </p:spPr>
      </p:sp>
      <p:sp>
        <p:nvSpPr>
          <p:cNvPr id="18" name="Text 16"/>
          <p:cNvSpPr/>
          <p:nvPr/>
        </p:nvSpPr>
        <p:spPr>
          <a:xfrm>
            <a:off x="10770394" y="344233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Pomoc w przejściu</a:t>
            </a:r>
            <a:endParaRPr lang="en-US" sz="1950" dirty="0"/>
          </a:p>
        </p:txBody>
      </p:sp>
      <p:sp>
        <p:nvSpPr>
          <p:cNvPr id="19" name="Text 17"/>
          <p:cNvSpPr/>
          <p:nvPr/>
        </p:nvSpPr>
        <p:spPr>
          <a:xfrm>
            <a:off x="10770394" y="3871555"/>
            <a:ext cx="2860238" cy="222277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Vendor zobowiązuje się do 90-dniowego wsparcia technicznego przy migracji do nowego rozwiązania, w tym dokumentacji integracji, pomocy w eksporcie danych, konsultacji.</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1087160"/>
            <a:ext cx="12426910"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Obszar 5: Odpowiedzialność za halucynacje i błędy</a:t>
            </a:r>
            <a:endParaRPr lang="en-US" sz="3900" dirty="0"/>
          </a:p>
        </p:txBody>
      </p:sp>
      <p:sp>
        <p:nvSpPr>
          <p:cNvPr id="3" name="Text 1"/>
          <p:cNvSpPr/>
          <p:nvPr/>
        </p:nvSpPr>
        <p:spPr>
          <a:xfrm>
            <a:off x="793790" y="1786533"/>
            <a:ext cx="2873216"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Kto płaci gdy AI się myli</a:t>
            </a:r>
            <a:endParaRPr lang="en-US" sz="1950" dirty="0"/>
          </a:p>
        </p:txBody>
      </p:sp>
      <p:sp>
        <p:nvSpPr>
          <p:cNvPr id="4" name="Text 2"/>
          <p:cNvSpPr/>
          <p:nvPr/>
        </p:nvSpPr>
        <p:spPr>
          <a:xfrm>
            <a:off x="1091446" y="2617589"/>
            <a:ext cx="12745164"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„AI się myli. To nie jest bug - to jest jego natura. Modele generatywne z natury generują odpowiedzi probabilistyczne, nie deterministyczne. Pytanie nie brzmi </a:t>
            </a:r>
            <a:pPr algn="l" indent="0" marL="0">
              <a:lnSpc>
                <a:spcPts val="2500"/>
              </a:lnSpc>
              <a:buNone/>
            </a:pPr>
            <a:r>
              <a:rPr lang="en-US" sz="1550" i="1" dirty="0">
                <a:solidFill>
                  <a:srgbClr val="E5E0DF"/>
                </a:solidFill>
                <a:latin typeface="Inter" pitchFamily="34" charset="0"/>
                <a:ea typeface="Inter" pitchFamily="34" charset="-122"/>
                <a:cs typeface="Inter" pitchFamily="34" charset="-120"/>
              </a:rPr>
              <a:t>czy</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AI się pomyli - pytanie brzmi, </a:t>
            </a:r>
            <a:pPr algn="l" indent="0" marL="0">
              <a:lnSpc>
                <a:spcPts val="2500"/>
              </a:lnSpc>
              <a:buNone/>
            </a:pPr>
            <a:r>
              <a:rPr lang="en-US" sz="1550" i="1" dirty="0">
                <a:solidFill>
                  <a:srgbClr val="E5E0DF"/>
                </a:solidFill>
                <a:latin typeface="Inter" pitchFamily="34" charset="0"/>
                <a:ea typeface="Inter" pitchFamily="34" charset="-122"/>
                <a:cs typeface="Inter" pitchFamily="34" charset="-120"/>
              </a:rPr>
              <a:t>kto za to zapłaci</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a:t>
            </a:r>
            <a:endParaRPr lang="en-US" sz="1550" dirty="0"/>
          </a:p>
        </p:txBody>
      </p:sp>
      <p:sp>
        <p:nvSpPr>
          <p:cNvPr id="5" name="Shape 3"/>
          <p:cNvSpPr/>
          <p:nvPr/>
        </p:nvSpPr>
        <p:spPr>
          <a:xfrm>
            <a:off x="793790" y="2394347"/>
            <a:ext cx="22860" cy="1081564"/>
          </a:xfrm>
          <a:prstGeom prst="rect">
            <a:avLst/>
          </a:prstGeom>
          <a:solidFill>
            <a:srgbClr val="2B0AFF"/>
          </a:solidFill>
          <a:ln/>
        </p:spPr>
      </p:sp>
      <p:sp>
        <p:nvSpPr>
          <p:cNvPr id="6" name="Text 4"/>
          <p:cNvSpPr/>
          <p:nvPr/>
        </p:nvSpPr>
        <p:spPr>
          <a:xfrm>
            <a:off x="793790" y="369915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Pamiętacie case Air Canada z Bloku 1? Chatbot obiecał rabat, którego firma nie oferowała. Klient pozwał. Sąd orzekł, że firma odpowiada za to, co chatbot komunikuje - bo chatbot jest agentem firmy.</a:t>
            </a:r>
            <a:endParaRPr lang="en-US" sz="1550" dirty="0"/>
          </a:p>
        </p:txBody>
      </p:sp>
      <p:sp>
        <p:nvSpPr>
          <p:cNvPr id="7" name="Text 5"/>
          <p:cNvSpPr/>
          <p:nvPr/>
        </p:nvSpPr>
        <p:spPr>
          <a:xfrm>
            <a:off x="793790" y="455747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Teraz wyobraźcie sobie eskalację tego scenariusza:</a:t>
            </a:r>
            <a:endParaRPr lang="en-US" sz="1550" dirty="0"/>
          </a:p>
        </p:txBody>
      </p:sp>
      <p:sp>
        <p:nvSpPr>
          <p:cNvPr id="8" name="Text 6"/>
          <p:cNvSpPr/>
          <p:nvPr/>
        </p:nvSpPr>
        <p:spPr>
          <a:xfrm>
            <a:off x="793790" y="5098256"/>
            <a:ext cx="13042821" cy="1905354"/>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System AI rekomenduje lek pacjentowi - okazuje się, że lek ma interakcję z innym lekiem, którego pacjent bierze. Pacjent ma ciężki incydent zdrowotny.</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System AI odmawia wypłaty odszkodowania ubezpieczeniowego - okazuje się, że system źle zinterpretował klauzulę polisy. Klient pozwał o odszkodowanie i kary umowne.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System AI generuje opinię prawną, na której klient opiera decyzję biznesową za 10 milionów złotych - opinia zawiera błędną interpretację przepisu. Klient traci proces i pozwał kancelarię.</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1203722"/>
            <a:ext cx="8785622"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Klauzule limitacji odpowiedzialności</a:t>
            </a:r>
            <a:endParaRPr lang="en-US" sz="3900" dirty="0"/>
          </a:p>
        </p:txBody>
      </p:sp>
      <p:sp>
        <p:nvSpPr>
          <p:cNvPr id="3" name="Text 1"/>
          <p:cNvSpPr/>
          <p:nvPr/>
        </p:nvSpPr>
        <p:spPr>
          <a:xfrm>
            <a:off x="793790" y="1903095"/>
            <a:ext cx="3289697"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Czego szukają vendorzy AI</a:t>
            </a:r>
            <a:endParaRPr lang="en-US" sz="1950" dirty="0"/>
          </a:p>
        </p:txBody>
      </p:sp>
      <p:sp>
        <p:nvSpPr>
          <p:cNvPr id="4" name="Text 2"/>
          <p:cNvSpPr/>
          <p:nvPr/>
        </p:nvSpPr>
        <p:spPr>
          <a:xfrm>
            <a:off x="793790" y="2510909"/>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Typowa klauzula z regulaminu narzędzia AI:</a:t>
            </a:r>
            <a:endParaRPr lang="en-US" sz="1550" dirty="0"/>
          </a:p>
        </p:txBody>
      </p:sp>
      <p:sp>
        <p:nvSpPr>
          <p:cNvPr id="5" name="Text 3"/>
          <p:cNvSpPr/>
          <p:nvPr/>
        </p:nvSpPr>
        <p:spPr>
          <a:xfrm>
            <a:off x="1091446" y="3274933"/>
            <a:ext cx="12745164"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„Dostawca nie gwarantuje poprawności, kompletności ani aktualności wyników generowanych przez system AI. Użytkownik ponosi wyłączną odpowiedzialność za weryfikację i wykorzystanie wyników. Dostawca nie ponosi odpowiedzialności za jakiekolwiek szkody wynikłe z błędnych lub niepełnych wyników systemu AI."</a:t>
            </a:r>
            <a:endParaRPr lang="en-US" sz="1550" dirty="0"/>
          </a:p>
        </p:txBody>
      </p:sp>
      <p:sp>
        <p:nvSpPr>
          <p:cNvPr id="6" name="Shape 4"/>
          <p:cNvSpPr/>
          <p:nvPr/>
        </p:nvSpPr>
        <p:spPr>
          <a:xfrm>
            <a:off x="793790" y="3051691"/>
            <a:ext cx="22860" cy="1399103"/>
          </a:xfrm>
          <a:prstGeom prst="rect">
            <a:avLst/>
          </a:prstGeom>
          <a:solidFill>
            <a:srgbClr val="2B0AFF"/>
          </a:solidFill>
          <a:ln/>
        </p:spPr>
      </p:sp>
      <p:sp>
        <p:nvSpPr>
          <p:cNvPr id="7" name="Text 5"/>
          <p:cNvSpPr/>
          <p:nvPr/>
        </p:nvSpPr>
        <p:spPr>
          <a:xfrm>
            <a:off x="793790" y="467403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jest standardowa klauzula w prawie każdym narzędziu AI. Vendor mówi: </a:t>
            </a:r>
            <a:pPr algn="l" indent="0" marL="0">
              <a:lnSpc>
                <a:spcPts val="2500"/>
              </a:lnSpc>
              <a:buNone/>
            </a:pPr>
            <a:r>
              <a:rPr lang="en-US" sz="1550" i="1" dirty="0">
                <a:solidFill>
                  <a:srgbClr val="E5E0DF"/>
                </a:solidFill>
                <a:latin typeface="Inter" pitchFamily="34" charset="0"/>
                <a:ea typeface="Inter" pitchFamily="34" charset="-122"/>
                <a:cs typeface="Inter" pitchFamily="34" charset="-120"/>
              </a:rPr>
              <a:t>nie ufaj mojemu produktowi</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I ma prawo - bo tak działają modele probabilistyczne.</a:t>
            </a:r>
            <a:endParaRPr lang="en-US" sz="1550" dirty="0"/>
          </a:p>
        </p:txBody>
      </p:sp>
      <p:sp>
        <p:nvSpPr>
          <p:cNvPr id="8" name="Text 6"/>
          <p:cNvSpPr/>
          <p:nvPr/>
        </p:nvSpPr>
        <p:spPr>
          <a:xfrm>
            <a:off x="793790" y="5532358"/>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Ale wtedy pytanie brzmi: za co właściwie płacę?</a:t>
            </a:r>
            <a:endParaRPr lang="en-US" sz="1550" dirty="0"/>
          </a:p>
        </p:txBody>
      </p:sp>
      <p:sp>
        <p:nvSpPr>
          <p:cNvPr id="9" name="Text 7"/>
          <p:cNvSpPr/>
          <p:nvPr/>
        </p:nvSpPr>
        <p:spPr>
          <a:xfrm>
            <a:off x="793790" y="6073140"/>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Jeśli vendor nie daje żadnej gwarancji jakości - to znaczy, że cała odpowiedzialność za weryfikację każdej odpowiedzi AI spoczywa na was. To znaczy, że musicie mieć human oversight dla każdej decyzji. To znaczy, że AI jest tylko narzędziem wspomagającym - a całą odpowiedzialność merytoryczną bierzecie na siebie.</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85813" y="687586"/>
            <a:ext cx="5743813" cy="552569"/>
          </a:xfrm>
          <a:prstGeom prst="rect">
            <a:avLst/>
          </a:prstGeom>
          <a:noFill/>
          <a:ln/>
        </p:spPr>
        <p:txBody>
          <a:bodyPr wrap="none" lIns="0" tIns="0" rIns="0" bIns="0" rtlCol="0" anchor="t"/>
          <a:lstStyle/>
          <a:p>
            <a:pPr algn="l" indent="0" marL="0">
              <a:lnSpc>
                <a:spcPts val="4350"/>
              </a:lnSpc>
              <a:buNone/>
            </a:pPr>
            <a:r>
              <a:rPr lang="en-US" sz="3450" b="1" dirty="0">
                <a:solidFill>
                  <a:srgbClr val="FFFFFF"/>
                </a:solidFill>
                <a:latin typeface="Inter Bold" pitchFamily="34" charset="0"/>
                <a:ea typeface="Inter Bold" pitchFamily="34" charset="-122"/>
                <a:cs typeface="Inter Bold" pitchFamily="34" charset="-120"/>
              </a:rPr>
              <a:t>Co powinno być w umowie</a:t>
            </a:r>
            <a:endParaRPr lang="en-US" sz="3450" dirty="0"/>
          </a:p>
        </p:txBody>
      </p:sp>
      <p:sp>
        <p:nvSpPr>
          <p:cNvPr id="3" name="Text 1"/>
          <p:cNvSpPr/>
          <p:nvPr/>
        </p:nvSpPr>
        <p:spPr>
          <a:xfrm>
            <a:off x="785813" y="1303139"/>
            <a:ext cx="4739878" cy="276225"/>
          </a:xfrm>
          <a:prstGeom prst="rect">
            <a:avLst/>
          </a:prstGeom>
          <a:noFill/>
          <a:ln/>
        </p:spPr>
        <p:txBody>
          <a:bodyPr wrap="none" lIns="0" tIns="0" rIns="0" bIns="0" rtlCol="0" anchor="t"/>
          <a:lstStyle/>
          <a:p>
            <a:pPr algn="l" indent="0" marL="0">
              <a:lnSpc>
                <a:spcPts val="2150"/>
              </a:lnSpc>
              <a:buNone/>
            </a:pPr>
            <a:r>
              <a:rPr lang="en-US" sz="1700" b="1" dirty="0">
                <a:solidFill>
                  <a:srgbClr val="FFFFFF"/>
                </a:solidFill>
                <a:latin typeface="Inter Bold" pitchFamily="34" charset="0"/>
                <a:ea typeface="Inter Bold" pitchFamily="34" charset="-122"/>
                <a:cs typeface="Inter Bold" pitchFamily="34" charset="-120"/>
              </a:rPr>
              <a:t>Odpowiedzialność — klauzule negocjacyjne</a:t>
            </a:r>
            <a:endParaRPr lang="en-US" sz="1700" dirty="0"/>
          </a:p>
        </p:txBody>
      </p:sp>
      <p:sp>
        <p:nvSpPr>
          <p:cNvPr id="4" name="Shape 2"/>
          <p:cNvSpPr/>
          <p:nvPr/>
        </p:nvSpPr>
        <p:spPr>
          <a:xfrm>
            <a:off x="785813" y="1815584"/>
            <a:ext cx="3146465" cy="2926913"/>
          </a:xfrm>
          <a:prstGeom prst="roundRect">
            <a:avLst>
              <a:gd name="adj" fmla="val 3749"/>
            </a:avLst>
          </a:prstGeom>
          <a:solidFill>
            <a:srgbClr val="272525"/>
          </a:solidFill>
          <a:ln w="22860">
            <a:solidFill>
              <a:srgbClr val="2A1999"/>
            </a:solidFill>
            <a:prstDash val="solid"/>
          </a:ln>
        </p:spPr>
      </p:sp>
      <p:sp>
        <p:nvSpPr>
          <p:cNvPr id="5" name="Shape 3"/>
          <p:cNvSpPr/>
          <p:nvPr/>
        </p:nvSpPr>
        <p:spPr>
          <a:xfrm>
            <a:off x="762953" y="1815584"/>
            <a:ext cx="91440" cy="2926913"/>
          </a:xfrm>
          <a:prstGeom prst="roundRect">
            <a:avLst>
              <a:gd name="adj" fmla="val 81219"/>
            </a:avLst>
          </a:prstGeom>
          <a:solidFill>
            <a:srgbClr val="2B0AFF"/>
          </a:solidFill>
          <a:ln/>
        </p:spPr>
      </p:sp>
      <p:sp>
        <p:nvSpPr>
          <p:cNvPr id="6" name="Text 4"/>
          <p:cNvSpPr/>
          <p:nvPr/>
        </p:nvSpPr>
        <p:spPr>
          <a:xfrm>
            <a:off x="1054060" y="2015252"/>
            <a:ext cx="2678549" cy="828675"/>
          </a:xfrm>
          <a:prstGeom prst="rect">
            <a:avLst/>
          </a:prstGeom>
          <a:noFill/>
          <a:ln/>
        </p:spPr>
        <p:txBody>
          <a:bodyPr wrap="square" lIns="0" tIns="0" rIns="0" bIns="0" rtlCol="0" anchor="t"/>
          <a:lstStyle/>
          <a:p>
            <a:pPr algn="l" indent="0" marL="0">
              <a:lnSpc>
                <a:spcPts val="2150"/>
              </a:lnSpc>
              <a:buNone/>
            </a:pPr>
            <a:r>
              <a:rPr lang="en-US" sz="1700" b="1" dirty="0">
                <a:solidFill>
                  <a:srgbClr val="E5E0DF"/>
                </a:solidFill>
                <a:latin typeface="Inter Bold" pitchFamily="34" charset="0"/>
                <a:ea typeface="Inter Bold" pitchFamily="34" charset="-122"/>
                <a:cs typeface="Inter Bold" pitchFamily="34" charset="-120"/>
              </a:rPr>
              <a:t>SLA (Service Level Agreement) z metrykami jakości</a:t>
            </a:r>
            <a:endParaRPr lang="en-US" sz="1700" dirty="0"/>
          </a:p>
        </p:txBody>
      </p:sp>
      <p:sp>
        <p:nvSpPr>
          <p:cNvPr id="7" name="Text 5"/>
          <p:cNvSpPr/>
          <p:nvPr/>
        </p:nvSpPr>
        <p:spPr>
          <a:xfrm>
            <a:off x="1054060" y="2938343"/>
            <a:ext cx="2678549" cy="1604486"/>
          </a:xfrm>
          <a:prstGeom prst="rect">
            <a:avLst/>
          </a:prstGeom>
          <a:noFill/>
          <a:ln/>
        </p:spPr>
        <p:txBody>
          <a:bodyPr wrap="square" lIns="0" tIns="0" rIns="0" bIns="0" rtlCol="0" anchor="t"/>
          <a:lstStyle/>
          <a:p>
            <a:pPr algn="l" indent="0" marL="0">
              <a:lnSpc>
                <a:spcPts val="2100"/>
              </a:lnSpc>
              <a:buNone/>
            </a:pPr>
            <a:r>
              <a:rPr lang="en-US" sz="1350" dirty="0">
                <a:solidFill>
                  <a:srgbClr val="E5E0DF"/>
                </a:solidFill>
                <a:latin typeface="Inter" pitchFamily="34" charset="0"/>
                <a:ea typeface="Inter" pitchFamily="34" charset="-122"/>
                <a:cs typeface="Inter" pitchFamily="34" charset="-120"/>
              </a:rPr>
              <a:t>Nie tylko uptime (99,9%), ale dokładność (np. 95% dla głównego przypadku użycia),  pamięć dla krytycznych funkcji. Kary umowne za nieosiągnięcie SLA.</a:t>
            </a:r>
            <a:endParaRPr lang="en-US" sz="1350" dirty="0"/>
          </a:p>
        </p:txBody>
      </p:sp>
      <p:sp>
        <p:nvSpPr>
          <p:cNvPr id="8" name="Shape 6"/>
          <p:cNvSpPr/>
          <p:nvPr/>
        </p:nvSpPr>
        <p:spPr>
          <a:xfrm>
            <a:off x="4089797" y="1815584"/>
            <a:ext cx="3146584" cy="2926913"/>
          </a:xfrm>
          <a:prstGeom prst="roundRect">
            <a:avLst>
              <a:gd name="adj" fmla="val 3749"/>
            </a:avLst>
          </a:prstGeom>
          <a:solidFill>
            <a:srgbClr val="272525"/>
          </a:solidFill>
          <a:ln w="22860">
            <a:solidFill>
              <a:srgbClr val="2A1999"/>
            </a:solidFill>
            <a:prstDash val="solid"/>
          </a:ln>
        </p:spPr>
      </p:sp>
      <p:sp>
        <p:nvSpPr>
          <p:cNvPr id="9" name="Shape 7"/>
          <p:cNvSpPr/>
          <p:nvPr/>
        </p:nvSpPr>
        <p:spPr>
          <a:xfrm>
            <a:off x="4066937" y="1815584"/>
            <a:ext cx="91440" cy="2926913"/>
          </a:xfrm>
          <a:prstGeom prst="roundRect">
            <a:avLst>
              <a:gd name="adj" fmla="val 81219"/>
            </a:avLst>
          </a:prstGeom>
          <a:solidFill>
            <a:srgbClr val="2B0AFF"/>
          </a:solidFill>
          <a:ln/>
        </p:spPr>
      </p:sp>
      <p:sp>
        <p:nvSpPr>
          <p:cNvPr id="10" name="Text 8"/>
          <p:cNvSpPr/>
          <p:nvPr/>
        </p:nvSpPr>
        <p:spPr>
          <a:xfrm>
            <a:off x="4358045" y="2015252"/>
            <a:ext cx="2678668" cy="552450"/>
          </a:xfrm>
          <a:prstGeom prst="rect">
            <a:avLst/>
          </a:prstGeom>
          <a:noFill/>
          <a:ln/>
        </p:spPr>
        <p:txBody>
          <a:bodyPr wrap="square" lIns="0" tIns="0" rIns="0" bIns="0" rtlCol="0" anchor="t"/>
          <a:lstStyle/>
          <a:p>
            <a:pPr algn="l" indent="0" marL="0">
              <a:lnSpc>
                <a:spcPts val="2150"/>
              </a:lnSpc>
              <a:buNone/>
            </a:pPr>
            <a:r>
              <a:rPr lang="en-US" sz="1700" b="1" dirty="0">
                <a:solidFill>
                  <a:srgbClr val="E5E0DF"/>
                </a:solidFill>
                <a:latin typeface="Inter Bold" pitchFamily="34" charset="0"/>
                <a:ea typeface="Inter Bold" pitchFamily="34" charset="-122"/>
                <a:cs typeface="Inter Bold" pitchFamily="34" charset="-120"/>
              </a:rPr>
              <a:t>Jasny podział odpowiedzialności</a:t>
            </a:r>
            <a:endParaRPr lang="en-US" sz="1700" dirty="0"/>
          </a:p>
        </p:txBody>
      </p:sp>
      <p:sp>
        <p:nvSpPr>
          <p:cNvPr id="11" name="Text 9"/>
          <p:cNvSpPr/>
          <p:nvPr/>
        </p:nvSpPr>
        <p:spPr>
          <a:xfrm>
            <a:off x="4358045" y="2662118"/>
            <a:ext cx="2678668" cy="1871901"/>
          </a:xfrm>
          <a:prstGeom prst="rect">
            <a:avLst/>
          </a:prstGeom>
          <a:noFill/>
          <a:ln/>
        </p:spPr>
        <p:txBody>
          <a:bodyPr wrap="square" lIns="0" tIns="0" rIns="0" bIns="0" rtlCol="0" anchor="t"/>
          <a:lstStyle/>
          <a:p>
            <a:pPr algn="l" indent="0" marL="0">
              <a:lnSpc>
                <a:spcPts val="2100"/>
              </a:lnSpc>
              <a:buNone/>
            </a:pPr>
            <a:r>
              <a:rPr lang="en-US" sz="1350" dirty="0">
                <a:solidFill>
                  <a:srgbClr val="E5E0DF"/>
                </a:solidFill>
                <a:latin typeface="Inter" pitchFamily="34" charset="0"/>
                <a:ea typeface="Inter" pitchFamily="34" charset="-122"/>
                <a:cs typeface="Inter" pitchFamily="34" charset="-120"/>
              </a:rPr>
              <a:t>Vendor odpowiada za błędy modelu wynikające z wad treningu, danych, architektury. Klient odpowiada za błędy wynikające z niewłaściwego użycia, braku human oversight, ignorowania instrukcji.</a:t>
            </a:r>
            <a:endParaRPr lang="en-US" sz="1350" dirty="0"/>
          </a:p>
        </p:txBody>
      </p:sp>
      <p:sp>
        <p:nvSpPr>
          <p:cNvPr id="12" name="Shape 10"/>
          <p:cNvSpPr/>
          <p:nvPr/>
        </p:nvSpPr>
        <p:spPr>
          <a:xfrm>
            <a:off x="7393900" y="1815584"/>
            <a:ext cx="3146584" cy="2926913"/>
          </a:xfrm>
          <a:prstGeom prst="roundRect">
            <a:avLst>
              <a:gd name="adj" fmla="val 3749"/>
            </a:avLst>
          </a:prstGeom>
          <a:solidFill>
            <a:srgbClr val="272525"/>
          </a:solidFill>
          <a:ln w="22860">
            <a:solidFill>
              <a:srgbClr val="2A1999"/>
            </a:solidFill>
            <a:prstDash val="solid"/>
          </a:ln>
        </p:spPr>
      </p:sp>
      <p:sp>
        <p:nvSpPr>
          <p:cNvPr id="13" name="Shape 11"/>
          <p:cNvSpPr/>
          <p:nvPr/>
        </p:nvSpPr>
        <p:spPr>
          <a:xfrm>
            <a:off x="7371040" y="1815584"/>
            <a:ext cx="91440" cy="2926913"/>
          </a:xfrm>
          <a:prstGeom prst="roundRect">
            <a:avLst>
              <a:gd name="adj" fmla="val 81219"/>
            </a:avLst>
          </a:prstGeom>
          <a:solidFill>
            <a:srgbClr val="2B0AFF"/>
          </a:solidFill>
          <a:ln/>
        </p:spPr>
      </p:sp>
      <p:sp>
        <p:nvSpPr>
          <p:cNvPr id="14" name="Text 12"/>
          <p:cNvSpPr/>
          <p:nvPr/>
        </p:nvSpPr>
        <p:spPr>
          <a:xfrm>
            <a:off x="7662148" y="2015252"/>
            <a:ext cx="2616875" cy="276225"/>
          </a:xfrm>
          <a:prstGeom prst="rect">
            <a:avLst/>
          </a:prstGeom>
          <a:noFill/>
          <a:ln/>
        </p:spPr>
        <p:txBody>
          <a:bodyPr wrap="none" lIns="0" tIns="0" rIns="0" bIns="0" rtlCol="0" anchor="t"/>
          <a:lstStyle/>
          <a:p>
            <a:pPr algn="l" indent="0" marL="0">
              <a:lnSpc>
                <a:spcPts val="2150"/>
              </a:lnSpc>
              <a:buNone/>
            </a:pPr>
            <a:r>
              <a:rPr lang="en-US" sz="1700" b="1" dirty="0">
                <a:solidFill>
                  <a:srgbClr val="E5E0DF"/>
                </a:solidFill>
                <a:latin typeface="Inter Bold" pitchFamily="34" charset="0"/>
                <a:ea typeface="Inter Bold" pitchFamily="34" charset="-122"/>
                <a:cs typeface="Inter Bold" pitchFamily="34" charset="-120"/>
              </a:rPr>
              <a:t>Procedura reklamacyjna</a:t>
            </a:r>
            <a:endParaRPr lang="en-US" sz="1700" dirty="0"/>
          </a:p>
        </p:txBody>
      </p:sp>
      <p:sp>
        <p:nvSpPr>
          <p:cNvPr id="15" name="Text 13"/>
          <p:cNvSpPr/>
          <p:nvPr/>
        </p:nvSpPr>
        <p:spPr>
          <a:xfrm>
            <a:off x="7662148" y="2385893"/>
            <a:ext cx="2678668" cy="1871901"/>
          </a:xfrm>
          <a:prstGeom prst="rect">
            <a:avLst/>
          </a:prstGeom>
          <a:noFill/>
          <a:ln/>
        </p:spPr>
        <p:txBody>
          <a:bodyPr wrap="square" lIns="0" tIns="0" rIns="0" bIns="0" rtlCol="0" anchor="t"/>
          <a:lstStyle/>
          <a:p>
            <a:pPr algn="l" indent="0" marL="0">
              <a:lnSpc>
                <a:spcPts val="2100"/>
              </a:lnSpc>
              <a:buNone/>
            </a:pPr>
            <a:r>
              <a:rPr lang="en-US" sz="1350" dirty="0">
                <a:solidFill>
                  <a:srgbClr val="E5E0DF"/>
                </a:solidFill>
                <a:latin typeface="Inter" pitchFamily="34" charset="0"/>
                <a:ea typeface="Inter" pitchFamily="34" charset="-122"/>
                <a:cs typeface="Inter" pitchFamily="34" charset="-120"/>
              </a:rPr>
              <a:t>Specyficzna dla błędów AI: jak zgłosić halucynację, w jakim czasie vendor musi odpowiedzieć, jak wygląda proces naprawczy, czy błąd jest raportowany jako incydent pod AI Act.</a:t>
            </a:r>
            <a:endParaRPr lang="en-US" sz="1350" dirty="0"/>
          </a:p>
        </p:txBody>
      </p:sp>
      <p:sp>
        <p:nvSpPr>
          <p:cNvPr id="16" name="Shape 14"/>
          <p:cNvSpPr/>
          <p:nvPr/>
        </p:nvSpPr>
        <p:spPr>
          <a:xfrm>
            <a:off x="10698004" y="1815584"/>
            <a:ext cx="3146584" cy="2926913"/>
          </a:xfrm>
          <a:prstGeom prst="roundRect">
            <a:avLst>
              <a:gd name="adj" fmla="val 3749"/>
            </a:avLst>
          </a:prstGeom>
          <a:solidFill>
            <a:srgbClr val="272525"/>
          </a:solidFill>
          <a:ln w="22860">
            <a:solidFill>
              <a:srgbClr val="2A1999"/>
            </a:solidFill>
            <a:prstDash val="solid"/>
          </a:ln>
        </p:spPr>
      </p:sp>
      <p:sp>
        <p:nvSpPr>
          <p:cNvPr id="17" name="Shape 15"/>
          <p:cNvSpPr/>
          <p:nvPr/>
        </p:nvSpPr>
        <p:spPr>
          <a:xfrm>
            <a:off x="10675144" y="1815584"/>
            <a:ext cx="91440" cy="2926913"/>
          </a:xfrm>
          <a:prstGeom prst="roundRect">
            <a:avLst>
              <a:gd name="adj" fmla="val 81219"/>
            </a:avLst>
          </a:prstGeom>
          <a:solidFill>
            <a:srgbClr val="2B0AFF"/>
          </a:solidFill>
          <a:ln/>
        </p:spPr>
      </p:sp>
      <p:sp>
        <p:nvSpPr>
          <p:cNvPr id="18" name="Text 16"/>
          <p:cNvSpPr/>
          <p:nvPr/>
        </p:nvSpPr>
        <p:spPr>
          <a:xfrm>
            <a:off x="10966252" y="2015252"/>
            <a:ext cx="2678668" cy="552450"/>
          </a:xfrm>
          <a:prstGeom prst="rect">
            <a:avLst/>
          </a:prstGeom>
          <a:noFill/>
          <a:ln/>
        </p:spPr>
        <p:txBody>
          <a:bodyPr wrap="square" lIns="0" tIns="0" rIns="0" bIns="0" rtlCol="0" anchor="t"/>
          <a:lstStyle/>
          <a:p>
            <a:pPr algn="l" indent="0" marL="0">
              <a:lnSpc>
                <a:spcPts val="2150"/>
              </a:lnSpc>
              <a:buNone/>
            </a:pPr>
            <a:r>
              <a:rPr lang="en-US" sz="1700" b="1" dirty="0">
                <a:solidFill>
                  <a:srgbClr val="E5E0DF"/>
                </a:solidFill>
                <a:latin typeface="Inter Bold" pitchFamily="34" charset="0"/>
                <a:ea typeface="Inter Bold" pitchFamily="34" charset="-122"/>
                <a:cs typeface="Inter Bold" pitchFamily="34" charset="-120"/>
              </a:rPr>
              <a:t>Klauzula indemnifikacyjna</a:t>
            </a:r>
            <a:endParaRPr lang="en-US" sz="1700" dirty="0"/>
          </a:p>
        </p:txBody>
      </p:sp>
      <p:sp>
        <p:nvSpPr>
          <p:cNvPr id="19" name="Text 17"/>
          <p:cNvSpPr/>
          <p:nvPr/>
        </p:nvSpPr>
        <p:spPr>
          <a:xfrm>
            <a:off x="10966252" y="2662118"/>
            <a:ext cx="2678668" cy="1604486"/>
          </a:xfrm>
          <a:prstGeom prst="rect">
            <a:avLst/>
          </a:prstGeom>
          <a:noFill/>
          <a:ln/>
        </p:spPr>
        <p:txBody>
          <a:bodyPr wrap="square" lIns="0" tIns="0" rIns="0" bIns="0" rtlCol="0" anchor="t"/>
          <a:lstStyle/>
          <a:p>
            <a:pPr algn="l" indent="0" marL="0">
              <a:lnSpc>
                <a:spcPts val="2100"/>
              </a:lnSpc>
              <a:buNone/>
            </a:pPr>
            <a:r>
              <a:rPr lang="en-US" sz="1350" dirty="0">
                <a:solidFill>
                  <a:srgbClr val="E5E0DF"/>
                </a:solidFill>
                <a:latin typeface="Inter" pitchFamily="34" charset="0"/>
                <a:ea typeface="Inter" pitchFamily="34" charset="-122"/>
                <a:cs typeface="Inter" pitchFamily="34" charset="-120"/>
              </a:rPr>
              <a:t>Vendor zobowiązuje się do pokrycia roszczeń osób trzecich wynikających z błędów systemu AI - pod warunkiem, że klient używał systemu zgodnie z instrukcjami.</a:t>
            </a:r>
            <a:endParaRPr lang="en-US" sz="1350" dirty="0"/>
          </a:p>
        </p:txBody>
      </p:sp>
      <p:sp>
        <p:nvSpPr>
          <p:cNvPr id="20" name="Shape 18"/>
          <p:cNvSpPr/>
          <p:nvPr/>
        </p:nvSpPr>
        <p:spPr>
          <a:xfrm>
            <a:off x="785813" y="4900017"/>
            <a:ext cx="3146465" cy="2641878"/>
          </a:xfrm>
          <a:prstGeom prst="roundRect">
            <a:avLst>
              <a:gd name="adj" fmla="val 4153"/>
            </a:avLst>
          </a:prstGeom>
          <a:solidFill>
            <a:srgbClr val="272525"/>
          </a:solidFill>
          <a:ln w="22860">
            <a:solidFill>
              <a:srgbClr val="2A1999"/>
            </a:solidFill>
            <a:prstDash val="solid"/>
          </a:ln>
        </p:spPr>
      </p:sp>
      <p:sp>
        <p:nvSpPr>
          <p:cNvPr id="21" name="Shape 19"/>
          <p:cNvSpPr/>
          <p:nvPr/>
        </p:nvSpPr>
        <p:spPr>
          <a:xfrm>
            <a:off x="762953" y="4900017"/>
            <a:ext cx="91440" cy="2641878"/>
          </a:xfrm>
          <a:prstGeom prst="roundRect">
            <a:avLst>
              <a:gd name="adj" fmla="val 81219"/>
            </a:avLst>
          </a:prstGeom>
          <a:solidFill>
            <a:srgbClr val="2B0AFF"/>
          </a:solidFill>
          <a:ln/>
        </p:spPr>
      </p:sp>
      <p:sp>
        <p:nvSpPr>
          <p:cNvPr id="22" name="Text 20"/>
          <p:cNvSpPr/>
          <p:nvPr/>
        </p:nvSpPr>
        <p:spPr>
          <a:xfrm>
            <a:off x="1054060" y="5099685"/>
            <a:ext cx="2210276" cy="276225"/>
          </a:xfrm>
          <a:prstGeom prst="rect">
            <a:avLst/>
          </a:prstGeom>
          <a:noFill/>
          <a:ln/>
        </p:spPr>
        <p:txBody>
          <a:bodyPr wrap="none" lIns="0" tIns="0" rIns="0" bIns="0" rtlCol="0" anchor="t"/>
          <a:lstStyle/>
          <a:p>
            <a:pPr algn="l" indent="0" marL="0">
              <a:lnSpc>
                <a:spcPts val="2150"/>
              </a:lnSpc>
              <a:buNone/>
            </a:pPr>
            <a:r>
              <a:rPr lang="en-US" sz="1700" b="1" dirty="0">
                <a:solidFill>
                  <a:srgbClr val="E5E0DF"/>
                </a:solidFill>
                <a:latin typeface="Inter Bold" pitchFamily="34" charset="0"/>
                <a:ea typeface="Inter Bold" pitchFamily="34" charset="-122"/>
                <a:cs typeface="Inter Bold" pitchFamily="34" charset="-120"/>
              </a:rPr>
              <a:t>Ubezpieczenie OC</a:t>
            </a:r>
            <a:endParaRPr lang="en-US" sz="1700" dirty="0"/>
          </a:p>
        </p:txBody>
      </p:sp>
      <p:sp>
        <p:nvSpPr>
          <p:cNvPr id="23" name="Text 21"/>
          <p:cNvSpPr/>
          <p:nvPr/>
        </p:nvSpPr>
        <p:spPr>
          <a:xfrm>
            <a:off x="1054060" y="5470327"/>
            <a:ext cx="2678549" cy="1871901"/>
          </a:xfrm>
          <a:prstGeom prst="rect">
            <a:avLst/>
          </a:prstGeom>
          <a:noFill/>
          <a:ln/>
        </p:spPr>
        <p:txBody>
          <a:bodyPr wrap="square" lIns="0" tIns="0" rIns="0" bIns="0" rtlCol="0" anchor="t"/>
          <a:lstStyle/>
          <a:p>
            <a:pPr algn="l" indent="0" marL="0">
              <a:lnSpc>
                <a:spcPts val="2100"/>
              </a:lnSpc>
              <a:buNone/>
            </a:pPr>
            <a:r>
              <a:rPr lang="en-US" sz="1350" dirty="0">
                <a:solidFill>
                  <a:srgbClr val="E5E0DF"/>
                </a:solidFill>
                <a:latin typeface="Inter" pitchFamily="34" charset="0"/>
                <a:ea typeface="Inter" pitchFamily="34" charset="-122"/>
                <a:cs typeface="Inter" pitchFamily="34" charset="-120"/>
              </a:rPr>
              <a:t>Vendor musi mieć ubezpieczenie OC pokrywające szkody wynikłe z działania AI, na sumę adekwatną do ryzyka (minimum 5 mln EUR dla high-risk). Klient ma prawo zażądać kopii polisy.</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860822"/>
            <a:ext cx="8250079" cy="496133"/>
          </a:xfrm>
          <a:prstGeom prst="rect">
            <a:avLst/>
          </a:prstGeom>
          <a:noFill/>
          <a:ln/>
        </p:spPr>
        <p:txBody>
          <a:bodyPr wrap="none" lIns="0" tIns="0" rIns="0" bIns="0" rtlCol="0" anchor="t"/>
          <a:lstStyle/>
          <a:p>
            <a:pPr algn="l" indent="0" marL="0">
              <a:lnSpc>
                <a:spcPts val="3900"/>
              </a:lnSpc>
              <a:buNone/>
            </a:pPr>
            <a:r>
              <a:rPr lang="en-US" sz="3100" b="1" dirty="0">
                <a:solidFill>
                  <a:srgbClr val="FFFFFF"/>
                </a:solidFill>
                <a:latin typeface="Inter Bold" pitchFamily="34" charset="0"/>
                <a:ea typeface="Inter Bold" pitchFamily="34" charset="-122"/>
                <a:cs typeface="Inter Bold" pitchFamily="34" charset="-120"/>
              </a:rPr>
              <a:t>10 pytań, które musisz zadać vendorowi AI</a:t>
            </a:r>
            <a:endParaRPr lang="en-US" sz="3100" dirty="0"/>
          </a:p>
        </p:txBody>
      </p:sp>
      <p:sp>
        <p:nvSpPr>
          <p:cNvPr id="3" name="Text 1"/>
          <p:cNvSpPr/>
          <p:nvPr/>
        </p:nvSpPr>
        <p:spPr>
          <a:xfrm>
            <a:off x="793790" y="1407676"/>
            <a:ext cx="2553891" cy="248007"/>
          </a:xfrm>
          <a:prstGeom prst="rect">
            <a:avLst/>
          </a:prstGeom>
          <a:noFill/>
          <a:ln/>
        </p:spPr>
        <p:txBody>
          <a:bodyPr wrap="none" lIns="0" tIns="0" rIns="0" bIns="0" rtlCol="0" anchor="t"/>
          <a:lstStyle/>
          <a:p>
            <a:pPr algn="l" indent="0" marL="0">
              <a:lnSpc>
                <a:spcPts val="1950"/>
              </a:lnSpc>
              <a:buNone/>
            </a:pPr>
            <a:r>
              <a:rPr lang="en-US" sz="1550" b="1" dirty="0">
                <a:solidFill>
                  <a:srgbClr val="FFFFFF"/>
                </a:solidFill>
                <a:latin typeface="Inter Bold" pitchFamily="34" charset="0"/>
                <a:ea typeface="Inter Bold" pitchFamily="34" charset="-122"/>
                <a:cs typeface="Inter Bold" pitchFamily="34" charset="-120"/>
              </a:rPr>
              <a:t>Checklist do due diligence</a:t>
            </a:r>
            <a:endParaRPr lang="en-US" sz="1550" dirty="0"/>
          </a:p>
        </p:txBody>
      </p:sp>
      <p:sp>
        <p:nvSpPr>
          <p:cNvPr id="4" name="Text 2"/>
          <p:cNvSpPr/>
          <p:nvPr/>
        </p:nvSpPr>
        <p:spPr>
          <a:xfrm>
            <a:off x="793790" y="1846183"/>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01</a:t>
            </a:r>
            <a:endParaRPr lang="en-US" sz="1250" dirty="0"/>
          </a:p>
        </p:txBody>
      </p:sp>
      <p:sp>
        <p:nvSpPr>
          <p:cNvPr id="5" name="Shape 3"/>
          <p:cNvSpPr/>
          <p:nvPr/>
        </p:nvSpPr>
        <p:spPr>
          <a:xfrm>
            <a:off x="793790" y="2093000"/>
            <a:ext cx="6457950" cy="22860"/>
          </a:xfrm>
          <a:prstGeom prst="rect">
            <a:avLst/>
          </a:prstGeom>
          <a:solidFill>
            <a:srgbClr val="2B0AFF"/>
          </a:solidFill>
          <a:ln/>
        </p:spPr>
      </p:sp>
      <p:sp>
        <p:nvSpPr>
          <p:cNvPr id="6" name="Text 4"/>
          <p:cNvSpPr/>
          <p:nvPr/>
        </p:nvSpPr>
        <p:spPr>
          <a:xfrm>
            <a:off x="793790" y="2218015"/>
            <a:ext cx="6457950"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Czy moje dane są wykorzystywane do trenowania modelu? Jakie jest domyślne ustawienie? Jak wygląda opt-out?</a:t>
            </a:r>
            <a:endParaRPr lang="en-US" sz="1250" dirty="0"/>
          </a:p>
        </p:txBody>
      </p:sp>
      <p:sp>
        <p:nvSpPr>
          <p:cNvPr id="7" name="Text 5"/>
          <p:cNvSpPr/>
          <p:nvPr/>
        </p:nvSpPr>
        <p:spPr>
          <a:xfrm>
            <a:off x="7378660" y="1846183"/>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02</a:t>
            </a:r>
            <a:endParaRPr lang="en-US" sz="1250" dirty="0"/>
          </a:p>
        </p:txBody>
      </p:sp>
      <p:sp>
        <p:nvSpPr>
          <p:cNvPr id="8" name="Shape 6"/>
          <p:cNvSpPr/>
          <p:nvPr/>
        </p:nvSpPr>
        <p:spPr>
          <a:xfrm>
            <a:off x="7378660" y="2093000"/>
            <a:ext cx="6457950" cy="22860"/>
          </a:xfrm>
          <a:prstGeom prst="rect">
            <a:avLst/>
          </a:prstGeom>
          <a:solidFill>
            <a:srgbClr val="2B0AFF"/>
          </a:solidFill>
          <a:ln/>
        </p:spPr>
      </p:sp>
      <p:sp>
        <p:nvSpPr>
          <p:cNvPr id="9" name="Text 7"/>
          <p:cNvSpPr/>
          <p:nvPr/>
        </p:nvSpPr>
        <p:spPr>
          <a:xfrm>
            <a:off x="7378660" y="2218015"/>
            <a:ext cx="6457950" cy="228600"/>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Gdzie są przetwarzane moje dane? W jakiej jurysdykcji? Na jakich serwerach?</a:t>
            </a:r>
            <a:endParaRPr lang="en-US" sz="1250" dirty="0"/>
          </a:p>
        </p:txBody>
      </p:sp>
      <p:sp>
        <p:nvSpPr>
          <p:cNvPr id="10" name="Text 8"/>
          <p:cNvSpPr/>
          <p:nvPr/>
        </p:nvSpPr>
        <p:spPr>
          <a:xfrm>
            <a:off x="793790" y="2921198"/>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03</a:t>
            </a:r>
            <a:endParaRPr lang="en-US" sz="1250" dirty="0"/>
          </a:p>
        </p:txBody>
      </p:sp>
      <p:sp>
        <p:nvSpPr>
          <p:cNvPr id="11" name="Shape 9"/>
          <p:cNvSpPr/>
          <p:nvPr/>
        </p:nvSpPr>
        <p:spPr>
          <a:xfrm>
            <a:off x="793790" y="3168015"/>
            <a:ext cx="6457950" cy="22860"/>
          </a:xfrm>
          <a:prstGeom prst="rect">
            <a:avLst/>
          </a:prstGeom>
          <a:solidFill>
            <a:srgbClr val="2B0AFF"/>
          </a:solidFill>
          <a:ln/>
        </p:spPr>
      </p:sp>
      <p:sp>
        <p:nvSpPr>
          <p:cNvPr id="12" name="Text 10"/>
          <p:cNvSpPr/>
          <p:nvPr/>
        </p:nvSpPr>
        <p:spPr>
          <a:xfrm>
            <a:off x="793790" y="3293031"/>
            <a:ext cx="6457950"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Pokaż mi kartę modelu -  na czym trenowałeś model, jakie są znane ograniczenia, jaka jest stopa błędów?</a:t>
            </a:r>
            <a:endParaRPr lang="en-US" sz="1250" dirty="0"/>
          </a:p>
        </p:txBody>
      </p:sp>
      <p:sp>
        <p:nvSpPr>
          <p:cNvPr id="13" name="Text 11"/>
          <p:cNvSpPr/>
          <p:nvPr/>
        </p:nvSpPr>
        <p:spPr>
          <a:xfrm>
            <a:off x="7378660" y="2921198"/>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04</a:t>
            </a:r>
            <a:endParaRPr lang="en-US" sz="1250" dirty="0"/>
          </a:p>
        </p:txBody>
      </p:sp>
      <p:sp>
        <p:nvSpPr>
          <p:cNvPr id="14" name="Shape 12"/>
          <p:cNvSpPr/>
          <p:nvPr/>
        </p:nvSpPr>
        <p:spPr>
          <a:xfrm>
            <a:off x="7378660" y="3168015"/>
            <a:ext cx="6457950" cy="22860"/>
          </a:xfrm>
          <a:prstGeom prst="rect">
            <a:avLst/>
          </a:prstGeom>
          <a:solidFill>
            <a:srgbClr val="2B0AFF"/>
          </a:solidFill>
          <a:ln/>
        </p:spPr>
      </p:sp>
      <p:sp>
        <p:nvSpPr>
          <p:cNvPr id="15" name="Text 13"/>
          <p:cNvSpPr/>
          <p:nvPr/>
        </p:nvSpPr>
        <p:spPr>
          <a:xfrm>
            <a:off x="7378660" y="3293031"/>
            <a:ext cx="6457950" cy="228600"/>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Jaka jest twoja klasyfikacja pod AI Act? A w moim scenariuszu użycia?</a:t>
            </a:r>
            <a:endParaRPr lang="en-US" sz="1250" dirty="0"/>
          </a:p>
        </p:txBody>
      </p:sp>
      <p:sp>
        <p:nvSpPr>
          <p:cNvPr id="16" name="Text 14"/>
          <p:cNvSpPr/>
          <p:nvPr/>
        </p:nvSpPr>
        <p:spPr>
          <a:xfrm>
            <a:off x="793790" y="3996214"/>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05</a:t>
            </a:r>
            <a:endParaRPr lang="en-US" sz="1250" dirty="0"/>
          </a:p>
        </p:txBody>
      </p:sp>
      <p:sp>
        <p:nvSpPr>
          <p:cNvPr id="17" name="Shape 15"/>
          <p:cNvSpPr/>
          <p:nvPr/>
        </p:nvSpPr>
        <p:spPr>
          <a:xfrm>
            <a:off x="793790" y="4243030"/>
            <a:ext cx="6457950" cy="22860"/>
          </a:xfrm>
          <a:prstGeom prst="rect">
            <a:avLst/>
          </a:prstGeom>
          <a:solidFill>
            <a:srgbClr val="2B0AFF"/>
          </a:solidFill>
          <a:ln/>
        </p:spPr>
      </p:sp>
      <p:sp>
        <p:nvSpPr>
          <p:cNvPr id="18" name="Text 16"/>
          <p:cNvSpPr/>
          <p:nvPr/>
        </p:nvSpPr>
        <p:spPr>
          <a:xfrm>
            <a:off x="793790" y="4368046"/>
            <a:ext cx="6457950" cy="228600"/>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Kto odpowiada za klasyfikację high-risk - ty czy ja?</a:t>
            </a:r>
            <a:endParaRPr lang="en-US" sz="1250" dirty="0"/>
          </a:p>
        </p:txBody>
      </p:sp>
      <p:sp>
        <p:nvSpPr>
          <p:cNvPr id="19" name="Text 17"/>
          <p:cNvSpPr/>
          <p:nvPr/>
        </p:nvSpPr>
        <p:spPr>
          <a:xfrm>
            <a:off x="7378660" y="3996214"/>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06</a:t>
            </a:r>
            <a:endParaRPr lang="en-US" sz="1250" dirty="0"/>
          </a:p>
        </p:txBody>
      </p:sp>
      <p:sp>
        <p:nvSpPr>
          <p:cNvPr id="20" name="Shape 18"/>
          <p:cNvSpPr/>
          <p:nvPr/>
        </p:nvSpPr>
        <p:spPr>
          <a:xfrm>
            <a:off x="7378660" y="4243030"/>
            <a:ext cx="6457950" cy="22860"/>
          </a:xfrm>
          <a:prstGeom prst="rect">
            <a:avLst/>
          </a:prstGeom>
          <a:solidFill>
            <a:srgbClr val="2B0AFF"/>
          </a:solidFill>
          <a:ln/>
        </p:spPr>
      </p:sp>
      <p:sp>
        <p:nvSpPr>
          <p:cNvPr id="21" name="Text 19"/>
          <p:cNvSpPr/>
          <p:nvPr/>
        </p:nvSpPr>
        <p:spPr>
          <a:xfrm>
            <a:off x="7378660" y="4368046"/>
            <a:ext cx="6457950" cy="228600"/>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Co się stanie z moimi danymi i fine-tuned modelem po zakończeniu współpracy?</a:t>
            </a:r>
            <a:endParaRPr lang="en-US" sz="1250" dirty="0"/>
          </a:p>
        </p:txBody>
      </p:sp>
      <p:sp>
        <p:nvSpPr>
          <p:cNvPr id="22" name="Text 20"/>
          <p:cNvSpPr/>
          <p:nvPr/>
        </p:nvSpPr>
        <p:spPr>
          <a:xfrm>
            <a:off x="793790" y="4842629"/>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07</a:t>
            </a:r>
            <a:endParaRPr lang="en-US" sz="1250" dirty="0"/>
          </a:p>
        </p:txBody>
      </p:sp>
      <p:sp>
        <p:nvSpPr>
          <p:cNvPr id="23" name="Shape 21"/>
          <p:cNvSpPr/>
          <p:nvPr/>
        </p:nvSpPr>
        <p:spPr>
          <a:xfrm>
            <a:off x="793790" y="5089446"/>
            <a:ext cx="6457950" cy="22860"/>
          </a:xfrm>
          <a:prstGeom prst="rect">
            <a:avLst/>
          </a:prstGeom>
          <a:solidFill>
            <a:srgbClr val="2B0AFF"/>
          </a:solidFill>
          <a:ln/>
        </p:spPr>
      </p:sp>
      <p:sp>
        <p:nvSpPr>
          <p:cNvPr id="24" name="Text 22"/>
          <p:cNvSpPr/>
          <p:nvPr/>
        </p:nvSpPr>
        <p:spPr>
          <a:xfrm>
            <a:off x="793790" y="5214461"/>
            <a:ext cx="6457950" cy="228600"/>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Jaki jest SLA dla jakości modelu - nie tylko uptime, ale accuracy?</a:t>
            </a:r>
            <a:endParaRPr lang="en-US" sz="1250" dirty="0"/>
          </a:p>
        </p:txBody>
      </p:sp>
      <p:sp>
        <p:nvSpPr>
          <p:cNvPr id="25" name="Text 23"/>
          <p:cNvSpPr/>
          <p:nvPr/>
        </p:nvSpPr>
        <p:spPr>
          <a:xfrm>
            <a:off x="7378660" y="4842629"/>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08</a:t>
            </a:r>
            <a:endParaRPr lang="en-US" sz="1250" dirty="0"/>
          </a:p>
        </p:txBody>
      </p:sp>
      <p:sp>
        <p:nvSpPr>
          <p:cNvPr id="26" name="Shape 24"/>
          <p:cNvSpPr/>
          <p:nvPr/>
        </p:nvSpPr>
        <p:spPr>
          <a:xfrm>
            <a:off x="7378660" y="5089446"/>
            <a:ext cx="6457950" cy="22860"/>
          </a:xfrm>
          <a:prstGeom prst="rect">
            <a:avLst/>
          </a:prstGeom>
          <a:solidFill>
            <a:srgbClr val="2B0AFF"/>
          </a:solidFill>
          <a:ln/>
        </p:spPr>
      </p:sp>
      <p:sp>
        <p:nvSpPr>
          <p:cNvPr id="27" name="Text 25"/>
          <p:cNvSpPr/>
          <p:nvPr/>
        </p:nvSpPr>
        <p:spPr>
          <a:xfrm>
            <a:off x="7378660" y="5214461"/>
            <a:ext cx="6457950" cy="228600"/>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Kto odpowiada za halucynacje i błędne rekomendacje? Czy masz ubezpieczenie OC?</a:t>
            </a:r>
            <a:endParaRPr lang="en-US" sz="1250" dirty="0"/>
          </a:p>
        </p:txBody>
      </p:sp>
      <p:sp>
        <p:nvSpPr>
          <p:cNvPr id="28" name="Text 26"/>
          <p:cNvSpPr/>
          <p:nvPr/>
        </p:nvSpPr>
        <p:spPr>
          <a:xfrm>
            <a:off x="793790" y="5689044"/>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09</a:t>
            </a:r>
            <a:endParaRPr lang="en-US" sz="1250" dirty="0"/>
          </a:p>
        </p:txBody>
      </p:sp>
      <p:sp>
        <p:nvSpPr>
          <p:cNvPr id="29" name="Shape 27"/>
          <p:cNvSpPr/>
          <p:nvPr/>
        </p:nvSpPr>
        <p:spPr>
          <a:xfrm>
            <a:off x="793790" y="5935861"/>
            <a:ext cx="6457950" cy="22860"/>
          </a:xfrm>
          <a:prstGeom prst="rect">
            <a:avLst/>
          </a:prstGeom>
          <a:solidFill>
            <a:srgbClr val="2B0AFF"/>
          </a:solidFill>
          <a:ln/>
        </p:spPr>
      </p:sp>
      <p:sp>
        <p:nvSpPr>
          <p:cNvPr id="30" name="Text 28"/>
          <p:cNvSpPr/>
          <p:nvPr/>
        </p:nvSpPr>
        <p:spPr>
          <a:xfrm>
            <a:off x="793790" y="6060877"/>
            <a:ext cx="6457950"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Jak wygląda twój proces monitorowania posprzedażowy? Jak informujesz mnie o zmianach w modelu?</a:t>
            </a:r>
            <a:endParaRPr lang="en-US" sz="1250" dirty="0"/>
          </a:p>
        </p:txBody>
      </p:sp>
      <p:sp>
        <p:nvSpPr>
          <p:cNvPr id="31" name="Text 29"/>
          <p:cNvSpPr/>
          <p:nvPr/>
        </p:nvSpPr>
        <p:spPr>
          <a:xfrm>
            <a:off x="7378660" y="5689044"/>
            <a:ext cx="158710" cy="198358"/>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Light" pitchFamily="34" charset="0"/>
                <a:ea typeface="Inter Light" pitchFamily="34" charset="-122"/>
                <a:cs typeface="Inter Light" pitchFamily="34" charset="-120"/>
              </a:rPr>
              <a:t>10</a:t>
            </a:r>
            <a:endParaRPr lang="en-US" sz="1250" dirty="0"/>
          </a:p>
        </p:txBody>
      </p:sp>
      <p:sp>
        <p:nvSpPr>
          <p:cNvPr id="32" name="Shape 30"/>
          <p:cNvSpPr/>
          <p:nvPr/>
        </p:nvSpPr>
        <p:spPr>
          <a:xfrm>
            <a:off x="7378660" y="5935861"/>
            <a:ext cx="6457950" cy="22860"/>
          </a:xfrm>
          <a:prstGeom prst="rect">
            <a:avLst/>
          </a:prstGeom>
          <a:solidFill>
            <a:srgbClr val="2B0AFF"/>
          </a:solidFill>
          <a:ln/>
        </p:spPr>
      </p:sp>
      <p:sp>
        <p:nvSpPr>
          <p:cNvPr id="33" name="Text 31"/>
          <p:cNvSpPr/>
          <p:nvPr/>
        </p:nvSpPr>
        <p:spPr>
          <a:xfrm>
            <a:off x="7378660" y="6060877"/>
            <a:ext cx="6457950" cy="228600"/>
          </a:xfrm>
          <a:prstGeom prst="rect">
            <a:avLst/>
          </a:prstGeom>
          <a:noFill/>
          <a:ln/>
        </p:spPr>
        <p:txBody>
          <a:bodyPr wrap="non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Czy zapewniasz human oversight by design - czy muszę sam to zbudować?</a:t>
            </a:r>
            <a:endParaRPr lang="en-US" sz="1250" dirty="0"/>
          </a:p>
        </p:txBody>
      </p:sp>
      <p:sp>
        <p:nvSpPr>
          <p:cNvPr id="34" name="Shape 32"/>
          <p:cNvSpPr/>
          <p:nvPr/>
        </p:nvSpPr>
        <p:spPr>
          <a:xfrm>
            <a:off x="793790" y="6780014"/>
            <a:ext cx="13042821" cy="588764"/>
          </a:xfrm>
          <a:prstGeom prst="roundRect">
            <a:avLst>
              <a:gd name="adj" fmla="val 11327"/>
            </a:avLst>
          </a:prstGeom>
          <a:solidFill>
            <a:srgbClr val="0A004D"/>
          </a:solidFill>
          <a:ln/>
        </p:spPr>
      </p:sp>
      <p:pic>
        <p:nvPicPr>
          <p:cNvPr id="35" name="Image 0" descr="preencoded.png">    </p:cNvPr>
          <p:cNvPicPr>
            <a:picLocks noChangeAspect="1"/>
          </p:cNvPicPr>
          <p:nvPr/>
        </p:nvPicPr>
        <p:blipFill>
          <a:blip r:embed="rId1"/>
          <a:stretch>
            <a:fillRect/>
          </a:stretch>
        </p:blipFill>
        <p:spPr>
          <a:xfrm>
            <a:off x="952500" y="7007066"/>
            <a:ext cx="198358" cy="158710"/>
          </a:xfrm>
          <a:prstGeom prst="rect">
            <a:avLst/>
          </a:prstGeom>
        </p:spPr>
      </p:pic>
      <p:sp>
        <p:nvSpPr>
          <p:cNvPr id="36" name="Text 33"/>
          <p:cNvSpPr/>
          <p:nvPr/>
        </p:nvSpPr>
        <p:spPr>
          <a:xfrm>
            <a:off x="1309568" y="6946583"/>
            <a:ext cx="12368332" cy="228600"/>
          </a:xfrm>
          <a:prstGeom prst="rect">
            <a:avLst/>
          </a:prstGeom>
          <a:noFill/>
          <a:ln/>
        </p:spPr>
        <p:txBody>
          <a:bodyPr wrap="none" lIns="0" tIns="0" rIns="0" bIns="0" rtlCol="0" anchor="t"/>
          <a:lstStyle/>
          <a:p>
            <a:pPr algn="l" indent="0" marL="0">
              <a:lnSpc>
                <a:spcPts val="1800"/>
              </a:lnSpc>
              <a:buNone/>
            </a:pPr>
            <a:r>
              <a:rPr lang="en-US" sz="1250" dirty="0">
                <a:solidFill>
                  <a:srgbClr val="FFFFFF"/>
                </a:solidFill>
                <a:latin typeface="Inter" pitchFamily="34" charset="0"/>
                <a:ea typeface="Inter" pitchFamily="34" charset="-122"/>
                <a:cs typeface="Inter" pitchFamily="34" charset="-120"/>
              </a:rPr>
              <a:t>Jeśli vendor nie potrafi odpowiedzieć na te pytania, macie dwie opcje: albo negocjujecie do skutku, albo szukacie innego vendora. </a:t>
            </a:r>
            <a:pPr algn="l" indent="0" marL="0">
              <a:lnSpc>
                <a:spcPts val="1800"/>
              </a:lnSpc>
              <a:buNone/>
            </a:pPr>
            <a:r>
              <a:rPr lang="en-US" sz="1250" b="1" dirty="0">
                <a:solidFill>
                  <a:srgbClr val="FFFFFF"/>
                </a:solidFill>
                <a:latin typeface="Inter" pitchFamily="34" charset="0"/>
                <a:ea typeface="Inter" pitchFamily="34" charset="-122"/>
                <a:cs typeface="Inter" pitchFamily="34" charset="-120"/>
              </a:rPr>
              <a:t>Nie ma trzeciej opcji.</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2873216"/>
            <a:ext cx="7624048"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Czerwone flagi w regulaminach</a:t>
            </a:r>
            <a:endParaRPr lang="en-US" sz="3900" dirty="0"/>
          </a:p>
        </p:txBody>
      </p:sp>
      <p:sp>
        <p:nvSpPr>
          <p:cNvPr id="3" name="Text 1"/>
          <p:cNvSpPr/>
          <p:nvPr/>
        </p:nvSpPr>
        <p:spPr>
          <a:xfrm>
            <a:off x="793790" y="3572589"/>
            <a:ext cx="5314831"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Co znalazłem w prawdziwych dokumentach</a:t>
            </a:r>
            <a:endParaRPr lang="en-US" sz="1950" dirty="0"/>
          </a:p>
        </p:txBody>
      </p:sp>
      <p:sp>
        <p:nvSpPr>
          <p:cNvPr id="4" name="Text 2"/>
          <p:cNvSpPr/>
          <p:nvPr/>
        </p:nvSpPr>
        <p:spPr>
          <a:xfrm>
            <a:off x="793790" y="418040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W tej części pokażę wam fragmenty z realnych regulaminów narzędzi AI - zanonimizowane co do vendora, ale z zachowaniem treści klauzul. To nie są teoretyczne przykłady. To są klauzule, które ludzie podpisują każdego dnia.</a:t>
            </a:r>
            <a:endParaRPr lang="en-US" sz="1550" dirty="0"/>
          </a:p>
        </p:txBody>
      </p:sp>
      <p:sp>
        <p:nvSpPr>
          <p:cNvPr id="5" name="Text 3"/>
          <p:cNvSpPr/>
          <p:nvPr/>
        </p:nvSpPr>
        <p:spPr>
          <a:xfrm>
            <a:off x="793790" y="503872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Każdy fragment to czerwona flaga - sygnał ostrzegawczy, że coś jest nie tak. Że ta umowa może was kosztować.</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769858"/>
            <a:ext cx="8397359" cy="558165"/>
          </a:xfrm>
          <a:prstGeom prst="rect">
            <a:avLst/>
          </a:prstGeom>
          <a:noFill/>
          <a:ln/>
        </p:spPr>
        <p:txBody>
          <a:bodyPr wrap="none" lIns="0" tIns="0" rIns="0" bIns="0" rtlCol="0" anchor="t"/>
          <a:lstStyle/>
          <a:p>
            <a:pPr algn="l" indent="0" marL="0">
              <a:lnSpc>
                <a:spcPts val="4350"/>
              </a:lnSpc>
              <a:buNone/>
            </a:pPr>
            <a:r>
              <a:rPr lang="en-US" sz="3500" b="1" dirty="0">
                <a:solidFill>
                  <a:srgbClr val="FFFFFF"/>
                </a:solidFill>
                <a:latin typeface="Inter Bold" pitchFamily="34" charset="0"/>
                <a:ea typeface="Inter Bold" pitchFamily="34" charset="-122"/>
                <a:cs typeface="Inter Bold" pitchFamily="34" charset="-120"/>
              </a:rPr>
              <a:t>Red flag 1: Licencja na dane wejściowe</a:t>
            </a:r>
            <a:endParaRPr lang="en-US" sz="3500" dirty="0"/>
          </a:p>
        </p:txBody>
      </p:sp>
      <p:sp>
        <p:nvSpPr>
          <p:cNvPr id="3" name="Text 1"/>
          <p:cNvSpPr/>
          <p:nvPr/>
        </p:nvSpPr>
        <p:spPr>
          <a:xfrm>
            <a:off x="1061680" y="1830348"/>
            <a:ext cx="12774930" cy="814388"/>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„Użytkownik udziela Dostawcy niewyłącznej, ogólnoświatowej, bezterminowej, nieodwołalnej, przenoszalnej licencji (z prawem do sublicencjonowania) na wykorzystanie, reprodukowanie, modyfikowanie, publikowanie i dystrybucję Treści Użytkownika w celu świadczenia, utrzymania i ulepszania Usług."</a:t>
            </a:r>
            <a:endParaRPr lang="en-US" sz="1400" dirty="0"/>
          </a:p>
        </p:txBody>
      </p:sp>
      <p:sp>
        <p:nvSpPr>
          <p:cNvPr id="4" name="Shape 2"/>
          <p:cNvSpPr/>
          <p:nvPr/>
        </p:nvSpPr>
        <p:spPr>
          <a:xfrm>
            <a:off x="793790" y="1649492"/>
            <a:ext cx="22860" cy="1176099"/>
          </a:xfrm>
          <a:prstGeom prst="rect">
            <a:avLst/>
          </a:prstGeom>
          <a:solidFill>
            <a:srgbClr val="2B0AFF"/>
          </a:solidFill>
          <a:ln/>
        </p:spPr>
      </p:sp>
      <p:sp>
        <p:nvSpPr>
          <p:cNvPr id="5" name="Text 3"/>
          <p:cNvSpPr/>
          <p:nvPr/>
        </p:nvSpPr>
        <p:spPr>
          <a:xfrm>
            <a:off x="793790" y="3006447"/>
            <a:ext cx="13042821" cy="271463"/>
          </a:xfrm>
          <a:prstGeom prst="rect">
            <a:avLst/>
          </a:prstGeom>
          <a:noFill/>
          <a:ln/>
        </p:spPr>
        <p:txBody>
          <a:bodyPr wrap="non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To jest rzeczywista klauzula z regulaminu narzędzia generatywnego AI. Zobaczmy, co to oznacza w normalnym języku:</a:t>
            </a:r>
            <a:endParaRPr lang="en-US" sz="1400" dirty="0"/>
          </a:p>
        </p:txBody>
      </p:sp>
      <p:sp>
        <p:nvSpPr>
          <p:cNvPr id="6" name="Text 4"/>
          <p:cNvSpPr/>
          <p:nvPr/>
        </p:nvSpPr>
        <p:spPr>
          <a:xfrm>
            <a:off x="793790" y="3619500"/>
            <a:ext cx="2232779" cy="278963"/>
          </a:xfrm>
          <a:prstGeom prst="rect">
            <a:avLst/>
          </a:prstGeom>
          <a:noFill/>
          <a:ln/>
        </p:spPr>
        <p:txBody>
          <a:bodyPr wrap="none" lIns="0" tIns="0" rIns="0" bIns="0" rtlCol="0" anchor="t"/>
          <a:lstStyle/>
          <a:p>
            <a:pPr algn="l" indent="0" marL="0">
              <a:lnSpc>
                <a:spcPts val="2150"/>
              </a:lnSpc>
              <a:buNone/>
            </a:pPr>
            <a:r>
              <a:rPr lang="en-US" sz="1750" b="1" dirty="0">
                <a:solidFill>
                  <a:srgbClr val="FFFFFF"/>
                </a:solidFill>
                <a:latin typeface="Inter Bold" pitchFamily="34" charset="0"/>
                <a:ea typeface="Inter Bold" pitchFamily="34" charset="-122"/>
                <a:cs typeface="Inter Bold" pitchFamily="34" charset="-120"/>
              </a:rPr>
              <a:t>Co vendor mówi</a:t>
            </a:r>
            <a:endParaRPr lang="en-US" sz="1750" dirty="0"/>
          </a:p>
        </p:txBody>
      </p:sp>
      <p:sp>
        <p:nvSpPr>
          <p:cNvPr id="7" name="Text 5"/>
          <p:cNvSpPr/>
          <p:nvPr/>
        </p:nvSpPr>
        <p:spPr>
          <a:xfrm>
            <a:off x="793790" y="4059198"/>
            <a:ext cx="6303526" cy="1629077"/>
          </a:xfrm>
          <a:prstGeom prst="rect">
            <a:avLst/>
          </a:prstGeom>
          <a:noFill/>
          <a:ln/>
        </p:spPr>
        <p:txBody>
          <a:bodyPr wrap="square" lIns="0" tIns="0" rIns="0" bIns="0" rtlCol="0" anchor="t"/>
          <a:lstStyle/>
          <a:p>
            <a:pPr algn="l" marL="342900" indent="-342900">
              <a:lnSpc>
                <a:spcPts val="2100"/>
              </a:lnSpc>
              <a:buSzPct val="100000"/>
              <a:buChar char="•"/>
            </a:pPr>
            <a:r>
              <a:rPr lang="en-US" sz="1400" b="1" dirty="0">
                <a:solidFill>
                  <a:srgbClr val="E5E0DF"/>
                </a:solidFill>
                <a:latin typeface="Inter" pitchFamily="34" charset="0"/>
                <a:ea typeface="Inter" pitchFamily="34" charset="-122"/>
                <a:cs typeface="Inter" pitchFamily="34" charset="-120"/>
              </a:rPr>
              <a:t>Niewyłączna:</a:t>
            </a:r>
            <a:pPr algn="l" indent="0" marL="0">
              <a:lnSpc>
                <a:spcPts val="2100"/>
              </a:lnSpc>
              <a:buNone/>
            </a:pPr>
            <a:r>
              <a:rPr lang="en-US" sz="1400" dirty="0">
                <a:solidFill>
                  <a:srgbClr val="E5E0DF"/>
                </a:solidFill>
                <a:latin typeface="Inter" pitchFamily="34" charset="0"/>
                <a:ea typeface="Inter" pitchFamily="34" charset="-122"/>
                <a:cs typeface="Inter" pitchFamily="34" charset="-120"/>
              </a:rPr>
              <a:t> My możemy to wykorzystać, ale ty też.</a:t>
            </a:r>
            <a:endParaRPr lang="en-US" sz="1400" dirty="0"/>
          </a:p>
          <a:p>
            <a:pPr algn="l" marL="342900" indent="-342900">
              <a:lnSpc>
                <a:spcPts val="2100"/>
              </a:lnSpc>
              <a:buSzPct val="100000"/>
              <a:buChar char="•"/>
            </a:pPr>
            <a:r>
              <a:rPr lang="en-US" sz="1400" b="1" dirty="0">
                <a:solidFill>
                  <a:srgbClr val="E5E0DF"/>
                </a:solidFill>
                <a:latin typeface="Inter" pitchFamily="34" charset="0"/>
                <a:ea typeface="Inter" pitchFamily="34" charset="-122"/>
                <a:cs typeface="Inter" pitchFamily="34" charset="-120"/>
              </a:rPr>
              <a:t>Ogólnoświatowa:</a:t>
            </a:r>
            <a:pPr algn="l" indent="0" marL="0">
              <a:lnSpc>
                <a:spcPts val="2100"/>
              </a:lnSpc>
              <a:buNone/>
            </a:pPr>
            <a:r>
              <a:rPr lang="en-US" sz="1400" dirty="0">
                <a:solidFill>
                  <a:srgbClr val="E5E0DF"/>
                </a:solidFill>
                <a:latin typeface="Inter" pitchFamily="34" charset="0"/>
                <a:ea typeface="Inter" pitchFamily="34" charset="-122"/>
                <a:cs typeface="Inter" pitchFamily="34" charset="-120"/>
              </a:rPr>
              <a:t> Wszędzie na świecie.</a:t>
            </a:r>
            <a:endParaRPr lang="en-US" sz="1400" dirty="0"/>
          </a:p>
          <a:p>
            <a:pPr algn="l" marL="342900" indent="-342900">
              <a:lnSpc>
                <a:spcPts val="2100"/>
              </a:lnSpc>
              <a:buSzPct val="100000"/>
              <a:buChar char="•"/>
            </a:pPr>
            <a:r>
              <a:rPr lang="en-US" sz="1400" b="1" dirty="0">
                <a:solidFill>
                  <a:srgbClr val="E5E0DF"/>
                </a:solidFill>
                <a:latin typeface="Inter" pitchFamily="34" charset="0"/>
                <a:ea typeface="Inter" pitchFamily="34" charset="-122"/>
                <a:cs typeface="Inter" pitchFamily="34" charset="-120"/>
              </a:rPr>
              <a:t>Bezterminowa:</a:t>
            </a:r>
            <a:pPr algn="l" indent="0" marL="0">
              <a:lnSpc>
                <a:spcPts val="2100"/>
              </a:lnSpc>
              <a:buNone/>
            </a:pPr>
            <a:r>
              <a:rPr lang="en-US" sz="1400" dirty="0">
                <a:solidFill>
                  <a:srgbClr val="E5E0DF"/>
                </a:solidFill>
                <a:latin typeface="Inter" pitchFamily="34" charset="0"/>
                <a:ea typeface="Inter" pitchFamily="34" charset="-122"/>
                <a:cs typeface="Inter" pitchFamily="34" charset="-120"/>
              </a:rPr>
              <a:t> Na zawsze.</a:t>
            </a:r>
            <a:endParaRPr lang="en-US" sz="1400" dirty="0"/>
          </a:p>
          <a:p>
            <a:pPr algn="l" marL="342900" indent="-342900">
              <a:lnSpc>
                <a:spcPts val="2100"/>
              </a:lnSpc>
              <a:buSzPct val="100000"/>
              <a:buChar char="•"/>
            </a:pPr>
            <a:r>
              <a:rPr lang="en-US" sz="1400" b="1" dirty="0">
                <a:solidFill>
                  <a:srgbClr val="E5E0DF"/>
                </a:solidFill>
                <a:latin typeface="Inter" pitchFamily="34" charset="0"/>
                <a:ea typeface="Inter" pitchFamily="34" charset="-122"/>
                <a:cs typeface="Inter" pitchFamily="34" charset="-120"/>
              </a:rPr>
              <a:t>Nieodwołalna:</a:t>
            </a:r>
            <a:pPr algn="l" indent="0" marL="0">
              <a:lnSpc>
                <a:spcPts val="2100"/>
              </a:lnSpc>
              <a:buNone/>
            </a:pPr>
            <a:r>
              <a:rPr lang="en-US" sz="1400" dirty="0">
                <a:solidFill>
                  <a:srgbClr val="E5E0DF"/>
                </a:solidFill>
                <a:latin typeface="Inter" pitchFamily="34" charset="0"/>
                <a:ea typeface="Inter" pitchFamily="34" charset="-122"/>
                <a:cs typeface="Inter" pitchFamily="34" charset="-120"/>
              </a:rPr>
              <a:t> Nie możesz wycofać zgody.</a:t>
            </a:r>
            <a:endParaRPr lang="en-US" sz="1400" dirty="0"/>
          </a:p>
          <a:p>
            <a:pPr algn="l" marL="342900" indent="-342900">
              <a:lnSpc>
                <a:spcPts val="2100"/>
              </a:lnSpc>
              <a:buSzPct val="100000"/>
              <a:buChar char="•"/>
            </a:pPr>
            <a:r>
              <a:rPr lang="en-US" sz="1400" b="1" dirty="0">
                <a:solidFill>
                  <a:srgbClr val="E5E0DF"/>
                </a:solidFill>
                <a:latin typeface="Inter" pitchFamily="34" charset="0"/>
                <a:ea typeface="Inter" pitchFamily="34" charset="-122"/>
                <a:cs typeface="Inter" pitchFamily="34" charset="-120"/>
              </a:rPr>
              <a:t>Przenoszalna:</a:t>
            </a:r>
            <a:pPr algn="l" indent="0" marL="0">
              <a:lnSpc>
                <a:spcPts val="2100"/>
              </a:lnSpc>
              <a:buNone/>
            </a:pPr>
            <a:r>
              <a:rPr lang="en-US" sz="1400" dirty="0">
                <a:solidFill>
                  <a:srgbClr val="E5E0DF"/>
                </a:solidFill>
                <a:latin typeface="Inter" pitchFamily="34" charset="0"/>
                <a:ea typeface="Inter" pitchFamily="34" charset="-122"/>
                <a:cs typeface="Inter" pitchFamily="34" charset="-120"/>
              </a:rPr>
              <a:t> Możemy sprzedać tę licencję komuś innemu.</a:t>
            </a:r>
            <a:endParaRPr lang="en-US" sz="1400" dirty="0"/>
          </a:p>
          <a:p>
            <a:pPr algn="l" marL="342900" indent="-342900">
              <a:lnSpc>
                <a:spcPts val="2100"/>
              </a:lnSpc>
              <a:buSzPct val="100000"/>
              <a:buChar char="•"/>
            </a:pPr>
            <a:r>
              <a:rPr lang="en-US" sz="1400" b="1" dirty="0">
                <a:solidFill>
                  <a:srgbClr val="E5E0DF"/>
                </a:solidFill>
                <a:latin typeface="Inter" pitchFamily="34" charset="0"/>
                <a:ea typeface="Inter" pitchFamily="34" charset="-122"/>
                <a:cs typeface="Inter" pitchFamily="34" charset="-120"/>
              </a:rPr>
              <a:t>Z prawem do sublicencjonowania:</a:t>
            </a:r>
            <a:pPr algn="l" indent="0" marL="0">
              <a:lnSpc>
                <a:spcPts val="2100"/>
              </a:lnSpc>
              <a:buNone/>
            </a:pPr>
            <a:r>
              <a:rPr lang="en-US" sz="1400" dirty="0">
                <a:solidFill>
                  <a:srgbClr val="E5E0DF"/>
                </a:solidFill>
                <a:latin typeface="Inter" pitchFamily="34" charset="0"/>
                <a:ea typeface="Inter" pitchFamily="34" charset="-122"/>
                <a:cs typeface="Inter" pitchFamily="34" charset="-120"/>
              </a:rPr>
              <a:t> Możemy dać tę licencję dalej.</a:t>
            </a:r>
            <a:endParaRPr lang="en-US" sz="1400" dirty="0"/>
          </a:p>
        </p:txBody>
      </p:sp>
      <p:sp>
        <p:nvSpPr>
          <p:cNvPr id="8" name="Text 6"/>
          <p:cNvSpPr/>
          <p:nvPr/>
        </p:nvSpPr>
        <p:spPr>
          <a:xfrm>
            <a:off x="7540704" y="3619500"/>
            <a:ext cx="2505551" cy="278963"/>
          </a:xfrm>
          <a:prstGeom prst="rect">
            <a:avLst/>
          </a:prstGeom>
          <a:noFill/>
          <a:ln/>
        </p:spPr>
        <p:txBody>
          <a:bodyPr wrap="none" lIns="0" tIns="0" rIns="0" bIns="0" rtlCol="0" anchor="t"/>
          <a:lstStyle/>
          <a:p>
            <a:pPr algn="l" indent="0" marL="0">
              <a:lnSpc>
                <a:spcPts val="2150"/>
              </a:lnSpc>
              <a:buNone/>
            </a:pPr>
            <a:r>
              <a:rPr lang="en-US" sz="1750" b="1" dirty="0">
                <a:solidFill>
                  <a:srgbClr val="FFFFFF"/>
                </a:solidFill>
                <a:latin typeface="Inter Bold" pitchFamily="34" charset="0"/>
                <a:ea typeface="Inter Bold" pitchFamily="34" charset="-122"/>
                <a:cs typeface="Inter Bold" pitchFamily="34" charset="-120"/>
              </a:rPr>
              <a:t>Co to znaczy dla ciebie</a:t>
            </a:r>
            <a:endParaRPr lang="en-US" sz="1750" dirty="0"/>
          </a:p>
        </p:txBody>
      </p:sp>
      <p:sp>
        <p:nvSpPr>
          <p:cNvPr id="9" name="Text 7"/>
          <p:cNvSpPr/>
          <p:nvPr/>
        </p:nvSpPr>
        <p:spPr>
          <a:xfrm>
            <a:off x="7540704" y="4059198"/>
            <a:ext cx="6303526" cy="814388"/>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Wszystko co wrzucicie do tego narzędzia, dostawca może wykorzystać jak chce, na zawsze, na całym świecie. Umowa z klientem? Strategia? Draft pozwu? Kod źródłowy? Wasze.</a:t>
            </a:r>
            <a:endParaRPr lang="en-US" sz="1400" dirty="0"/>
          </a:p>
        </p:txBody>
      </p:sp>
      <p:sp>
        <p:nvSpPr>
          <p:cNvPr id="10" name="Text 8"/>
          <p:cNvSpPr/>
          <p:nvPr/>
        </p:nvSpPr>
        <p:spPr>
          <a:xfrm>
            <a:off x="7540704" y="5018246"/>
            <a:ext cx="6303526" cy="814388"/>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Vendor może sprzedać tę licencję innej firmie. Vendor może sublicencjonować wasze dane. Vendor może je publikować. I nie możecie tego cofnąć.</a:t>
            </a:r>
            <a:endParaRPr lang="en-US" sz="1400" dirty="0"/>
          </a:p>
        </p:txBody>
      </p:sp>
      <p:sp>
        <p:nvSpPr>
          <p:cNvPr id="11" name="Shape 9"/>
          <p:cNvSpPr/>
          <p:nvPr/>
        </p:nvSpPr>
        <p:spPr>
          <a:xfrm>
            <a:off x="793790" y="5925328"/>
            <a:ext cx="13042821" cy="1253728"/>
          </a:xfrm>
          <a:prstGeom prst="roundRect">
            <a:avLst>
              <a:gd name="adj" fmla="val 5984"/>
            </a:avLst>
          </a:prstGeom>
          <a:solidFill>
            <a:srgbClr val="0A004D"/>
          </a:solidFill>
          <a:ln/>
        </p:spPr>
      </p:sp>
      <p:pic>
        <p:nvPicPr>
          <p:cNvPr id="12" name="Image 0" descr="preencoded.png">    </p:cNvPr>
          <p:cNvPicPr>
            <a:picLocks noChangeAspect="1"/>
          </p:cNvPicPr>
          <p:nvPr/>
        </p:nvPicPr>
        <p:blipFill>
          <a:blip r:embed="rId1"/>
          <a:stretch>
            <a:fillRect/>
          </a:stretch>
        </p:blipFill>
        <p:spPr>
          <a:xfrm>
            <a:off x="972383" y="6190361"/>
            <a:ext cx="223242" cy="178594"/>
          </a:xfrm>
          <a:prstGeom prst="rect">
            <a:avLst/>
          </a:prstGeom>
        </p:spPr>
      </p:pic>
      <p:sp>
        <p:nvSpPr>
          <p:cNvPr id="13" name="Text 10"/>
          <p:cNvSpPr/>
          <p:nvPr/>
        </p:nvSpPr>
        <p:spPr>
          <a:xfrm>
            <a:off x="1374219" y="6130711"/>
            <a:ext cx="12283797" cy="814388"/>
          </a:xfrm>
          <a:prstGeom prst="rect">
            <a:avLst/>
          </a:prstGeom>
          <a:noFill/>
          <a:ln/>
        </p:spPr>
        <p:txBody>
          <a:bodyPr wrap="square" lIns="0" tIns="0" rIns="0" bIns="0" rtlCol="0" anchor="t"/>
          <a:lstStyle/>
          <a:p>
            <a:pPr algn="l" indent="0" marL="0">
              <a:lnSpc>
                <a:spcPts val="2100"/>
              </a:lnSpc>
              <a:buNone/>
            </a:pPr>
            <a:r>
              <a:rPr lang="en-US" sz="1400" b="1" dirty="0">
                <a:solidFill>
                  <a:srgbClr val="FFFFFF"/>
                </a:solidFill>
                <a:latin typeface="Inter" pitchFamily="34" charset="0"/>
                <a:ea typeface="Inter" pitchFamily="34" charset="-122"/>
                <a:cs typeface="Inter" pitchFamily="34" charset="-120"/>
              </a:rPr>
              <a:t>Ryzyko RODO:</a:t>
            </a:r>
            <a:pPr algn="l" indent="0" marL="0">
              <a:lnSpc>
                <a:spcPts val="2100"/>
              </a:lnSpc>
              <a:buNone/>
            </a:pPr>
            <a:r>
              <a:rPr lang="en-US" sz="1400" dirty="0">
                <a:solidFill>
                  <a:srgbClr val="FFFFFF"/>
                </a:solidFill>
                <a:latin typeface="Inter" pitchFamily="34" charset="0"/>
                <a:ea typeface="Inter" pitchFamily="34" charset="-122"/>
                <a:cs typeface="Inter" pitchFamily="34" charset="-120"/>
              </a:rPr>
              <a:t> Jeśli „Treści Użytkownika" zawierają dane osobowe - a prawie zawsze zawierają - to przekazujecie vendorowi prawo do przetwarzania tych danych w sposób, który prawdopodobnie nie ma podstawy prawnej pod RODO. To jest naruszenie art. 6 i potencjalnie art. 44 (transfer danych).</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804029"/>
            <a:ext cx="9076849" cy="589121"/>
          </a:xfrm>
          <a:prstGeom prst="rect">
            <a:avLst/>
          </a:prstGeom>
          <a:noFill/>
          <a:ln/>
        </p:spPr>
        <p:txBody>
          <a:bodyPr wrap="none" lIns="0" tIns="0" rIns="0" bIns="0" rtlCol="0" anchor="t"/>
          <a:lstStyle/>
          <a:p>
            <a:pPr algn="l" indent="0" marL="0">
              <a:lnSpc>
                <a:spcPts val="4600"/>
              </a:lnSpc>
              <a:buNone/>
            </a:pPr>
            <a:r>
              <a:rPr lang="en-US" sz="3700" b="1" dirty="0">
                <a:solidFill>
                  <a:srgbClr val="FFFFFF"/>
                </a:solidFill>
                <a:latin typeface="Inter Bold" pitchFamily="34" charset="0"/>
                <a:ea typeface="Inter Bold" pitchFamily="34" charset="-122"/>
                <a:cs typeface="Inter Bold" pitchFamily="34" charset="-120"/>
              </a:rPr>
              <a:t>Red flag 2: Brak gwarancji poprawności</a:t>
            </a:r>
            <a:endParaRPr lang="en-US" sz="3700" dirty="0"/>
          </a:p>
        </p:txBody>
      </p:sp>
      <p:sp>
        <p:nvSpPr>
          <p:cNvPr id="3" name="Text 1"/>
          <p:cNvSpPr/>
          <p:nvPr/>
        </p:nvSpPr>
        <p:spPr>
          <a:xfrm>
            <a:off x="1076563" y="1952744"/>
            <a:ext cx="12760047" cy="882610"/>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„Dostawca nie gwarantuje, że Usługi będą wolne od błędów, nieprzerwane, bezpieczne lub będą spełniać wymagania Użytkownika. Dostawca nie gwarantuje dokładności, wiarygodności, kompletności ani aktualności jakichkolwiek treści, informacji, danych lub wyników generowanych przez Usługi. Użytkownik ponosi wyłączną odpowiedzialność za weryfikację, walidację i wykorzystanie jakichkolwiek wyników z Usług."</a:t>
            </a:r>
            <a:endParaRPr lang="en-US" sz="1450" dirty="0"/>
          </a:p>
        </p:txBody>
      </p:sp>
      <p:sp>
        <p:nvSpPr>
          <p:cNvPr id="4" name="Shape 2"/>
          <p:cNvSpPr/>
          <p:nvPr/>
        </p:nvSpPr>
        <p:spPr>
          <a:xfrm>
            <a:off x="793790" y="1751290"/>
            <a:ext cx="22860" cy="1285518"/>
          </a:xfrm>
          <a:prstGeom prst="rect">
            <a:avLst/>
          </a:prstGeom>
          <a:solidFill>
            <a:srgbClr val="2B0AFF"/>
          </a:solidFill>
          <a:ln/>
        </p:spPr>
      </p:sp>
      <p:sp>
        <p:nvSpPr>
          <p:cNvPr id="5" name="Text 3"/>
          <p:cNvSpPr/>
          <p:nvPr/>
        </p:nvSpPr>
        <p:spPr>
          <a:xfrm>
            <a:off x="793790" y="3238262"/>
            <a:ext cx="13042821" cy="294203"/>
          </a:xfrm>
          <a:prstGeom prst="rect">
            <a:avLst/>
          </a:prstGeom>
          <a:noFill/>
          <a:ln/>
        </p:spPr>
        <p:txBody>
          <a:bodyPr wrap="non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To jest kolejna rzeczywista klauzula - i znajduje się w prawie </a:t>
            </a:r>
            <a:pPr algn="l" indent="0" marL="0">
              <a:lnSpc>
                <a:spcPts val="2300"/>
              </a:lnSpc>
              <a:buNone/>
            </a:pPr>
            <a:r>
              <a:rPr lang="en-US" sz="1450" i="1" dirty="0">
                <a:solidFill>
                  <a:srgbClr val="E5E0DF"/>
                </a:solidFill>
                <a:latin typeface="Inter" pitchFamily="34" charset="0"/>
                <a:ea typeface="Inter" pitchFamily="34" charset="-122"/>
                <a:cs typeface="Inter" pitchFamily="34" charset="-120"/>
              </a:rPr>
              <a:t>każdym</a:t>
            </a:r>
            <a:pPr algn="l" indent="0" marL="0">
              <a:lnSpc>
                <a:spcPts val="2300"/>
              </a:lnSpc>
              <a:buNone/>
            </a:pPr>
            <a:r>
              <a:rPr lang="en-US" sz="1450" dirty="0">
                <a:solidFill>
                  <a:srgbClr val="E5E0DF"/>
                </a:solidFill>
                <a:latin typeface="Inter" pitchFamily="34" charset="0"/>
                <a:ea typeface="Inter" pitchFamily="34" charset="-122"/>
                <a:cs typeface="Inter" pitchFamily="34" charset="-120"/>
              </a:rPr>
              <a:t> regulaminie narzędzia AI.</a:t>
            </a:r>
            <a:endParaRPr lang="en-US" sz="1450" dirty="0"/>
          </a:p>
        </p:txBody>
      </p:sp>
      <p:sp>
        <p:nvSpPr>
          <p:cNvPr id="6" name="Text 4"/>
          <p:cNvSpPr/>
          <p:nvPr/>
        </p:nvSpPr>
        <p:spPr>
          <a:xfrm>
            <a:off x="793790" y="3912989"/>
            <a:ext cx="2856667" cy="294680"/>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Inter Bold" pitchFamily="34" charset="0"/>
                <a:ea typeface="Inter Bold" pitchFamily="34" charset="-122"/>
                <a:cs typeface="Inter Bold" pitchFamily="34" charset="-120"/>
              </a:rPr>
              <a:t>Dlaczego vendor to robi?</a:t>
            </a:r>
            <a:endParaRPr lang="en-US" sz="1850" dirty="0"/>
          </a:p>
        </p:txBody>
      </p:sp>
      <p:sp>
        <p:nvSpPr>
          <p:cNvPr id="7" name="Text 5"/>
          <p:cNvSpPr/>
          <p:nvPr/>
        </p:nvSpPr>
        <p:spPr>
          <a:xfrm>
            <a:off x="793790" y="4386739"/>
            <a:ext cx="7641669" cy="882610"/>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Vendor rozumie, że modele AI są probabilistyczne, nie deterministyczne. Vendor wie, że model będzie generował halucynacje, błędy, nieaktualne informacje. Vendor wie, że nie może zagwarantować 100% poprawności - bo to jest technicznie niemożliwe.</a:t>
            </a:r>
            <a:endParaRPr lang="en-US" sz="1450" dirty="0"/>
          </a:p>
        </p:txBody>
      </p:sp>
      <p:sp>
        <p:nvSpPr>
          <p:cNvPr id="8" name="Text 6"/>
          <p:cNvSpPr/>
          <p:nvPr/>
        </p:nvSpPr>
        <p:spPr>
          <a:xfrm>
            <a:off x="793790" y="5430560"/>
            <a:ext cx="7641669" cy="882610"/>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Więc vendor przenosi całą odpowiedzialność na użytkownika. </a:t>
            </a:r>
            <a:pPr algn="l" indent="0" marL="0">
              <a:lnSpc>
                <a:spcPts val="2300"/>
              </a:lnSpc>
              <a:buNone/>
            </a:pPr>
            <a:r>
              <a:rPr lang="en-US" sz="1450" i="1" dirty="0">
                <a:solidFill>
                  <a:srgbClr val="E5E0DF"/>
                </a:solidFill>
                <a:latin typeface="Inter" pitchFamily="34" charset="0"/>
                <a:ea typeface="Inter" pitchFamily="34" charset="-122"/>
                <a:cs typeface="Inter" pitchFamily="34" charset="-120"/>
              </a:rPr>
              <a:t>Ty</a:t>
            </a:r>
            <a:pPr algn="l" indent="0" marL="0">
              <a:lnSpc>
                <a:spcPts val="2300"/>
              </a:lnSpc>
              <a:buNone/>
            </a:pPr>
            <a:r>
              <a:rPr lang="en-US" sz="1450" dirty="0">
                <a:solidFill>
                  <a:srgbClr val="E5E0DF"/>
                </a:solidFill>
                <a:latin typeface="Inter" pitchFamily="34" charset="0"/>
                <a:ea typeface="Inter" pitchFamily="34" charset="-122"/>
                <a:cs typeface="Inter" pitchFamily="34" charset="-120"/>
              </a:rPr>
              <a:t> musisz zweryfikować każdą odpowiedź. </a:t>
            </a:r>
            <a:pPr algn="l" indent="0" marL="0">
              <a:lnSpc>
                <a:spcPts val="2300"/>
              </a:lnSpc>
              <a:buNone/>
            </a:pPr>
            <a:r>
              <a:rPr lang="en-US" sz="1450" i="1" dirty="0">
                <a:solidFill>
                  <a:srgbClr val="E5E0DF"/>
                </a:solidFill>
                <a:latin typeface="Inter" pitchFamily="34" charset="0"/>
                <a:ea typeface="Inter" pitchFamily="34" charset="-122"/>
                <a:cs typeface="Inter" pitchFamily="34" charset="-120"/>
              </a:rPr>
              <a:t>Ty</a:t>
            </a:r>
            <a:pPr algn="l" indent="0" marL="0">
              <a:lnSpc>
                <a:spcPts val="2300"/>
              </a:lnSpc>
              <a:buNone/>
            </a:pPr>
            <a:r>
              <a:rPr lang="en-US" sz="1450" dirty="0">
                <a:solidFill>
                  <a:srgbClr val="E5E0DF"/>
                </a:solidFill>
                <a:latin typeface="Inter" pitchFamily="34" charset="0"/>
                <a:ea typeface="Inter" pitchFamily="34" charset="-122"/>
                <a:cs typeface="Inter" pitchFamily="34" charset="-120"/>
              </a:rPr>
              <a:t> musisz walidować każdy wynik. </a:t>
            </a:r>
            <a:pPr algn="l" indent="0" marL="0">
              <a:lnSpc>
                <a:spcPts val="2300"/>
              </a:lnSpc>
              <a:buNone/>
            </a:pPr>
            <a:r>
              <a:rPr lang="en-US" sz="1450" i="1" dirty="0">
                <a:solidFill>
                  <a:srgbClr val="E5E0DF"/>
                </a:solidFill>
                <a:latin typeface="Inter" pitchFamily="34" charset="0"/>
                <a:ea typeface="Inter" pitchFamily="34" charset="-122"/>
                <a:cs typeface="Inter" pitchFamily="34" charset="-120"/>
              </a:rPr>
              <a:t>Ty</a:t>
            </a:r>
            <a:pPr algn="l" indent="0" marL="0">
              <a:lnSpc>
                <a:spcPts val="2300"/>
              </a:lnSpc>
              <a:buNone/>
            </a:pPr>
            <a:r>
              <a:rPr lang="en-US" sz="1450" dirty="0">
                <a:solidFill>
                  <a:srgbClr val="E5E0DF"/>
                </a:solidFill>
                <a:latin typeface="Inter" pitchFamily="34" charset="0"/>
                <a:ea typeface="Inter" pitchFamily="34" charset="-122"/>
                <a:cs typeface="Inter" pitchFamily="34" charset="-120"/>
              </a:rPr>
              <a:t> odpowiadasz jeśli coś pójdzie nie tak.</a:t>
            </a:r>
            <a:endParaRPr lang="en-US" sz="1450" dirty="0"/>
          </a:p>
        </p:txBody>
      </p:sp>
      <p:sp>
        <p:nvSpPr>
          <p:cNvPr id="9" name="Shape 7"/>
          <p:cNvSpPr/>
          <p:nvPr/>
        </p:nvSpPr>
        <p:spPr>
          <a:xfrm>
            <a:off x="8767286" y="3733919"/>
            <a:ext cx="5212794" cy="2901672"/>
          </a:xfrm>
          <a:prstGeom prst="roundRect">
            <a:avLst>
              <a:gd name="adj" fmla="val 4679"/>
            </a:avLst>
          </a:prstGeom>
          <a:solidFill>
            <a:srgbClr val="2B0AFF"/>
          </a:solidFill>
          <a:ln/>
        </p:spPr>
      </p:sp>
      <p:sp>
        <p:nvSpPr>
          <p:cNvPr id="10" name="Text 8"/>
          <p:cNvSpPr/>
          <p:nvPr/>
        </p:nvSpPr>
        <p:spPr>
          <a:xfrm>
            <a:off x="8955762" y="3912989"/>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Inter Bold" pitchFamily="34" charset="0"/>
                <a:ea typeface="Inter Bold" pitchFamily="34" charset="-122"/>
                <a:cs typeface="Inter Bold" pitchFamily="34" charset="-120"/>
              </a:rPr>
              <a:t>Pytanie kluczowe</a:t>
            </a:r>
            <a:endParaRPr lang="en-US" sz="1850" dirty="0"/>
          </a:p>
        </p:txBody>
      </p:sp>
      <p:sp>
        <p:nvSpPr>
          <p:cNvPr id="11" name="Text 9"/>
          <p:cNvSpPr/>
          <p:nvPr/>
        </p:nvSpPr>
        <p:spPr>
          <a:xfrm>
            <a:off x="8955762" y="4386739"/>
            <a:ext cx="4835843" cy="294203"/>
          </a:xfrm>
          <a:prstGeom prst="rect">
            <a:avLst/>
          </a:prstGeom>
          <a:noFill/>
          <a:ln/>
        </p:spPr>
        <p:txBody>
          <a:bodyPr wrap="none" lIns="0" tIns="0" rIns="0" bIns="0" rtlCol="0" anchor="t"/>
          <a:lstStyle/>
          <a:p>
            <a:pPr algn="l" indent="0" marL="0">
              <a:lnSpc>
                <a:spcPts val="2300"/>
              </a:lnSpc>
              <a:buNone/>
            </a:pPr>
            <a:r>
              <a:rPr lang="en-US" sz="1450" b="1" dirty="0">
                <a:solidFill>
                  <a:srgbClr val="E5E0DF"/>
                </a:solidFill>
                <a:latin typeface="Inter" pitchFamily="34" charset="0"/>
                <a:ea typeface="Inter" pitchFamily="34" charset="-122"/>
                <a:cs typeface="Inter" pitchFamily="34" charset="-120"/>
              </a:rPr>
              <a:t>Za co właściwie płacę?</a:t>
            </a:r>
            <a:endParaRPr lang="en-US" sz="1450" dirty="0"/>
          </a:p>
        </p:txBody>
      </p:sp>
      <p:sp>
        <p:nvSpPr>
          <p:cNvPr id="12" name="Text 10"/>
          <p:cNvSpPr/>
          <p:nvPr/>
        </p:nvSpPr>
        <p:spPr>
          <a:xfrm>
            <a:off x="8955762" y="4842153"/>
            <a:ext cx="4835843" cy="58840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Jeśli vendor nie gwarantuje poprawności, a ja muszę weryfikować każdy wynik - to po co mi AI?</a:t>
            </a:r>
            <a:endParaRPr lang="en-US" sz="1450" dirty="0"/>
          </a:p>
        </p:txBody>
      </p:sp>
      <p:sp>
        <p:nvSpPr>
          <p:cNvPr id="13" name="Text 11"/>
          <p:cNvSpPr/>
          <p:nvPr/>
        </p:nvSpPr>
        <p:spPr>
          <a:xfrm>
            <a:off x="8955762" y="5591770"/>
            <a:ext cx="4835843" cy="882610"/>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Odpowiedź: AI przyspiesza proces, ale nie zastępuje człowieka. To narzędzie wspomagające, nie decyzyjne.</a:t>
            </a:r>
            <a:endParaRPr lang="en-US" sz="1450" dirty="0"/>
          </a:p>
        </p:txBody>
      </p:sp>
      <p:sp>
        <p:nvSpPr>
          <p:cNvPr id="14" name="Text 12"/>
          <p:cNvSpPr/>
          <p:nvPr/>
        </p:nvSpPr>
        <p:spPr>
          <a:xfrm>
            <a:off x="793790" y="6837045"/>
            <a:ext cx="13042821" cy="588407"/>
          </a:xfrm>
          <a:prstGeom prst="rect">
            <a:avLst/>
          </a:prstGeom>
          <a:noFill/>
          <a:ln/>
        </p:spPr>
        <p:txBody>
          <a:bodyPr wrap="square" lIns="0" tIns="0" rIns="0" bIns="0" rtlCol="0" anchor="t"/>
          <a:lstStyle/>
          <a:p>
            <a:pPr algn="l" indent="0" marL="0">
              <a:lnSpc>
                <a:spcPts val="2300"/>
              </a:lnSpc>
              <a:buNone/>
            </a:pPr>
            <a:r>
              <a:rPr lang="en-US" sz="1450" b="1" dirty="0">
                <a:solidFill>
                  <a:srgbClr val="E5E0DF"/>
                </a:solidFill>
                <a:latin typeface="Inter" pitchFamily="34" charset="0"/>
                <a:ea typeface="Inter" pitchFamily="34" charset="-122"/>
                <a:cs typeface="Inter" pitchFamily="34" charset="-120"/>
              </a:rPr>
              <a:t>Implikacja dla deployera:</a:t>
            </a:r>
            <a:pPr algn="l" indent="0" marL="0">
              <a:lnSpc>
                <a:spcPts val="2300"/>
              </a:lnSpc>
              <a:buNone/>
            </a:pPr>
            <a:r>
              <a:rPr lang="en-US" sz="1450" dirty="0">
                <a:solidFill>
                  <a:srgbClr val="E5E0DF"/>
                </a:solidFill>
                <a:latin typeface="Inter" pitchFamily="34" charset="0"/>
                <a:ea typeface="Inter" pitchFamily="34" charset="-122"/>
                <a:cs typeface="Inter" pitchFamily="34" charset="-120"/>
              </a:rPr>
              <a:t> Musicie mieć human oversight dla każdej krytycznej decyzji. Musicie mieć procedury weryfikacji. Musicie szkolić ludzi, żeby nie ufali ślepo AI. To wszystko kosztuje - i to trzeba wliczyć w ROI z wdrożenia AI.</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759143"/>
            <a:ext cx="7534275" cy="465177"/>
          </a:xfrm>
          <a:prstGeom prst="rect">
            <a:avLst/>
          </a:prstGeom>
          <a:noFill/>
          <a:ln/>
        </p:spPr>
        <p:txBody>
          <a:bodyPr wrap="none" lIns="0" tIns="0" rIns="0" bIns="0" rtlCol="0" anchor="t"/>
          <a:lstStyle/>
          <a:p>
            <a:pPr algn="l" indent="0" marL="0">
              <a:lnSpc>
                <a:spcPts val="3650"/>
              </a:lnSpc>
              <a:buNone/>
            </a:pPr>
            <a:r>
              <a:rPr lang="en-US" sz="2900" b="1" dirty="0">
                <a:solidFill>
                  <a:srgbClr val="FFFFFF"/>
                </a:solidFill>
                <a:latin typeface="Inter Bold" pitchFamily="34" charset="0"/>
                <a:ea typeface="Inter Bold" pitchFamily="34" charset="-122"/>
                <a:cs typeface="Inter Bold" pitchFamily="34" charset="-120"/>
              </a:rPr>
              <a:t>Red flag 3: Automatyczna zmiana modelu</a:t>
            </a:r>
            <a:endParaRPr lang="en-US" sz="2900" dirty="0"/>
          </a:p>
        </p:txBody>
      </p:sp>
      <p:sp>
        <p:nvSpPr>
          <p:cNvPr id="3" name="Text 1"/>
          <p:cNvSpPr/>
          <p:nvPr/>
        </p:nvSpPr>
        <p:spPr>
          <a:xfrm>
            <a:off x="1017032" y="1573054"/>
            <a:ext cx="12819578" cy="781526"/>
          </a:xfrm>
          <a:prstGeom prst="rect">
            <a:avLst/>
          </a:prstGeom>
          <a:noFill/>
          <a:ln/>
        </p:spPr>
        <p:txBody>
          <a:bodyPr wrap="square" lIns="0" tIns="0" rIns="0" bIns="0" rtlCol="0" anchor="t"/>
          <a:lstStyle/>
          <a:p>
            <a:pPr algn="l" indent="0" marL="0">
              <a:lnSpc>
                <a:spcPts val="2050"/>
              </a:lnSpc>
              <a:buNone/>
            </a:pPr>
            <a:r>
              <a:rPr lang="en-US" sz="1450" dirty="0">
                <a:solidFill>
                  <a:srgbClr val="E5E0DF"/>
                </a:solidFill>
                <a:latin typeface="Inter" pitchFamily="34" charset="0"/>
                <a:ea typeface="Inter" pitchFamily="34" charset="-122"/>
                <a:cs typeface="Inter" pitchFamily="34" charset="-120"/>
              </a:rPr>
              <a:t>„Dostawca zastrzega sobie prawo do modyfikowania, aktualizowania, ulepszania lub zastępowania Usług (w tym modeli AI, algorytmów i funkcjonalności) w dowolnym czasie bez wcześniejszego powiadomienia Użytkownika. Dostawca nie ponosi odpowiedzialności za jakiekolwiek zmiany w wynikach, zachowaniu lub wydajności Usług wynikające z takich aktualizacji."</a:t>
            </a:r>
            <a:endParaRPr lang="en-US" sz="1450" dirty="0"/>
          </a:p>
        </p:txBody>
      </p:sp>
      <p:sp>
        <p:nvSpPr>
          <p:cNvPr id="4" name="Shape 2"/>
          <p:cNvSpPr/>
          <p:nvPr/>
        </p:nvSpPr>
        <p:spPr>
          <a:xfrm>
            <a:off x="793790" y="1447562"/>
            <a:ext cx="15240" cy="1032510"/>
          </a:xfrm>
          <a:prstGeom prst="rect">
            <a:avLst/>
          </a:prstGeom>
          <a:solidFill>
            <a:srgbClr val="2B0AFF"/>
          </a:solidFill>
          <a:ln/>
        </p:spPr>
      </p:sp>
      <p:sp>
        <p:nvSpPr>
          <p:cNvPr id="5" name="Text 3"/>
          <p:cNvSpPr/>
          <p:nvPr/>
        </p:nvSpPr>
        <p:spPr>
          <a:xfrm>
            <a:off x="793790" y="2605564"/>
            <a:ext cx="13042821" cy="521017"/>
          </a:xfrm>
          <a:prstGeom prst="rect">
            <a:avLst/>
          </a:prstGeom>
          <a:noFill/>
          <a:ln/>
        </p:spPr>
        <p:txBody>
          <a:bodyPr wrap="square" lIns="0" tIns="0" rIns="0" bIns="0" rtlCol="0" anchor="t"/>
          <a:lstStyle/>
          <a:p>
            <a:pPr algn="l" indent="0" marL="0">
              <a:lnSpc>
                <a:spcPts val="2050"/>
              </a:lnSpc>
              <a:buNone/>
            </a:pPr>
            <a:r>
              <a:rPr lang="en-US" sz="1450" dirty="0">
                <a:solidFill>
                  <a:srgbClr val="E5E0DF"/>
                </a:solidFill>
                <a:latin typeface="Inter" pitchFamily="34" charset="0"/>
                <a:ea typeface="Inter" pitchFamily="34" charset="-122"/>
                <a:cs typeface="Inter" pitchFamily="34" charset="-120"/>
              </a:rPr>
              <a:t>To oznacza, że narzędzie, które zwalidowaliście w poniedziałek, może działać inaczej w piątek. Model się zmienił, wagi się przesunęły, odpowiedzi są inne. A wy nawet nie wiecie.</a:t>
            </a:r>
            <a:endParaRPr lang="en-US" sz="1450" dirty="0"/>
          </a:p>
        </p:txBody>
      </p:sp>
      <p:sp>
        <p:nvSpPr>
          <p:cNvPr id="6" name="Shape 4"/>
          <p:cNvSpPr/>
          <p:nvPr/>
        </p:nvSpPr>
        <p:spPr>
          <a:xfrm>
            <a:off x="793790" y="4928354"/>
            <a:ext cx="13042821" cy="15240"/>
          </a:xfrm>
          <a:prstGeom prst="roundRect">
            <a:avLst>
              <a:gd name="adj" fmla="val 410233"/>
            </a:avLst>
          </a:prstGeom>
          <a:solidFill>
            <a:srgbClr val="2A1999"/>
          </a:solidFill>
          <a:ln/>
        </p:spPr>
      </p:sp>
      <p:sp>
        <p:nvSpPr>
          <p:cNvPr id="7" name="Shape 5"/>
          <p:cNvSpPr/>
          <p:nvPr/>
        </p:nvSpPr>
        <p:spPr>
          <a:xfrm>
            <a:off x="4011811" y="4481929"/>
            <a:ext cx="15240" cy="446484"/>
          </a:xfrm>
          <a:prstGeom prst="roundRect">
            <a:avLst>
              <a:gd name="adj" fmla="val 410233"/>
            </a:avLst>
          </a:prstGeom>
          <a:solidFill>
            <a:srgbClr val="2A1999"/>
          </a:solidFill>
          <a:ln/>
        </p:spPr>
      </p:sp>
      <p:sp>
        <p:nvSpPr>
          <p:cNvPr id="8" name="Shape 6"/>
          <p:cNvSpPr/>
          <p:nvPr/>
        </p:nvSpPr>
        <p:spPr>
          <a:xfrm>
            <a:off x="3852029" y="4760893"/>
            <a:ext cx="334923" cy="334923"/>
          </a:xfrm>
          <a:prstGeom prst="roundRect">
            <a:avLst>
              <a:gd name="adj" fmla="val 18667"/>
            </a:avLst>
          </a:prstGeom>
          <a:solidFill>
            <a:srgbClr val="110080"/>
          </a:solidFill>
          <a:ln w="7620">
            <a:solidFill>
              <a:srgbClr val="2A1999"/>
            </a:solidFill>
            <a:prstDash val="solid"/>
          </a:ln>
        </p:spPr>
      </p:sp>
      <p:sp>
        <p:nvSpPr>
          <p:cNvPr id="9" name="Text 7"/>
          <p:cNvSpPr/>
          <p:nvPr/>
        </p:nvSpPr>
        <p:spPr>
          <a:xfrm>
            <a:off x="3907810" y="4788753"/>
            <a:ext cx="223242" cy="279083"/>
          </a:xfrm>
          <a:prstGeom prst="rect">
            <a:avLst/>
          </a:prstGeom>
          <a:noFill/>
          <a:ln/>
        </p:spPr>
        <p:txBody>
          <a:bodyPr wrap="none" lIns="0" tIns="0" rIns="0" bIns="0" rtlCol="0" anchor="t"/>
          <a:lstStyle/>
          <a:p>
            <a:pPr algn="ctr"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1</a:t>
            </a:r>
            <a:endParaRPr lang="en-US" sz="1750" dirty="0"/>
          </a:p>
        </p:txBody>
      </p:sp>
      <p:sp>
        <p:nvSpPr>
          <p:cNvPr id="10" name="Text 8"/>
          <p:cNvSpPr/>
          <p:nvPr/>
        </p:nvSpPr>
        <p:spPr>
          <a:xfrm>
            <a:off x="3089315" y="3252073"/>
            <a:ext cx="1860590" cy="232529"/>
          </a:xfrm>
          <a:prstGeom prst="rect">
            <a:avLst/>
          </a:prstGeom>
          <a:noFill/>
          <a:ln/>
        </p:spPr>
        <p:txBody>
          <a:bodyPr wrap="none" lIns="0" tIns="0" rIns="0" bIns="0" rtlCol="0" anchor="t"/>
          <a:lstStyle/>
          <a:p>
            <a:pPr algn="ctr"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Poniedziałek</a:t>
            </a:r>
            <a:endParaRPr lang="en-US" sz="1450" dirty="0"/>
          </a:p>
        </p:txBody>
      </p:sp>
      <p:sp>
        <p:nvSpPr>
          <p:cNvPr id="11" name="Text 9"/>
          <p:cNvSpPr/>
          <p:nvPr/>
        </p:nvSpPr>
        <p:spPr>
          <a:xfrm>
            <a:off x="942618" y="3551515"/>
            <a:ext cx="6153983" cy="521017"/>
          </a:xfrm>
          <a:prstGeom prst="rect">
            <a:avLst/>
          </a:prstGeom>
          <a:noFill/>
          <a:ln/>
        </p:spPr>
        <p:txBody>
          <a:bodyPr wrap="square" lIns="0" tIns="0" rIns="0" bIns="0" rtlCol="0" anchor="t"/>
          <a:lstStyle/>
          <a:p>
            <a:pPr algn="ctr" indent="0" marL="0">
              <a:lnSpc>
                <a:spcPts val="2050"/>
              </a:lnSpc>
              <a:buNone/>
            </a:pPr>
            <a:r>
              <a:rPr lang="en-US" sz="1450" dirty="0">
                <a:solidFill>
                  <a:srgbClr val="E5E0DF"/>
                </a:solidFill>
                <a:latin typeface="Inter" pitchFamily="34" charset="0"/>
                <a:ea typeface="Inter" pitchFamily="34" charset="-122"/>
                <a:cs typeface="Inter" pitchFamily="34" charset="-120"/>
              </a:rPr>
              <a:t>Walidujecie model. Przeprowadzacie testy. Model ma 94% accuracy na waszym zbiorze testowym. Wszystko działa. Podpisujecie odbiór.</a:t>
            </a:r>
            <a:endParaRPr lang="en-US" sz="1450" dirty="0"/>
          </a:p>
        </p:txBody>
      </p:sp>
      <p:sp>
        <p:nvSpPr>
          <p:cNvPr id="12" name="Shape 10"/>
          <p:cNvSpPr/>
          <p:nvPr/>
        </p:nvSpPr>
        <p:spPr>
          <a:xfrm>
            <a:off x="7307342" y="4928295"/>
            <a:ext cx="15240" cy="446484"/>
          </a:xfrm>
          <a:prstGeom prst="roundRect">
            <a:avLst>
              <a:gd name="adj" fmla="val 410233"/>
            </a:avLst>
          </a:prstGeom>
          <a:solidFill>
            <a:srgbClr val="2A1999"/>
          </a:solidFill>
          <a:ln/>
        </p:spPr>
      </p:sp>
      <p:sp>
        <p:nvSpPr>
          <p:cNvPr id="13" name="Shape 11"/>
          <p:cNvSpPr/>
          <p:nvPr/>
        </p:nvSpPr>
        <p:spPr>
          <a:xfrm>
            <a:off x="7147560" y="4760893"/>
            <a:ext cx="334923" cy="334923"/>
          </a:xfrm>
          <a:prstGeom prst="roundRect">
            <a:avLst>
              <a:gd name="adj" fmla="val 18667"/>
            </a:avLst>
          </a:prstGeom>
          <a:solidFill>
            <a:srgbClr val="110080"/>
          </a:solidFill>
          <a:ln w="7620">
            <a:solidFill>
              <a:srgbClr val="2A1999"/>
            </a:solidFill>
            <a:prstDash val="solid"/>
          </a:ln>
        </p:spPr>
      </p:sp>
      <p:sp>
        <p:nvSpPr>
          <p:cNvPr id="14" name="Text 12"/>
          <p:cNvSpPr/>
          <p:nvPr/>
        </p:nvSpPr>
        <p:spPr>
          <a:xfrm>
            <a:off x="7203341" y="4788753"/>
            <a:ext cx="223242" cy="279083"/>
          </a:xfrm>
          <a:prstGeom prst="rect">
            <a:avLst/>
          </a:prstGeom>
          <a:noFill/>
          <a:ln/>
        </p:spPr>
        <p:txBody>
          <a:bodyPr wrap="none" lIns="0" tIns="0" rIns="0" bIns="0" rtlCol="0" anchor="t"/>
          <a:lstStyle/>
          <a:p>
            <a:pPr algn="ctr"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2</a:t>
            </a:r>
            <a:endParaRPr lang="en-US" sz="1750" dirty="0"/>
          </a:p>
        </p:txBody>
      </p:sp>
      <p:sp>
        <p:nvSpPr>
          <p:cNvPr id="15" name="Text 13"/>
          <p:cNvSpPr/>
          <p:nvPr/>
        </p:nvSpPr>
        <p:spPr>
          <a:xfrm>
            <a:off x="6384846" y="5523667"/>
            <a:ext cx="1860590" cy="232529"/>
          </a:xfrm>
          <a:prstGeom prst="rect">
            <a:avLst/>
          </a:prstGeom>
          <a:noFill/>
          <a:ln/>
        </p:spPr>
        <p:txBody>
          <a:bodyPr wrap="none" lIns="0" tIns="0" rIns="0" bIns="0" rtlCol="0" anchor="t"/>
          <a:lstStyle/>
          <a:p>
            <a:pPr algn="ctr"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Środa</a:t>
            </a:r>
            <a:endParaRPr lang="en-US" sz="1450" dirty="0"/>
          </a:p>
        </p:txBody>
      </p:sp>
      <p:sp>
        <p:nvSpPr>
          <p:cNvPr id="16" name="Text 14"/>
          <p:cNvSpPr/>
          <p:nvPr/>
        </p:nvSpPr>
        <p:spPr>
          <a:xfrm>
            <a:off x="4238149" y="5823109"/>
            <a:ext cx="6153983" cy="781526"/>
          </a:xfrm>
          <a:prstGeom prst="rect">
            <a:avLst/>
          </a:prstGeom>
          <a:noFill/>
          <a:ln/>
        </p:spPr>
        <p:txBody>
          <a:bodyPr wrap="square" lIns="0" tIns="0" rIns="0" bIns="0" rtlCol="0" anchor="t"/>
          <a:lstStyle/>
          <a:p>
            <a:pPr algn="ctr" indent="0" marL="0">
              <a:lnSpc>
                <a:spcPts val="2050"/>
              </a:lnSpc>
              <a:buNone/>
            </a:pPr>
            <a:r>
              <a:rPr lang="en-US" sz="1450" dirty="0">
                <a:solidFill>
                  <a:srgbClr val="E5E0DF"/>
                </a:solidFill>
                <a:latin typeface="Inter" pitchFamily="34" charset="0"/>
                <a:ea typeface="Inter" pitchFamily="34" charset="-122"/>
                <a:cs typeface="Inter" pitchFamily="34" charset="-120"/>
              </a:rPr>
              <a:t>Vendor aktualizuje model. Nie informuje was. Nowa wersja ma lepszą accuracy globalnie — ale gorzej radzi sobie z polskim językiem, bo nowy trening był na angielskich danych.</a:t>
            </a:r>
            <a:endParaRPr lang="en-US" sz="1450" dirty="0"/>
          </a:p>
        </p:txBody>
      </p:sp>
      <p:sp>
        <p:nvSpPr>
          <p:cNvPr id="17" name="Shape 15"/>
          <p:cNvSpPr/>
          <p:nvPr/>
        </p:nvSpPr>
        <p:spPr>
          <a:xfrm>
            <a:off x="10602992" y="4481929"/>
            <a:ext cx="15240" cy="446484"/>
          </a:xfrm>
          <a:prstGeom prst="roundRect">
            <a:avLst>
              <a:gd name="adj" fmla="val 410233"/>
            </a:avLst>
          </a:prstGeom>
          <a:solidFill>
            <a:srgbClr val="2A1999"/>
          </a:solidFill>
          <a:ln/>
        </p:spPr>
      </p:sp>
      <p:sp>
        <p:nvSpPr>
          <p:cNvPr id="18" name="Shape 16"/>
          <p:cNvSpPr/>
          <p:nvPr/>
        </p:nvSpPr>
        <p:spPr>
          <a:xfrm>
            <a:off x="10443210" y="4760893"/>
            <a:ext cx="334923" cy="334923"/>
          </a:xfrm>
          <a:prstGeom prst="roundRect">
            <a:avLst>
              <a:gd name="adj" fmla="val 18667"/>
            </a:avLst>
          </a:prstGeom>
          <a:solidFill>
            <a:srgbClr val="110080"/>
          </a:solidFill>
          <a:ln w="7620">
            <a:solidFill>
              <a:srgbClr val="2A1999"/>
            </a:solidFill>
            <a:prstDash val="solid"/>
          </a:ln>
        </p:spPr>
      </p:sp>
      <p:sp>
        <p:nvSpPr>
          <p:cNvPr id="19" name="Text 17"/>
          <p:cNvSpPr/>
          <p:nvPr/>
        </p:nvSpPr>
        <p:spPr>
          <a:xfrm>
            <a:off x="10498991" y="4788753"/>
            <a:ext cx="223242" cy="279083"/>
          </a:xfrm>
          <a:prstGeom prst="rect">
            <a:avLst/>
          </a:prstGeom>
          <a:noFill/>
          <a:ln/>
        </p:spPr>
        <p:txBody>
          <a:bodyPr wrap="none" lIns="0" tIns="0" rIns="0" bIns="0" rtlCol="0" anchor="t"/>
          <a:lstStyle/>
          <a:p>
            <a:pPr algn="ctr"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3</a:t>
            </a:r>
            <a:endParaRPr lang="en-US" sz="1750" dirty="0"/>
          </a:p>
        </p:txBody>
      </p:sp>
      <p:sp>
        <p:nvSpPr>
          <p:cNvPr id="20" name="Text 18"/>
          <p:cNvSpPr/>
          <p:nvPr/>
        </p:nvSpPr>
        <p:spPr>
          <a:xfrm>
            <a:off x="9680496" y="3252073"/>
            <a:ext cx="1860590" cy="232529"/>
          </a:xfrm>
          <a:prstGeom prst="rect">
            <a:avLst/>
          </a:prstGeom>
          <a:noFill/>
          <a:ln/>
        </p:spPr>
        <p:txBody>
          <a:bodyPr wrap="none" lIns="0" tIns="0" rIns="0" bIns="0" rtlCol="0" anchor="t"/>
          <a:lstStyle/>
          <a:p>
            <a:pPr algn="ctr"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Piątek</a:t>
            </a:r>
            <a:endParaRPr lang="en-US" sz="1450" dirty="0"/>
          </a:p>
        </p:txBody>
      </p:sp>
      <p:sp>
        <p:nvSpPr>
          <p:cNvPr id="21" name="Text 19"/>
          <p:cNvSpPr/>
          <p:nvPr/>
        </p:nvSpPr>
        <p:spPr>
          <a:xfrm>
            <a:off x="7533799" y="3551515"/>
            <a:ext cx="6153983" cy="781526"/>
          </a:xfrm>
          <a:prstGeom prst="rect">
            <a:avLst/>
          </a:prstGeom>
          <a:noFill/>
          <a:ln/>
        </p:spPr>
        <p:txBody>
          <a:bodyPr wrap="square" lIns="0" tIns="0" rIns="0" bIns="0" rtlCol="0" anchor="t"/>
          <a:lstStyle/>
          <a:p>
            <a:pPr algn="ctr" indent="0" marL="0">
              <a:lnSpc>
                <a:spcPts val="2050"/>
              </a:lnSpc>
              <a:buNone/>
            </a:pPr>
            <a:r>
              <a:rPr lang="en-US" sz="1450" dirty="0">
                <a:solidFill>
                  <a:srgbClr val="E5E0DF"/>
                </a:solidFill>
                <a:latin typeface="Inter" pitchFamily="34" charset="0"/>
                <a:ea typeface="Inter" pitchFamily="34" charset="-122"/>
                <a:cs typeface="Inter" pitchFamily="34" charset="-120"/>
              </a:rPr>
              <a:t>Wasze użytkownicy zaczynają się skarżyć, że system generuje gorsze wyniki. Dzwonicie do vendora. Vendor mówi: „aktualizowaliśmy model, to normalne."</a:t>
            </a:r>
            <a:endParaRPr lang="en-US" sz="1450" dirty="0"/>
          </a:p>
        </p:txBody>
      </p:sp>
      <p:sp>
        <p:nvSpPr>
          <p:cNvPr id="22" name="Shape 20"/>
          <p:cNvSpPr/>
          <p:nvPr/>
        </p:nvSpPr>
        <p:spPr>
          <a:xfrm>
            <a:off x="793790" y="6730127"/>
            <a:ext cx="13042821" cy="740212"/>
          </a:xfrm>
          <a:prstGeom prst="roundRect">
            <a:avLst>
              <a:gd name="adj" fmla="val 8446"/>
            </a:avLst>
          </a:prstGeom>
          <a:solidFill>
            <a:srgbClr val="0A004D"/>
          </a:solidFill>
          <a:ln/>
        </p:spPr>
      </p:sp>
      <p:pic>
        <p:nvPicPr>
          <p:cNvPr id="23" name="Image 0" descr="preencoded.png">    </p:cNvPr>
          <p:cNvPicPr>
            <a:picLocks noChangeAspect="1"/>
          </p:cNvPicPr>
          <p:nvPr/>
        </p:nvPicPr>
        <p:blipFill>
          <a:blip r:embed="rId1"/>
          <a:stretch>
            <a:fillRect/>
          </a:stretch>
        </p:blipFill>
        <p:spPr>
          <a:xfrm>
            <a:off x="942618" y="6938248"/>
            <a:ext cx="185976" cy="148828"/>
          </a:xfrm>
          <a:prstGeom prst="rect">
            <a:avLst/>
          </a:prstGeom>
        </p:spPr>
      </p:pic>
      <p:sp>
        <p:nvSpPr>
          <p:cNvPr id="24" name="Text 21"/>
          <p:cNvSpPr/>
          <p:nvPr/>
        </p:nvSpPr>
        <p:spPr>
          <a:xfrm>
            <a:off x="1277422" y="6878836"/>
            <a:ext cx="12410361" cy="416719"/>
          </a:xfrm>
          <a:prstGeom prst="rect">
            <a:avLst/>
          </a:prstGeom>
          <a:noFill/>
          <a:ln/>
        </p:spPr>
        <p:txBody>
          <a:bodyPr wrap="square" lIns="0" tIns="0" rIns="0" bIns="0" rtlCol="0" anchor="t"/>
          <a:lstStyle/>
          <a:p>
            <a:pPr algn="l" indent="0" marL="0">
              <a:lnSpc>
                <a:spcPts val="1600"/>
              </a:lnSpc>
              <a:buNone/>
            </a:pPr>
            <a:r>
              <a:rPr lang="en-US" sz="1150" b="1" dirty="0">
                <a:solidFill>
                  <a:srgbClr val="FFFFFF"/>
                </a:solidFill>
                <a:latin typeface="Inter" pitchFamily="34" charset="0"/>
                <a:ea typeface="Inter" pitchFamily="34" charset="-122"/>
                <a:cs typeface="Inter" pitchFamily="34" charset="-120"/>
              </a:rPr>
              <a:t>Implikacja dla AI Act:</a:t>
            </a:r>
            <a:pPr algn="l" indent="0" marL="0">
              <a:lnSpc>
                <a:spcPts val="1600"/>
              </a:lnSpc>
              <a:buNone/>
            </a:pPr>
            <a:r>
              <a:rPr lang="en-US" sz="1150" dirty="0">
                <a:solidFill>
                  <a:srgbClr val="FFFFFF"/>
                </a:solidFill>
                <a:latin typeface="Inter" pitchFamily="34" charset="0"/>
                <a:ea typeface="Inter" pitchFamily="34" charset="-122"/>
                <a:cs typeface="Inter" pitchFamily="34" charset="-120"/>
              </a:rPr>
              <a:t> Jeśli używacie systemu high-risk, zmiana modelu może oznaczać konieczność ponownej walidacji i oceny zgodności (art. 43 AI Act - istotna modyfikacja). Vendor nie powie wam, że się zmienił - więc nie będziecie wiedzieć, że musicie zrobić nową walidację. I będziecie w naruszeniu compliance, nie wiedząc o tym.</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620911"/>
            <a:ext cx="5443418" cy="527090"/>
          </a:xfrm>
          <a:prstGeom prst="rect">
            <a:avLst/>
          </a:prstGeom>
          <a:noFill/>
          <a:ln/>
        </p:spPr>
        <p:txBody>
          <a:bodyPr wrap="none" lIns="0" tIns="0" rIns="0" bIns="0" rtlCol="0" anchor="t"/>
          <a:lstStyle/>
          <a:p>
            <a:pPr algn="l" indent="0" marL="0">
              <a:lnSpc>
                <a:spcPts val="4150"/>
              </a:lnSpc>
              <a:buNone/>
            </a:pPr>
            <a:r>
              <a:rPr lang="en-US" sz="3300" b="1" dirty="0">
                <a:solidFill>
                  <a:srgbClr val="FFFFFF"/>
                </a:solidFill>
                <a:latin typeface="Inter Bold" pitchFamily="34" charset="0"/>
                <a:ea typeface="Inter Bold" pitchFamily="34" charset="-122"/>
                <a:cs typeface="Inter Bold" pitchFamily="34" charset="-120"/>
              </a:rPr>
              <a:t>Jak powinno to wyglądać?</a:t>
            </a:r>
            <a:endParaRPr lang="en-US" sz="3300" dirty="0"/>
          </a:p>
        </p:txBody>
      </p:sp>
      <p:sp>
        <p:nvSpPr>
          <p:cNvPr id="3" name="Text 1"/>
          <p:cNvSpPr/>
          <p:nvPr/>
        </p:nvSpPr>
        <p:spPr>
          <a:xfrm>
            <a:off x="793790" y="1205270"/>
            <a:ext cx="3447098" cy="263485"/>
          </a:xfrm>
          <a:prstGeom prst="rect">
            <a:avLst/>
          </a:prstGeom>
          <a:noFill/>
          <a:ln/>
        </p:spPr>
        <p:txBody>
          <a:bodyPr wrap="none" lIns="0" tIns="0" rIns="0" bIns="0" rtlCol="0" anchor="t"/>
          <a:lstStyle/>
          <a:p>
            <a:pPr algn="l" indent="0" marL="0">
              <a:lnSpc>
                <a:spcPts val="2050"/>
              </a:lnSpc>
              <a:buNone/>
            </a:pPr>
            <a:r>
              <a:rPr lang="en-US" sz="1650" b="1" dirty="0">
                <a:solidFill>
                  <a:srgbClr val="FFFFFF"/>
                </a:solidFill>
                <a:latin typeface="Inter Bold" pitchFamily="34" charset="0"/>
                <a:ea typeface="Inter Bold" pitchFamily="34" charset="-122"/>
                <a:cs typeface="Inter Bold" pitchFamily="34" charset="-120"/>
              </a:rPr>
              <a:t>Alternatywne zapisy dla red flags</a:t>
            </a:r>
            <a:endParaRPr lang="en-US" sz="1650" dirty="0"/>
          </a:p>
        </p:txBody>
      </p:sp>
      <p:sp>
        <p:nvSpPr>
          <p:cNvPr id="4" name="Shape 2"/>
          <p:cNvSpPr/>
          <p:nvPr/>
        </p:nvSpPr>
        <p:spPr>
          <a:xfrm>
            <a:off x="7303770" y="1683782"/>
            <a:ext cx="22860" cy="5924788"/>
          </a:xfrm>
          <a:prstGeom prst="roundRect">
            <a:avLst>
              <a:gd name="adj" fmla="val 309954"/>
            </a:avLst>
          </a:prstGeom>
          <a:solidFill>
            <a:srgbClr val="2A1999"/>
          </a:solidFill>
          <a:ln/>
        </p:spPr>
      </p:sp>
      <p:sp>
        <p:nvSpPr>
          <p:cNvPr id="5" name="Shape 3"/>
          <p:cNvSpPr/>
          <p:nvPr/>
        </p:nvSpPr>
        <p:spPr>
          <a:xfrm>
            <a:off x="770930" y="1683782"/>
            <a:ext cx="6521410" cy="1700570"/>
          </a:xfrm>
          <a:prstGeom prst="roundRect">
            <a:avLst>
              <a:gd name="adj" fmla="val 4167"/>
            </a:avLst>
          </a:prstGeom>
          <a:solidFill>
            <a:srgbClr val="110080"/>
          </a:solidFill>
          <a:ln w="7620">
            <a:solidFill>
              <a:srgbClr val="2A1999"/>
            </a:solidFill>
            <a:prstDash val="solid"/>
          </a:ln>
        </p:spPr>
      </p:sp>
      <p:sp>
        <p:nvSpPr>
          <p:cNvPr id="6" name="Text 4"/>
          <p:cNvSpPr/>
          <p:nvPr/>
        </p:nvSpPr>
        <p:spPr>
          <a:xfrm>
            <a:off x="4448413" y="1859994"/>
            <a:ext cx="2675334" cy="263485"/>
          </a:xfrm>
          <a:prstGeom prst="rect">
            <a:avLst/>
          </a:prstGeom>
          <a:noFill/>
          <a:ln/>
        </p:spPr>
        <p:txBody>
          <a:bodyPr wrap="none" lIns="0" tIns="0" rIns="0" bIns="0" rtlCol="0" anchor="t"/>
          <a:lstStyle/>
          <a:p>
            <a:pPr algn="r"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Zamiast: Licencja na dane</a:t>
            </a:r>
            <a:endParaRPr lang="en-US" sz="1650" dirty="0"/>
          </a:p>
        </p:txBody>
      </p:sp>
      <p:sp>
        <p:nvSpPr>
          <p:cNvPr id="7" name="Text 5"/>
          <p:cNvSpPr/>
          <p:nvPr/>
        </p:nvSpPr>
        <p:spPr>
          <a:xfrm>
            <a:off x="947142" y="2209443"/>
            <a:ext cx="6176605" cy="998696"/>
          </a:xfrm>
          <a:prstGeom prst="rect">
            <a:avLst/>
          </a:prstGeom>
          <a:noFill/>
          <a:ln/>
        </p:spPr>
        <p:txBody>
          <a:bodyPr wrap="square" lIns="0" tIns="0" rIns="0" bIns="0" rtlCol="0" anchor="t"/>
          <a:lstStyle/>
          <a:p>
            <a:pPr algn="r" indent="0" marL="0">
              <a:lnSpc>
                <a:spcPts val="1950"/>
              </a:lnSpc>
              <a:buNone/>
            </a:pPr>
            <a:r>
              <a:rPr lang="en-US" sz="1300" dirty="0">
                <a:solidFill>
                  <a:srgbClr val="E5E0DF"/>
                </a:solidFill>
                <a:latin typeface="Inter" pitchFamily="34" charset="0"/>
                <a:ea typeface="Inter" pitchFamily="34" charset="-122"/>
                <a:cs typeface="Inter" pitchFamily="34" charset="-120"/>
              </a:rPr>
              <a:t>„Dostawca przetwarza dane Klienta wyłącznie w celu świadczenia Usług. Dostawca nie uzyskuje żadnych praw własności intelektualnej do danych Klienta. Dostawca nie wykorzystuje danych Klienta do treningu, ulepszania ani jakichkolwiek innych celów poza świadczeniem Usług dla Klienta."</a:t>
            </a:r>
            <a:endParaRPr lang="en-US" sz="1300" dirty="0"/>
          </a:p>
        </p:txBody>
      </p:sp>
      <p:sp>
        <p:nvSpPr>
          <p:cNvPr id="8" name="Shape 6"/>
          <p:cNvSpPr/>
          <p:nvPr/>
        </p:nvSpPr>
        <p:spPr>
          <a:xfrm>
            <a:off x="7338060" y="3671054"/>
            <a:ext cx="6521410" cy="1700570"/>
          </a:xfrm>
          <a:prstGeom prst="rect">
            <a:avLst/>
          </a:prstGeom>
          <a:solidFill>
            <a:srgbClr val="110080"/>
          </a:solidFill>
          <a:ln w="7620">
            <a:solidFill>
              <a:srgbClr val="2A1999"/>
            </a:solidFill>
            <a:prstDash val="solid"/>
          </a:ln>
        </p:spPr>
      </p:sp>
      <p:sp>
        <p:nvSpPr>
          <p:cNvPr id="9" name="Text 7"/>
          <p:cNvSpPr/>
          <p:nvPr/>
        </p:nvSpPr>
        <p:spPr>
          <a:xfrm>
            <a:off x="7506653" y="3847267"/>
            <a:ext cx="2475309"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Zamiast: Brak gwarancji</a:t>
            </a:r>
            <a:endParaRPr lang="en-US" sz="1650" dirty="0"/>
          </a:p>
        </p:txBody>
      </p:sp>
      <p:sp>
        <p:nvSpPr>
          <p:cNvPr id="10" name="Text 8"/>
          <p:cNvSpPr/>
          <p:nvPr/>
        </p:nvSpPr>
        <p:spPr>
          <a:xfrm>
            <a:off x="7506653" y="4196715"/>
            <a:ext cx="6176605" cy="998696"/>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„Dostawca gwarantuje, że Usługi będą spełniać parametry SLA określone w Załączniku A, w tym minimalną accuracy 92% dla przypadków użycia opisanych w Załączniku B. W przypadku nieosiągnięcia SLA Klient ma prawo do kar umownych określonych w §X."</a:t>
            </a:r>
            <a:endParaRPr lang="en-US" sz="1300" dirty="0"/>
          </a:p>
        </p:txBody>
      </p:sp>
      <p:sp>
        <p:nvSpPr>
          <p:cNvPr id="11" name="Shape 9"/>
          <p:cNvSpPr/>
          <p:nvPr/>
        </p:nvSpPr>
        <p:spPr>
          <a:xfrm>
            <a:off x="770930" y="5658326"/>
            <a:ext cx="6521410" cy="1950244"/>
          </a:xfrm>
          <a:prstGeom prst="roundRect">
            <a:avLst>
              <a:gd name="adj" fmla="val 3633"/>
            </a:avLst>
          </a:prstGeom>
          <a:solidFill>
            <a:srgbClr val="110080"/>
          </a:solidFill>
          <a:ln w="7620">
            <a:solidFill>
              <a:srgbClr val="2A1999"/>
            </a:solidFill>
            <a:prstDash val="solid"/>
          </a:ln>
        </p:spPr>
      </p:sp>
      <p:sp>
        <p:nvSpPr>
          <p:cNvPr id="12" name="Text 10"/>
          <p:cNvSpPr/>
          <p:nvPr/>
        </p:nvSpPr>
        <p:spPr>
          <a:xfrm>
            <a:off x="3871674" y="5834539"/>
            <a:ext cx="3252073" cy="263485"/>
          </a:xfrm>
          <a:prstGeom prst="rect">
            <a:avLst/>
          </a:prstGeom>
          <a:noFill/>
          <a:ln/>
        </p:spPr>
        <p:txBody>
          <a:bodyPr wrap="none" lIns="0" tIns="0" rIns="0" bIns="0" rtlCol="0" anchor="t"/>
          <a:lstStyle/>
          <a:p>
            <a:pPr algn="r"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Zamiast: Automatyczna zmiana</a:t>
            </a:r>
            <a:endParaRPr lang="en-US" sz="1650" dirty="0"/>
          </a:p>
        </p:txBody>
      </p:sp>
      <p:sp>
        <p:nvSpPr>
          <p:cNvPr id="13" name="Text 11"/>
          <p:cNvSpPr/>
          <p:nvPr/>
        </p:nvSpPr>
        <p:spPr>
          <a:xfrm>
            <a:off x="947142" y="6183987"/>
            <a:ext cx="6176605" cy="1248370"/>
          </a:xfrm>
          <a:prstGeom prst="rect">
            <a:avLst/>
          </a:prstGeom>
          <a:noFill/>
          <a:ln/>
        </p:spPr>
        <p:txBody>
          <a:bodyPr wrap="square" lIns="0" tIns="0" rIns="0" bIns="0" rtlCol="0" anchor="t"/>
          <a:lstStyle/>
          <a:p>
            <a:pPr algn="r" indent="0" marL="0">
              <a:lnSpc>
                <a:spcPts val="1950"/>
              </a:lnSpc>
              <a:buNone/>
            </a:pPr>
            <a:r>
              <a:rPr lang="en-US" sz="1300" dirty="0">
                <a:solidFill>
                  <a:srgbClr val="E5E0DF"/>
                </a:solidFill>
                <a:latin typeface="Inter" pitchFamily="34" charset="0"/>
                <a:ea typeface="Inter" pitchFamily="34" charset="-122"/>
                <a:cs typeface="Inter" pitchFamily="34" charset="-120"/>
              </a:rPr>
              <a:t>„Dostawca zobowiązuje się informować Klienta o planowanych aktualizacjach modelu z 14-dniowym wyprzedzeniem. Klient ma prawo do testowania nowej wersji w środowisku UAT przed wdrożeniem produkcyjnym. Jeśli nowa wersja nie spełnia SLA, Klient ma prawo do pozostania przy poprzedniej wersji przez okres do 90 dni."</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1993702"/>
            <a:ext cx="5963364"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Podsumowanie red flags</a:t>
            </a:r>
            <a:endParaRPr lang="en-US" sz="3900" dirty="0"/>
          </a:p>
        </p:txBody>
      </p:sp>
      <p:sp>
        <p:nvSpPr>
          <p:cNvPr id="3" name="Text 1"/>
          <p:cNvSpPr/>
          <p:nvPr/>
        </p:nvSpPr>
        <p:spPr>
          <a:xfrm>
            <a:off x="793790" y="3010614"/>
            <a:ext cx="13042821" cy="793909"/>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Jeśli w regulaminie vendora znajduje się którykolwiek z tych red flags - a prawdopodobnie znajdzie się większość - to </a:t>
            </a:r>
            <a:pPr algn="l" indent="0" marL="0">
              <a:lnSpc>
                <a:spcPts val="3100"/>
              </a:lnSpc>
              <a:buNone/>
            </a:pPr>
            <a:r>
              <a:rPr lang="en-US" sz="1950" b="1" dirty="0">
                <a:solidFill>
                  <a:srgbClr val="E5E0DF"/>
                </a:solidFill>
                <a:latin typeface="Inter" pitchFamily="34" charset="0"/>
                <a:ea typeface="Inter" pitchFamily="34" charset="-122"/>
                <a:cs typeface="Inter" pitchFamily="34" charset="-120"/>
              </a:rPr>
              <a:t>nie</a:t>
            </a:r>
            <a:pPr algn="l" indent="0" marL="0">
              <a:lnSpc>
                <a:spcPts val="3100"/>
              </a:lnSpc>
              <a:buNone/>
            </a:pPr>
            <a:r>
              <a:rPr lang="en-US" sz="1950" dirty="0">
                <a:solidFill>
                  <a:srgbClr val="E5E0DF"/>
                </a:solidFill>
                <a:latin typeface="Inter" pitchFamily="34" charset="0"/>
                <a:ea typeface="Inter" pitchFamily="34" charset="-122"/>
                <a:cs typeface="Inter" pitchFamily="34" charset="-120"/>
              </a:rPr>
              <a:t> znaczy, że musicie zrezygnować z zakupu. To znaczy, że musicie negocjować.</a:t>
            </a:r>
            <a:endParaRPr lang="en-US" sz="1950" dirty="0"/>
          </a:p>
        </p:txBody>
      </p:sp>
      <p:sp>
        <p:nvSpPr>
          <p:cNvPr id="4" name="Text 2"/>
          <p:cNvSpPr/>
          <p:nvPr/>
        </p:nvSpPr>
        <p:spPr>
          <a:xfrm>
            <a:off x="793790" y="4027765"/>
            <a:ext cx="13042821" cy="1190863"/>
          </a:xfrm>
          <a:prstGeom prst="rect">
            <a:avLst/>
          </a:prstGeom>
          <a:noFill/>
          <a:ln/>
        </p:spPr>
        <p:txBody>
          <a:bodyPr wrap="square" lIns="0" tIns="0" rIns="0" bIns="0" rtlCol="0" anchor="t"/>
          <a:lstStyle/>
          <a:p>
            <a:pPr algn="l" indent="0" marL="0">
              <a:lnSpc>
                <a:spcPts val="3100"/>
              </a:lnSpc>
              <a:buNone/>
            </a:pPr>
            <a:r>
              <a:rPr lang="en-US" sz="1950" dirty="0">
                <a:solidFill>
                  <a:srgbClr val="E5E0DF"/>
                </a:solidFill>
                <a:latin typeface="Inter" pitchFamily="34" charset="0"/>
                <a:ea typeface="Inter" pitchFamily="34" charset="-122"/>
                <a:cs typeface="Inter" pitchFamily="34" charset="-120"/>
              </a:rPr>
              <a:t>Większość regulaminów narzędzi AI to umowy adhezyjne - „bierzesz albo zostawiasz". Ale w wersji enterprise prawie zawsze można negocjować. Szczególnie jeśli jesteście dużym klientem, jeśli kupujecie licencje dla setek użytkowników, jeśli jesteście w regulowanej branży (finanse, medycyna, sektor publiczny).</a:t>
            </a:r>
            <a:endParaRPr lang="en-US" sz="1950" dirty="0"/>
          </a:p>
        </p:txBody>
      </p:sp>
      <p:sp>
        <p:nvSpPr>
          <p:cNvPr id="5" name="Text 3"/>
          <p:cNvSpPr/>
          <p:nvPr/>
        </p:nvSpPr>
        <p:spPr>
          <a:xfrm>
            <a:off x="793790" y="5441871"/>
            <a:ext cx="13042821" cy="793909"/>
          </a:xfrm>
          <a:prstGeom prst="rect">
            <a:avLst/>
          </a:prstGeom>
          <a:noFill/>
          <a:ln/>
        </p:spPr>
        <p:txBody>
          <a:bodyPr wrap="square" lIns="0" tIns="0" rIns="0" bIns="0" rtlCol="0" anchor="t"/>
          <a:lstStyle/>
          <a:p>
            <a:pPr algn="l" indent="0" marL="0">
              <a:lnSpc>
                <a:spcPts val="3100"/>
              </a:lnSpc>
              <a:buNone/>
            </a:pPr>
            <a:r>
              <a:rPr lang="en-US" sz="1950" b="1" dirty="0">
                <a:solidFill>
                  <a:srgbClr val="E5E0DF"/>
                </a:solidFill>
                <a:latin typeface="Inter" pitchFamily="34" charset="0"/>
                <a:ea typeface="Inter" pitchFamily="34" charset="-122"/>
                <a:cs typeface="Inter" pitchFamily="34" charset="-120"/>
              </a:rPr>
              <a:t>Kluczowa zasada:</a:t>
            </a:r>
            <a:pPr algn="l" indent="0" marL="0">
              <a:lnSpc>
                <a:spcPts val="3100"/>
              </a:lnSpc>
              <a:buNone/>
            </a:pPr>
            <a:r>
              <a:rPr lang="en-US" sz="1950" dirty="0">
                <a:solidFill>
                  <a:srgbClr val="E5E0DF"/>
                </a:solidFill>
                <a:latin typeface="Inter" pitchFamily="34" charset="0"/>
                <a:ea typeface="Inter" pitchFamily="34" charset="-122"/>
                <a:cs typeface="Inter" pitchFamily="34" charset="-120"/>
              </a:rPr>
              <a:t> Negocjować trzeba wiedzieć co. Dlatego lista 10 pytań i lista red flags to nie są ciekawostki - to są narzędzia pracy.</a:t>
            </a:r>
            <a:endParaRPr lang="en-US" sz="1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1945481"/>
            <a:ext cx="8220670"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Mini-warsztat: Kupujecie czy nie?</a:t>
            </a:r>
            <a:endParaRPr lang="en-US" sz="3900" dirty="0"/>
          </a:p>
        </p:txBody>
      </p:sp>
      <p:sp>
        <p:nvSpPr>
          <p:cNvPr id="3" name="Text 1"/>
          <p:cNvSpPr/>
          <p:nvPr/>
        </p:nvSpPr>
        <p:spPr>
          <a:xfrm>
            <a:off x="793790" y="2644854"/>
            <a:ext cx="2570917"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Ćwiczenie decyzyjne</a:t>
            </a:r>
            <a:endParaRPr lang="en-US" sz="1950" dirty="0"/>
          </a:p>
        </p:txBody>
      </p:sp>
      <p:sp>
        <p:nvSpPr>
          <p:cNvPr id="4" name="Text 2"/>
          <p:cNvSpPr/>
          <p:nvPr/>
        </p:nvSpPr>
        <p:spPr>
          <a:xfrm>
            <a:off x="793790" y="325266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Przejdziemy do interakcji. Dostaniecie opis sytuacji i fragment dokumentacji. Waszym zadaniem jest podjąć decyzję: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kupujemy czy nie kupujemy</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I uzasadnić dlaczego.</a:t>
            </a:r>
            <a:endParaRPr lang="en-US" sz="1550" dirty="0"/>
          </a:p>
        </p:txBody>
      </p:sp>
      <p:sp>
        <p:nvSpPr>
          <p:cNvPr id="5" name="Text 3"/>
          <p:cNvSpPr/>
          <p:nvPr/>
        </p:nvSpPr>
        <p:spPr>
          <a:xfrm>
            <a:off x="793790" y="4110990"/>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Macie 15 minut:</a:t>
            </a:r>
            <a:endParaRPr lang="en-US" sz="1550" dirty="0"/>
          </a:p>
        </p:txBody>
      </p:sp>
      <p:sp>
        <p:nvSpPr>
          <p:cNvPr id="6" name="Text 4"/>
          <p:cNvSpPr/>
          <p:nvPr/>
        </p:nvSpPr>
        <p:spPr>
          <a:xfrm>
            <a:off x="793790" y="4651772"/>
            <a:ext cx="13042821" cy="952677"/>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5 minut na indywidualne przeczytanie materiału i refleksję</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5 minut na dyskusję w grupie (grupy 4-5 osób)</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5 minut na prezentację wniosków i omówienie z prowadzącym</a:t>
            </a:r>
            <a:endParaRPr lang="en-US" sz="1550" dirty="0"/>
          </a:p>
        </p:txBody>
      </p:sp>
      <p:sp>
        <p:nvSpPr>
          <p:cNvPr id="7" name="Text 5"/>
          <p:cNvSpPr/>
          <p:nvPr/>
        </p:nvSpPr>
        <p:spPr>
          <a:xfrm>
            <a:off x="793790" y="582769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Na kolejnych slajdach znajdziecie opis scenariusza i materiały do analizy.</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93790" y="1697355"/>
            <a:ext cx="5975985"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Scenariusz warsztatowy</a:t>
            </a:r>
            <a:endParaRPr lang="en-US" sz="3900" dirty="0"/>
          </a:p>
        </p:txBody>
      </p:sp>
      <p:sp>
        <p:nvSpPr>
          <p:cNvPr id="3" name="Text 1"/>
          <p:cNvSpPr/>
          <p:nvPr/>
        </p:nvSpPr>
        <p:spPr>
          <a:xfrm>
            <a:off x="793790" y="2396728"/>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Kontekst biznesowy</a:t>
            </a:r>
            <a:endParaRPr lang="en-US" sz="1950" dirty="0"/>
          </a:p>
        </p:txBody>
      </p:sp>
      <p:sp>
        <p:nvSpPr>
          <p:cNvPr id="4" name="Text 2"/>
          <p:cNvSpPr/>
          <p:nvPr/>
        </p:nvSpPr>
        <p:spPr>
          <a:xfrm>
            <a:off x="793790" y="3004542"/>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Wasza firma: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Bank komercyjny obsługujący klientów detalicznych i małe firmy. Około 500 000 aktywnych klientów. Dział ryzyka kredytowego ocenia rocznie około 50 000 wniosków kredytowych (kredyty hipoteczne, konsumpcyjne, dla małych firm).</a:t>
            </a:r>
            <a:endParaRPr lang="en-US" sz="1550" dirty="0"/>
          </a:p>
        </p:txBody>
      </p:sp>
      <p:sp>
        <p:nvSpPr>
          <p:cNvPr id="5" name="Text 3"/>
          <p:cNvSpPr/>
          <p:nvPr/>
        </p:nvSpPr>
        <p:spPr>
          <a:xfrm>
            <a:off x="793790" y="3862864"/>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Problem biznesowy:</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Obecny proces oceny ryzyka jest ręczny i czasochłonny. Analityk kredytowy potrzebuje średnio 45 minut na ocenę jednego wniosku. Chcecie przyspieszyć proces i zwiększyć spójność decyzji.</a:t>
            </a:r>
            <a:endParaRPr lang="en-US" sz="1550" dirty="0"/>
          </a:p>
        </p:txBody>
      </p:sp>
      <p:sp>
        <p:nvSpPr>
          <p:cNvPr id="6" name="Text 4"/>
          <p:cNvSpPr/>
          <p:nvPr/>
        </p:nvSpPr>
        <p:spPr>
          <a:xfrm>
            <a:off x="793790" y="4721185"/>
            <a:ext cx="13042821" cy="95261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Proponowane rozwiązanie: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Vendor oferuje narzędzie AI do wsparcia oceny ryzyka kredytowego. System analizuje wniosek, dane finansowe klienta, historię kredytową i generuje rekomendację: „przyznać kredyt", „odrzucić", „wymaga dodatkowej analizy". Vendor twierdzi, że system skróci czas oceny do 10 minut i zwiększy accuracy do 96%.</a:t>
            </a:r>
            <a:endParaRPr lang="en-US" sz="1550" dirty="0"/>
          </a:p>
        </p:txBody>
      </p:sp>
      <p:sp>
        <p:nvSpPr>
          <p:cNvPr id="7" name="Text 5"/>
          <p:cNvSpPr/>
          <p:nvPr/>
        </p:nvSpPr>
        <p:spPr>
          <a:xfrm>
            <a:off x="793790" y="5897047"/>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Vendor:</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Europejski startup z siedzibą w Amsterdamie, 4 lata na rynku, 30 klientów w Europie (głównie Holandia, Niemcy, Austria). Produkt dostępny jako SaaS. Cena atrakcyjna — około 40% taniej niż rozwiązanie konkurencyjne. Prezes banku chce wdrożyć w Q3 2026.</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815578"/>
            <a:ext cx="8057674"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Materiały do analizy - Model card</a:t>
            </a:r>
            <a:endParaRPr lang="en-US" sz="3900" dirty="0"/>
          </a:p>
        </p:txBody>
      </p:sp>
      <p:sp>
        <p:nvSpPr>
          <p:cNvPr id="3" name="Text 1"/>
          <p:cNvSpPr/>
          <p:nvPr/>
        </p:nvSpPr>
        <p:spPr>
          <a:xfrm>
            <a:off x="1091446" y="2055733"/>
            <a:ext cx="12745164"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Credit Risk Assessment Model v2.3 - Technical Documentation (fragment)</a:t>
            </a:r>
            <a:endParaRPr lang="en-US" sz="1550" dirty="0"/>
          </a:p>
        </p:txBody>
      </p:sp>
      <p:sp>
        <p:nvSpPr>
          <p:cNvPr id="4" name="Shape 2"/>
          <p:cNvSpPr/>
          <p:nvPr/>
        </p:nvSpPr>
        <p:spPr>
          <a:xfrm>
            <a:off x="793790" y="1832491"/>
            <a:ext cx="22860" cy="764024"/>
          </a:xfrm>
          <a:prstGeom prst="rect">
            <a:avLst/>
          </a:prstGeom>
          <a:solidFill>
            <a:srgbClr val="2B0AFF"/>
          </a:solidFill>
          <a:ln/>
        </p:spPr>
      </p:sp>
      <p:sp>
        <p:nvSpPr>
          <p:cNvPr id="5" name="Text 3"/>
          <p:cNvSpPr/>
          <p:nvPr/>
        </p:nvSpPr>
        <p:spPr>
          <a:xfrm>
            <a:off x="793790" y="2819757"/>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Training data: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Model was trained on 2.4M credit applications from Dutch, German and Austrian financial institutions, covering period 2018-2024. Data includes demographic information, financial statements, credit history, employment records, and final credit decisions.</a:t>
            </a:r>
            <a:endParaRPr lang="en-US" sz="1550" dirty="0"/>
          </a:p>
        </p:txBody>
      </p:sp>
      <p:sp>
        <p:nvSpPr>
          <p:cNvPr id="6" name="Text 4"/>
          <p:cNvSpPr/>
          <p:nvPr/>
        </p:nvSpPr>
        <p:spPr>
          <a:xfrm>
            <a:off x="793790" y="3678079"/>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Model architecture: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Gradient boosted decision trees (XGBoost) with 120 features. Model was validated on held-out test set of 400K applications.</a:t>
            </a:r>
            <a:endParaRPr lang="en-US" sz="1550" dirty="0"/>
          </a:p>
        </p:txBody>
      </p:sp>
      <p:sp>
        <p:nvSpPr>
          <p:cNvPr id="7" name="Text 5"/>
          <p:cNvSpPr/>
          <p:nvPr/>
        </p:nvSpPr>
        <p:spPr>
          <a:xfrm>
            <a:off x="793790" y="4536400"/>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Performance metrics (test set):</a:t>
            </a:r>
            <a:endParaRPr lang="en-US" sz="1550" dirty="0"/>
          </a:p>
        </p:txBody>
      </p:sp>
      <p:sp>
        <p:nvSpPr>
          <p:cNvPr id="8" name="Text 6"/>
          <p:cNvSpPr/>
          <p:nvPr/>
        </p:nvSpPr>
        <p:spPr>
          <a:xfrm>
            <a:off x="793790" y="5077182"/>
            <a:ext cx="13042821" cy="1270236"/>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Overall accuracy: 96.2%</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Precision (approved applications): 94.1%</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Recall (approved applications): 97.8%</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AUC-ROC: 0.982</a:t>
            </a:r>
            <a:endParaRPr lang="en-US" sz="1550" dirty="0"/>
          </a:p>
        </p:txBody>
      </p:sp>
      <p:sp>
        <p:nvSpPr>
          <p:cNvPr id="9" name="Text 7"/>
          <p:cNvSpPr/>
          <p:nvPr/>
        </p:nvSpPr>
        <p:spPr>
          <a:xfrm>
            <a:off x="793790" y="6570660"/>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Known limitations:</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Model performance may vary for markets outside NL/DE/AT due to differences in credit scoring systems, regulatory frameworks, and economic conditions. Model has not been validated on Polish market data.</a:t>
            </a:r>
            <a:endParaRPr lang="en-US" sz="15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93790" y="1348859"/>
            <a:ext cx="10513338"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Materiały do analizy - Fragment regulaminu</a:t>
            </a:r>
            <a:endParaRPr lang="en-US" sz="3900" dirty="0"/>
          </a:p>
        </p:txBody>
      </p:sp>
      <p:sp>
        <p:nvSpPr>
          <p:cNvPr id="3" name="Text 1"/>
          <p:cNvSpPr/>
          <p:nvPr/>
        </p:nvSpPr>
        <p:spPr>
          <a:xfrm>
            <a:off x="1091446" y="2589014"/>
            <a:ext cx="12745164"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Terms of Service - Credit Risk AI Platform (fragmenty)</a:t>
            </a:r>
            <a:endParaRPr lang="en-US" sz="1550" dirty="0"/>
          </a:p>
        </p:txBody>
      </p:sp>
      <p:sp>
        <p:nvSpPr>
          <p:cNvPr id="4" name="Shape 2"/>
          <p:cNvSpPr/>
          <p:nvPr/>
        </p:nvSpPr>
        <p:spPr>
          <a:xfrm>
            <a:off x="793790" y="2365772"/>
            <a:ext cx="22860" cy="764024"/>
          </a:xfrm>
          <a:prstGeom prst="rect">
            <a:avLst/>
          </a:prstGeom>
          <a:solidFill>
            <a:srgbClr val="2B0AFF"/>
          </a:solidFill>
          <a:ln/>
        </p:spPr>
      </p:sp>
      <p:sp>
        <p:nvSpPr>
          <p:cNvPr id="5" name="Text 3"/>
          <p:cNvSpPr/>
          <p:nvPr/>
        </p:nvSpPr>
        <p:spPr>
          <a:xfrm>
            <a:off x="793790" y="3353038"/>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§4.2 Data Processing:</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Customer data is processed on servers located in EU (Netherlands, Germany). Provider may engage sub-processors located in USA for certain processing activities. List of sub-processors is available upon request.</a:t>
            </a:r>
            <a:endParaRPr lang="en-US" sz="1550" dirty="0"/>
          </a:p>
        </p:txBody>
      </p:sp>
      <p:sp>
        <p:nvSpPr>
          <p:cNvPr id="6" name="Text 4"/>
          <p:cNvSpPr/>
          <p:nvPr/>
        </p:nvSpPr>
        <p:spPr>
          <a:xfrm>
            <a:off x="793790" y="4211360"/>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§4.5 Use of Customer Data: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Provider may use Customer's input data (credit applications, financial data, decisions) to improve, train and enhance the Services, unless Customer opts out by submitting written request to support@vendor.com.</a:t>
            </a:r>
            <a:endParaRPr lang="en-US" sz="1550" dirty="0"/>
          </a:p>
        </p:txBody>
      </p:sp>
      <p:sp>
        <p:nvSpPr>
          <p:cNvPr id="7" name="Text 5"/>
          <p:cNvSpPr/>
          <p:nvPr/>
        </p:nvSpPr>
        <p:spPr>
          <a:xfrm>
            <a:off x="793790" y="5069681"/>
            <a:ext cx="13042821" cy="95261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§7.1 Warranties:</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Provider does not warrant that the Services will be error-free, uninterrupted, or will meet Customer's requirements. Provider does not guarantee accuracy, reliability or completeness of any outputs generated by the Services. Customer is solely responsible for validation and use of any outputs.</a:t>
            </a:r>
            <a:endParaRPr lang="en-US" sz="1550" dirty="0"/>
          </a:p>
        </p:txBody>
      </p:sp>
      <p:sp>
        <p:nvSpPr>
          <p:cNvPr id="8" name="Text 6"/>
          <p:cNvSpPr/>
          <p:nvPr/>
        </p:nvSpPr>
        <p:spPr>
          <a:xfrm>
            <a:off x="793790" y="6245543"/>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§9.3 Regulatory Compliance: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Customer acknowledges that it is solely responsible for determining whether the Services constitute a high-risk AI system under applicable regulations and for compliance with all applicable laws.</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93790" y="579953"/>
            <a:ext cx="10788729"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Materiały do analizy - Informacja od vendora</a:t>
            </a:r>
            <a:endParaRPr lang="en-US" sz="3900" dirty="0"/>
          </a:p>
        </p:txBody>
      </p:sp>
      <p:sp>
        <p:nvSpPr>
          <p:cNvPr id="3" name="Text 1"/>
          <p:cNvSpPr/>
          <p:nvPr/>
        </p:nvSpPr>
        <p:spPr>
          <a:xfrm>
            <a:off x="1091446" y="1820108"/>
            <a:ext cx="12745164"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Email z działu sprzedaży vendora (fragment)</a:t>
            </a:r>
            <a:endParaRPr lang="en-US" sz="1550" dirty="0"/>
          </a:p>
        </p:txBody>
      </p:sp>
      <p:sp>
        <p:nvSpPr>
          <p:cNvPr id="4" name="Shape 2"/>
          <p:cNvSpPr/>
          <p:nvPr/>
        </p:nvSpPr>
        <p:spPr>
          <a:xfrm>
            <a:off x="793790" y="1596866"/>
            <a:ext cx="22860" cy="764024"/>
          </a:xfrm>
          <a:prstGeom prst="rect">
            <a:avLst/>
          </a:prstGeom>
          <a:solidFill>
            <a:srgbClr val="2B0AFF"/>
          </a:solidFill>
          <a:ln/>
        </p:spPr>
      </p:sp>
      <p:sp>
        <p:nvSpPr>
          <p:cNvPr id="5" name="Text 3"/>
          <p:cNvSpPr/>
          <p:nvPr/>
        </p:nvSpPr>
        <p:spPr>
          <a:xfrm>
            <a:off x="793790" y="258413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Re: Classification under EU AI Act</a:t>
            </a:r>
            <a:endParaRPr lang="en-US" sz="1550" dirty="0"/>
          </a:p>
        </p:txBody>
      </p:sp>
      <p:sp>
        <p:nvSpPr>
          <p:cNvPr id="6" name="Text 4"/>
          <p:cNvSpPr/>
          <p:nvPr/>
        </p:nvSpPr>
        <p:spPr>
          <a:xfrm>
            <a:off x="793790" y="3124914"/>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Thank you for your question regarding AI Act classification. Our Credit Risk Assessment Platform is designed as a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decision support tool</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not a decision-making system. The system provides recommendations that are reviewed and approved by your credit analysts before final decision is made.</a:t>
            </a:r>
            <a:endParaRPr lang="en-US" sz="1550" dirty="0"/>
          </a:p>
        </p:txBody>
      </p:sp>
      <p:sp>
        <p:nvSpPr>
          <p:cNvPr id="7" name="Text 5"/>
          <p:cNvSpPr/>
          <p:nvPr/>
        </p:nvSpPr>
        <p:spPr>
          <a:xfrm>
            <a:off x="793790" y="4300776"/>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Based on our legal analysis, the system does not fall under high-risk category because:</a:t>
            </a:r>
            <a:endParaRPr lang="en-US" sz="1550" dirty="0"/>
          </a:p>
        </p:txBody>
      </p:sp>
      <p:sp>
        <p:nvSpPr>
          <p:cNvPr id="8" name="Text 6"/>
          <p:cNvSpPr/>
          <p:nvPr/>
        </p:nvSpPr>
        <p:spPr>
          <a:xfrm>
            <a:off x="793790" y="4841558"/>
            <a:ext cx="13042821" cy="952677"/>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1"/>
            </a:pPr>
            <a:r>
              <a:rPr lang="en-US" sz="1550" dirty="0">
                <a:solidFill>
                  <a:srgbClr val="E5E0DF"/>
                </a:solidFill>
                <a:latin typeface="Inter" pitchFamily="34" charset="0"/>
                <a:ea typeface="Inter" pitchFamily="34" charset="-122"/>
                <a:cs typeface="Inter" pitchFamily="34" charset="-120"/>
              </a:rPr>
              <a:t>It supports human decision-making rather than making autonomous decisions</a:t>
            </a:r>
            <a:endParaRPr lang="en-US" sz="1550" dirty="0"/>
          </a:p>
          <a:p>
            <a:pPr algn="l" marL="342900" indent="-342900">
              <a:lnSpc>
                <a:spcPts val="2500"/>
              </a:lnSpc>
              <a:buSzPct val="100000"/>
              <a:buFont typeface="+mj-lt"/>
              <a:buAutoNum type="arabicPeriod" startAt="2"/>
            </a:pPr>
            <a:r>
              <a:rPr lang="en-US" sz="1550" dirty="0">
                <a:solidFill>
                  <a:srgbClr val="E5E0DF"/>
                </a:solidFill>
                <a:latin typeface="Inter" pitchFamily="34" charset="0"/>
                <a:ea typeface="Inter" pitchFamily="34" charset="-122"/>
                <a:cs typeface="Inter" pitchFamily="34" charset="-120"/>
              </a:rPr>
              <a:t>Final credit decision remains with your staff</a:t>
            </a:r>
            <a:endParaRPr lang="en-US" sz="1550" dirty="0"/>
          </a:p>
          <a:p>
            <a:pPr algn="l" marL="342900" indent="-342900">
              <a:lnSpc>
                <a:spcPts val="2500"/>
              </a:lnSpc>
              <a:buSzPct val="100000"/>
              <a:buFont typeface="+mj-lt"/>
              <a:buAutoNum type="arabicPeriod" startAt="3"/>
            </a:pPr>
            <a:r>
              <a:rPr lang="en-US" sz="1550" dirty="0">
                <a:solidFill>
                  <a:srgbClr val="E5E0DF"/>
                </a:solidFill>
                <a:latin typeface="Inter" pitchFamily="34" charset="0"/>
                <a:ea typeface="Inter" pitchFamily="34" charset="-122"/>
                <a:cs typeface="Inter" pitchFamily="34" charset="-120"/>
              </a:rPr>
              <a:t>The system does not have direct legal effect on individuals</a:t>
            </a:r>
            <a:endParaRPr lang="en-US" sz="1550" dirty="0"/>
          </a:p>
        </p:txBody>
      </p:sp>
      <p:sp>
        <p:nvSpPr>
          <p:cNvPr id="9" name="Text 7"/>
          <p:cNvSpPr/>
          <p:nvPr/>
        </p:nvSpPr>
        <p:spPr>
          <a:xfrm>
            <a:off x="793790" y="601747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Therefore, we classify the system as limited-risk under AI Act. However, we recommend that you consult with your legal team regarding classification in your specific context of use.</a:t>
            </a:r>
            <a:endParaRPr lang="en-US" sz="1550" dirty="0"/>
          </a:p>
        </p:txBody>
      </p:sp>
      <p:sp>
        <p:nvSpPr>
          <p:cNvPr id="10" name="Text 8"/>
          <p:cNvSpPr/>
          <p:nvPr/>
        </p:nvSpPr>
        <p:spPr>
          <a:xfrm>
            <a:off x="793790" y="687579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Please note that our standard Terms of Service apply, and responsibility for regulatory compliance remains with the Customer as the deployer of the system.</a:t>
            </a:r>
            <a:endParaRPr lang="en-US" sz="1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93790" y="1006316"/>
            <a:ext cx="4752856" cy="589121"/>
          </a:xfrm>
          <a:prstGeom prst="rect">
            <a:avLst/>
          </a:prstGeom>
          <a:noFill/>
          <a:ln/>
        </p:spPr>
        <p:txBody>
          <a:bodyPr wrap="none" lIns="0" tIns="0" rIns="0" bIns="0" rtlCol="0" anchor="t"/>
          <a:lstStyle/>
          <a:p>
            <a:pPr algn="l" indent="0" marL="0">
              <a:lnSpc>
                <a:spcPts val="4600"/>
              </a:lnSpc>
              <a:buNone/>
            </a:pPr>
            <a:r>
              <a:rPr lang="en-US" sz="3700" b="1" dirty="0">
                <a:solidFill>
                  <a:srgbClr val="FFFFFF"/>
                </a:solidFill>
                <a:latin typeface="Inter Bold" pitchFamily="34" charset="0"/>
                <a:ea typeface="Inter Bold" pitchFamily="34" charset="-122"/>
                <a:cs typeface="Inter Bold" pitchFamily="34" charset="-120"/>
              </a:rPr>
              <a:t>Pytania do zespołów</a:t>
            </a:r>
            <a:endParaRPr lang="en-US" sz="3700" dirty="0"/>
          </a:p>
        </p:txBody>
      </p:sp>
      <p:sp>
        <p:nvSpPr>
          <p:cNvPr id="3" name="Text 1"/>
          <p:cNvSpPr/>
          <p:nvPr/>
        </p:nvSpPr>
        <p:spPr>
          <a:xfrm>
            <a:off x="793790" y="1666994"/>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Inter Bold" pitchFamily="34" charset="0"/>
                <a:ea typeface="Inter Bold" pitchFamily="34" charset="-122"/>
                <a:cs typeface="Inter Bold" pitchFamily="34" charset="-120"/>
              </a:rPr>
              <a:t>Zadanie dla grup</a:t>
            </a:r>
            <a:endParaRPr lang="en-US" sz="1850" dirty="0"/>
          </a:p>
        </p:txBody>
      </p:sp>
      <p:sp>
        <p:nvSpPr>
          <p:cNvPr id="4" name="Shape 2"/>
          <p:cNvSpPr/>
          <p:nvPr/>
        </p:nvSpPr>
        <p:spPr>
          <a:xfrm>
            <a:off x="793790" y="2513052"/>
            <a:ext cx="3126343" cy="3438882"/>
          </a:xfrm>
          <a:prstGeom prst="roundRect">
            <a:avLst>
              <a:gd name="adj" fmla="val 3510"/>
            </a:avLst>
          </a:prstGeom>
          <a:solidFill>
            <a:srgbClr val="272525"/>
          </a:solidFill>
          <a:ln/>
        </p:spPr>
      </p:sp>
      <p:sp>
        <p:nvSpPr>
          <p:cNvPr id="5" name="Shape 3"/>
          <p:cNvSpPr/>
          <p:nvPr/>
        </p:nvSpPr>
        <p:spPr>
          <a:xfrm>
            <a:off x="793790" y="2490192"/>
            <a:ext cx="3126343" cy="91440"/>
          </a:xfrm>
          <a:prstGeom prst="roundRect">
            <a:avLst>
              <a:gd name="adj" fmla="val 86605"/>
            </a:avLst>
          </a:prstGeom>
          <a:solidFill>
            <a:srgbClr val="2B0AFF"/>
          </a:solidFill>
          <a:ln/>
        </p:spPr>
      </p:sp>
      <p:sp>
        <p:nvSpPr>
          <p:cNvPr id="6" name="Shape 4"/>
          <p:cNvSpPr/>
          <p:nvPr/>
        </p:nvSpPr>
        <p:spPr>
          <a:xfrm>
            <a:off x="2074188" y="2230279"/>
            <a:ext cx="565547" cy="565547"/>
          </a:xfrm>
          <a:prstGeom prst="roundRect">
            <a:avLst>
              <a:gd name="adj" fmla="val 161684"/>
            </a:avLst>
          </a:prstGeom>
          <a:solidFill>
            <a:srgbClr val="2B0AFF"/>
          </a:solidFill>
          <a:ln/>
        </p:spPr>
      </p:sp>
      <p:sp>
        <p:nvSpPr>
          <p:cNvPr id="7" name="Text 5"/>
          <p:cNvSpPr/>
          <p:nvPr/>
        </p:nvSpPr>
        <p:spPr>
          <a:xfrm>
            <a:off x="2243852" y="2371606"/>
            <a:ext cx="226219" cy="282773"/>
          </a:xfrm>
          <a:prstGeom prst="rect">
            <a:avLst/>
          </a:prstGeom>
          <a:noFill/>
          <a:ln/>
        </p:spPr>
        <p:txBody>
          <a:bodyPr wrap="none" lIns="0" tIns="0" rIns="0" bIns="0" rtlCol="0" anchor="t"/>
          <a:lstStyle/>
          <a:p>
            <a:pPr algn="l" indent="0" marL="0">
              <a:lnSpc>
                <a:spcPts val="2750"/>
              </a:lnSpc>
              <a:buNone/>
            </a:pPr>
            <a:r>
              <a:rPr lang="en-US" sz="1750" b="1" dirty="0">
                <a:solidFill>
                  <a:srgbClr val="FFFFFF"/>
                </a:solidFill>
                <a:latin typeface="Inter Bold" pitchFamily="34" charset="0"/>
                <a:ea typeface="Inter Bold" pitchFamily="34" charset="-122"/>
                <a:cs typeface="Inter Bold" pitchFamily="34" charset="-120"/>
              </a:rPr>
              <a:t>1</a:t>
            </a:r>
            <a:endParaRPr lang="en-US" sz="1750" dirty="0"/>
          </a:p>
        </p:txBody>
      </p:sp>
      <p:sp>
        <p:nvSpPr>
          <p:cNvPr id="8" name="Text 6"/>
          <p:cNvSpPr/>
          <p:nvPr/>
        </p:nvSpPr>
        <p:spPr>
          <a:xfrm>
            <a:off x="1005126" y="2984421"/>
            <a:ext cx="2703671" cy="589359"/>
          </a:xfrm>
          <a:prstGeom prst="rect">
            <a:avLst/>
          </a:prstGeom>
          <a:noFill/>
          <a:ln/>
        </p:spPr>
        <p:txBody>
          <a:bodyPr wrap="square" lIns="0" tIns="0" rIns="0" bIns="0" rtlCol="0" anchor="t"/>
          <a:lstStyle/>
          <a:p>
            <a:pPr algn="l" indent="0" marL="0">
              <a:lnSpc>
                <a:spcPts val="2300"/>
              </a:lnSpc>
              <a:buNone/>
            </a:pPr>
            <a:r>
              <a:rPr lang="en-US" sz="1850" b="1" dirty="0">
                <a:solidFill>
                  <a:srgbClr val="E5E0DF"/>
                </a:solidFill>
                <a:latin typeface="Inter Bold" pitchFamily="34" charset="0"/>
                <a:ea typeface="Inter Bold" pitchFamily="34" charset="-122"/>
                <a:cs typeface="Inter Bold" pitchFamily="34" charset="-120"/>
              </a:rPr>
              <a:t>Czy to jest system high-risk pod AI Act?</a:t>
            </a:r>
            <a:endParaRPr lang="en-US" sz="1850" dirty="0"/>
          </a:p>
        </p:txBody>
      </p:sp>
      <p:sp>
        <p:nvSpPr>
          <p:cNvPr id="9" name="Text 7"/>
          <p:cNvSpPr/>
          <p:nvPr/>
        </p:nvSpPr>
        <p:spPr>
          <a:xfrm>
            <a:off x="1005126" y="3681174"/>
            <a:ext cx="2703671" cy="2059424"/>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Uzasadnijcie odpowiedź odwołując się do konkretnych przepisów Aneksu III AI Act. Czy zgadzacie się z opinią vendora, że to jest „decision support tool" który nie podlega wysokim wymogom?</a:t>
            </a:r>
            <a:endParaRPr lang="en-US" sz="1450" dirty="0"/>
          </a:p>
        </p:txBody>
      </p:sp>
      <p:sp>
        <p:nvSpPr>
          <p:cNvPr id="10" name="Shape 8"/>
          <p:cNvSpPr/>
          <p:nvPr/>
        </p:nvSpPr>
        <p:spPr>
          <a:xfrm>
            <a:off x="4099203" y="2513052"/>
            <a:ext cx="3126462" cy="3438882"/>
          </a:xfrm>
          <a:prstGeom prst="roundRect">
            <a:avLst>
              <a:gd name="adj" fmla="val 3510"/>
            </a:avLst>
          </a:prstGeom>
          <a:solidFill>
            <a:srgbClr val="272525"/>
          </a:solidFill>
          <a:ln/>
        </p:spPr>
      </p:sp>
      <p:sp>
        <p:nvSpPr>
          <p:cNvPr id="11" name="Shape 9"/>
          <p:cNvSpPr/>
          <p:nvPr/>
        </p:nvSpPr>
        <p:spPr>
          <a:xfrm>
            <a:off x="4099203" y="2490192"/>
            <a:ext cx="3126462" cy="91440"/>
          </a:xfrm>
          <a:prstGeom prst="roundRect">
            <a:avLst>
              <a:gd name="adj" fmla="val 86605"/>
            </a:avLst>
          </a:prstGeom>
          <a:solidFill>
            <a:srgbClr val="2B0AFF"/>
          </a:solidFill>
          <a:ln/>
        </p:spPr>
      </p:sp>
      <p:sp>
        <p:nvSpPr>
          <p:cNvPr id="12" name="Shape 10"/>
          <p:cNvSpPr/>
          <p:nvPr/>
        </p:nvSpPr>
        <p:spPr>
          <a:xfrm>
            <a:off x="5379601" y="2230279"/>
            <a:ext cx="565547" cy="565547"/>
          </a:xfrm>
          <a:prstGeom prst="roundRect">
            <a:avLst>
              <a:gd name="adj" fmla="val 161684"/>
            </a:avLst>
          </a:prstGeom>
          <a:solidFill>
            <a:srgbClr val="2B0AFF"/>
          </a:solidFill>
          <a:ln/>
        </p:spPr>
      </p:sp>
      <p:sp>
        <p:nvSpPr>
          <p:cNvPr id="13" name="Text 11"/>
          <p:cNvSpPr/>
          <p:nvPr/>
        </p:nvSpPr>
        <p:spPr>
          <a:xfrm>
            <a:off x="5549265" y="2371606"/>
            <a:ext cx="226219" cy="282773"/>
          </a:xfrm>
          <a:prstGeom prst="rect">
            <a:avLst/>
          </a:prstGeom>
          <a:noFill/>
          <a:ln/>
        </p:spPr>
        <p:txBody>
          <a:bodyPr wrap="none" lIns="0" tIns="0" rIns="0" bIns="0" rtlCol="0" anchor="t"/>
          <a:lstStyle/>
          <a:p>
            <a:pPr algn="l" indent="0" marL="0">
              <a:lnSpc>
                <a:spcPts val="2750"/>
              </a:lnSpc>
              <a:buNone/>
            </a:pPr>
            <a:r>
              <a:rPr lang="en-US" sz="1750" b="1" dirty="0">
                <a:solidFill>
                  <a:srgbClr val="FFFFFF"/>
                </a:solidFill>
                <a:latin typeface="Inter Bold" pitchFamily="34" charset="0"/>
                <a:ea typeface="Inter Bold" pitchFamily="34" charset="-122"/>
                <a:cs typeface="Inter Bold" pitchFamily="34" charset="-120"/>
              </a:rPr>
              <a:t>2</a:t>
            </a:r>
            <a:endParaRPr lang="en-US" sz="1750" dirty="0"/>
          </a:p>
        </p:txBody>
      </p:sp>
      <p:sp>
        <p:nvSpPr>
          <p:cNvPr id="14" name="Text 12"/>
          <p:cNvSpPr/>
          <p:nvPr/>
        </p:nvSpPr>
        <p:spPr>
          <a:xfrm>
            <a:off x="4310539" y="2984421"/>
            <a:ext cx="2703790" cy="589359"/>
          </a:xfrm>
          <a:prstGeom prst="rect">
            <a:avLst/>
          </a:prstGeom>
          <a:noFill/>
          <a:ln/>
        </p:spPr>
        <p:txBody>
          <a:bodyPr wrap="square" lIns="0" tIns="0" rIns="0" bIns="0" rtlCol="0" anchor="t"/>
          <a:lstStyle/>
          <a:p>
            <a:pPr algn="l" indent="0" marL="0">
              <a:lnSpc>
                <a:spcPts val="2300"/>
              </a:lnSpc>
              <a:buNone/>
            </a:pPr>
            <a:r>
              <a:rPr lang="en-US" sz="1850" b="1" dirty="0">
                <a:solidFill>
                  <a:srgbClr val="E5E0DF"/>
                </a:solidFill>
                <a:latin typeface="Inter Bold" pitchFamily="34" charset="0"/>
                <a:ea typeface="Inter Bold" pitchFamily="34" charset="-122"/>
                <a:cs typeface="Inter Bold" pitchFamily="34" charset="-120"/>
              </a:rPr>
              <a:t>Jakie red flags widzicie?</a:t>
            </a:r>
            <a:endParaRPr lang="en-US" sz="1850" dirty="0"/>
          </a:p>
        </p:txBody>
      </p:sp>
      <p:sp>
        <p:nvSpPr>
          <p:cNvPr id="15" name="Text 13"/>
          <p:cNvSpPr/>
          <p:nvPr/>
        </p:nvSpPr>
        <p:spPr>
          <a:xfrm>
            <a:off x="4310539" y="3681174"/>
            <a:ext cx="2703790" cy="147101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Wskaźcie minimum 3 najpoważniejsze problemy w dokumentacji vendora (model card, regulamin, email). Co was najbardziej niepokoi?</a:t>
            </a:r>
            <a:endParaRPr lang="en-US" sz="1450" dirty="0"/>
          </a:p>
        </p:txBody>
      </p:sp>
      <p:sp>
        <p:nvSpPr>
          <p:cNvPr id="16" name="Shape 14"/>
          <p:cNvSpPr/>
          <p:nvPr/>
        </p:nvSpPr>
        <p:spPr>
          <a:xfrm>
            <a:off x="7404735" y="2513052"/>
            <a:ext cx="3126343" cy="3438882"/>
          </a:xfrm>
          <a:prstGeom prst="roundRect">
            <a:avLst>
              <a:gd name="adj" fmla="val 3510"/>
            </a:avLst>
          </a:prstGeom>
          <a:solidFill>
            <a:srgbClr val="272525"/>
          </a:solidFill>
          <a:ln/>
        </p:spPr>
      </p:sp>
      <p:sp>
        <p:nvSpPr>
          <p:cNvPr id="17" name="Shape 15"/>
          <p:cNvSpPr/>
          <p:nvPr/>
        </p:nvSpPr>
        <p:spPr>
          <a:xfrm>
            <a:off x="7404735" y="2490192"/>
            <a:ext cx="3126343" cy="91440"/>
          </a:xfrm>
          <a:prstGeom prst="roundRect">
            <a:avLst>
              <a:gd name="adj" fmla="val 86605"/>
            </a:avLst>
          </a:prstGeom>
          <a:solidFill>
            <a:srgbClr val="2B0AFF"/>
          </a:solidFill>
          <a:ln/>
        </p:spPr>
      </p:sp>
      <p:sp>
        <p:nvSpPr>
          <p:cNvPr id="18" name="Shape 16"/>
          <p:cNvSpPr/>
          <p:nvPr/>
        </p:nvSpPr>
        <p:spPr>
          <a:xfrm>
            <a:off x="8685133" y="2230279"/>
            <a:ext cx="565547" cy="565547"/>
          </a:xfrm>
          <a:prstGeom prst="roundRect">
            <a:avLst>
              <a:gd name="adj" fmla="val 161684"/>
            </a:avLst>
          </a:prstGeom>
          <a:solidFill>
            <a:srgbClr val="2B0AFF"/>
          </a:solidFill>
          <a:ln/>
        </p:spPr>
      </p:sp>
      <p:sp>
        <p:nvSpPr>
          <p:cNvPr id="19" name="Text 17"/>
          <p:cNvSpPr/>
          <p:nvPr/>
        </p:nvSpPr>
        <p:spPr>
          <a:xfrm>
            <a:off x="8854797" y="2371606"/>
            <a:ext cx="226219" cy="282773"/>
          </a:xfrm>
          <a:prstGeom prst="rect">
            <a:avLst/>
          </a:prstGeom>
          <a:noFill/>
          <a:ln/>
        </p:spPr>
        <p:txBody>
          <a:bodyPr wrap="none" lIns="0" tIns="0" rIns="0" bIns="0" rtlCol="0" anchor="t"/>
          <a:lstStyle/>
          <a:p>
            <a:pPr algn="l" indent="0" marL="0">
              <a:lnSpc>
                <a:spcPts val="2750"/>
              </a:lnSpc>
              <a:buNone/>
            </a:pPr>
            <a:r>
              <a:rPr lang="en-US" sz="1750" b="1" dirty="0">
                <a:solidFill>
                  <a:srgbClr val="FFFFFF"/>
                </a:solidFill>
                <a:latin typeface="Inter Bold" pitchFamily="34" charset="0"/>
                <a:ea typeface="Inter Bold" pitchFamily="34" charset="-122"/>
                <a:cs typeface="Inter Bold" pitchFamily="34" charset="-120"/>
              </a:rPr>
              <a:t>3</a:t>
            </a:r>
            <a:endParaRPr lang="en-US" sz="1750" dirty="0"/>
          </a:p>
        </p:txBody>
      </p:sp>
      <p:sp>
        <p:nvSpPr>
          <p:cNvPr id="20" name="Text 18"/>
          <p:cNvSpPr/>
          <p:nvPr/>
        </p:nvSpPr>
        <p:spPr>
          <a:xfrm>
            <a:off x="7616071" y="2984421"/>
            <a:ext cx="2703671" cy="589359"/>
          </a:xfrm>
          <a:prstGeom prst="rect">
            <a:avLst/>
          </a:prstGeom>
          <a:noFill/>
          <a:ln/>
        </p:spPr>
        <p:txBody>
          <a:bodyPr wrap="square" lIns="0" tIns="0" rIns="0" bIns="0" rtlCol="0" anchor="t"/>
          <a:lstStyle/>
          <a:p>
            <a:pPr algn="l" indent="0" marL="0">
              <a:lnSpc>
                <a:spcPts val="2300"/>
              </a:lnSpc>
              <a:buNone/>
            </a:pPr>
            <a:r>
              <a:rPr lang="en-US" sz="1850" b="1" dirty="0">
                <a:solidFill>
                  <a:srgbClr val="E5E0DF"/>
                </a:solidFill>
                <a:latin typeface="Inter Bold" pitchFamily="34" charset="0"/>
                <a:ea typeface="Inter Bold" pitchFamily="34" charset="-122"/>
                <a:cs typeface="Inter Bold" pitchFamily="34" charset="-120"/>
              </a:rPr>
              <a:t>Co musielibyście wynegocjować?</a:t>
            </a:r>
            <a:endParaRPr lang="en-US" sz="1850" dirty="0"/>
          </a:p>
        </p:txBody>
      </p:sp>
      <p:sp>
        <p:nvSpPr>
          <p:cNvPr id="21" name="Text 19"/>
          <p:cNvSpPr/>
          <p:nvPr/>
        </p:nvSpPr>
        <p:spPr>
          <a:xfrm>
            <a:off x="7616071" y="3681174"/>
            <a:ext cx="2703671" cy="1765221"/>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Zakładając, że chcecie kupić to narzędzie - jakie konkretne zmiany w umowie musielibyście wynegocjować? Skoncentrujcie się na 3-5 najważniejszych punktach.</a:t>
            </a:r>
            <a:endParaRPr lang="en-US" sz="1450" dirty="0"/>
          </a:p>
        </p:txBody>
      </p:sp>
      <p:sp>
        <p:nvSpPr>
          <p:cNvPr id="22" name="Shape 20"/>
          <p:cNvSpPr/>
          <p:nvPr/>
        </p:nvSpPr>
        <p:spPr>
          <a:xfrm>
            <a:off x="10710148" y="2513052"/>
            <a:ext cx="3126462" cy="3438882"/>
          </a:xfrm>
          <a:prstGeom prst="roundRect">
            <a:avLst>
              <a:gd name="adj" fmla="val 3510"/>
            </a:avLst>
          </a:prstGeom>
          <a:solidFill>
            <a:srgbClr val="272525"/>
          </a:solidFill>
          <a:ln/>
        </p:spPr>
      </p:sp>
      <p:sp>
        <p:nvSpPr>
          <p:cNvPr id="23" name="Shape 21"/>
          <p:cNvSpPr/>
          <p:nvPr/>
        </p:nvSpPr>
        <p:spPr>
          <a:xfrm>
            <a:off x="10710148" y="2490192"/>
            <a:ext cx="3126462" cy="91440"/>
          </a:xfrm>
          <a:prstGeom prst="roundRect">
            <a:avLst>
              <a:gd name="adj" fmla="val 86605"/>
            </a:avLst>
          </a:prstGeom>
          <a:solidFill>
            <a:srgbClr val="2B0AFF"/>
          </a:solidFill>
          <a:ln/>
        </p:spPr>
      </p:sp>
      <p:sp>
        <p:nvSpPr>
          <p:cNvPr id="24" name="Shape 22"/>
          <p:cNvSpPr/>
          <p:nvPr/>
        </p:nvSpPr>
        <p:spPr>
          <a:xfrm>
            <a:off x="11990546" y="2230279"/>
            <a:ext cx="565547" cy="565547"/>
          </a:xfrm>
          <a:prstGeom prst="roundRect">
            <a:avLst>
              <a:gd name="adj" fmla="val 161684"/>
            </a:avLst>
          </a:prstGeom>
          <a:solidFill>
            <a:srgbClr val="2B0AFF"/>
          </a:solidFill>
          <a:ln/>
        </p:spPr>
      </p:sp>
      <p:sp>
        <p:nvSpPr>
          <p:cNvPr id="25" name="Text 23"/>
          <p:cNvSpPr/>
          <p:nvPr/>
        </p:nvSpPr>
        <p:spPr>
          <a:xfrm>
            <a:off x="12160210" y="2371606"/>
            <a:ext cx="226219" cy="282773"/>
          </a:xfrm>
          <a:prstGeom prst="rect">
            <a:avLst/>
          </a:prstGeom>
          <a:noFill/>
          <a:ln/>
        </p:spPr>
        <p:txBody>
          <a:bodyPr wrap="none" lIns="0" tIns="0" rIns="0" bIns="0" rtlCol="0" anchor="t"/>
          <a:lstStyle/>
          <a:p>
            <a:pPr algn="l" indent="0" marL="0">
              <a:lnSpc>
                <a:spcPts val="2750"/>
              </a:lnSpc>
              <a:buNone/>
            </a:pPr>
            <a:r>
              <a:rPr lang="en-US" sz="1750" b="1" dirty="0">
                <a:solidFill>
                  <a:srgbClr val="FFFFFF"/>
                </a:solidFill>
                <a:latin typeface="Inter Bold" pitchFamily="34" charset="0"/>
                <a:ea typeface="Inter Bold" pitchFamily="34" charset="-122"/>
                <a:cs typeface="Inter Bold" pitchFamily="34" charset="-120"/>
              </a:rPr>
              <a:t>4</a:t>
            </a:r>
            <a:endParaRPr lang="en-US" sz="1750" dirty="0"/>
          </a:p>
        </p:txBody>
      </p:sp>
      <p:sp>
        <p:nvSpPr>
          <p:cNvPr id="26" name="Text 24"/>
          <p:cNvSpPr/>
          <p:nvPr/>
        </p:nvSpPr>
        <p:spPr>
          <a:xfrm>
            <a:off x="10921484" y="2984421"/>
            <a:ext cx="2703790" cy="589359"/>
          </a:xfrm>
          <a:prstGeom prst="rect">
            <a:avLst/>
          </a:prstGeom>
          <a:noFill/>
          <a:ln/>
        </p:spPr>
        <p:txBody>
          <a:bodyPr wrap="square" lIns="0" tIns="0" rIns="0" bIns="0" rtlCol="0" anchor="t"/>
          <a:lstStyle/>
          <a:p>
            <a:pPr algn="l" indent="0" marL="0">
              <a:lnSpc>
                <a:spcPts val="2300"/>
              </a:lnSpc>
              <a:buNone/>
            </a:pPr>
            <a:r>
              <a:rPr lang="en-US" sz="1850" b="1" dirty="0">
                <a:solidFill>
                  <a:srgbClr val="E5E0DF"/>
                </a:solidFill>
                <a:latin typeface="Inter Bold" pitchFamily="34" charset="0"/>
                <a:ea typeface="Inter Bold" pitchFamily="34" charset="-122"/>
                <a:cs typeface="Inter Bold" pitchFamily="34" charset="-120"/>
              </a:rPr>
              <a:t>Decyzja: kupujecie czy nie?</a:t>
            </a:r>
            <a:endParaRPr lang="en-US" sz="1850" dirty="0"/>
          </a:p>
        </p:txBody>
      </p:sp>
      <p:sp>
        <p:nvSpPr>
          <p:cNvPr id="27" name="Text 25"/>
          <p:cNvSpPr/>
          <p:nvPr/>
        </p:nvSpPr>
        <p:spPr>
          <a:xfrm>
            <a:off x="10921484" y="3681174"/>
            <a:ext cx="2703790" cy="147101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Podejmijcie decyzję jako grupa i uzasadnijcie. Jeśli „tak" - pod jakimi warunkami? Jeśli „nie" - dlaczego i co musiałoby się zmienić?</a:t>
            </a:r>
            <a:endParaRPr lang="en-US" sz="1450" dirty="0"/>
          </a:p>
        </p:txBody>
      </p:sp>
      <p:sp>
        <p:nvSpPr>
          <p:cNvPr id="28" name="Shape 26"/>
          <p:cNvSpPr/>
          <p:nvPr/>
        </p:nvSpPr>
        <p:spPr>
          <a:xfrm>
            <a:off x="793790" y="6153388"/>
            <a:ext cx="13042821" cy="1069896"/>
          </a:xfrm>
          <a:prstGeom prst="roundRect">
            <a:avLst>
              <a:gd name="adj" fmla="val 7402"/>
            </a:avLst>
          </a:prstGeom>
          <a:solidFill>
            <a:srgbClr val="0A004D"/>
          </a:solidFill>
          <a:ln/>
        </p:spPr>
      </p:sp>
      <p:pic>
        <p:nvPicPr>
          <p:cNvPr id="29" name="Image 0" descr="preencoded.png">    </p:cNvPr>
          <p:cNvPicPr>
            <a:picLocks noChangeAspect="1"/>
          </p:cNvPicPr>
          <p:nvPr/>
        </p:nvPicPr>
        <p:blipFill>
          <a:blip r:embed="rId1"/>
          <a:stretch>
            <a:fillRect/>
          </a:stretch>
        </p:blipFill>
        <p:spPr>
          <a:xfrm>
            <a:off x="982266" y="6437233"/>
            <a:ext cx="235625" cy="188476"/>
          </a:xfrm>
          <a:prstGeom prst="rect">
            <a:avLst/>
          </a:prstGeom>
        </p:spPr>
      </p:pic>
      <p:sp>
        <p:nvSpPr>
          <p:cNvPr id="30" name="Text 27"/>
          <p:cNvSpPr/>
          <p:nvPr/>
        </p:nvSpPr>
        <p:spPr>
          <a:xfrm>
            <a:off x="1406366" y="6379488"/>
            <a:ext cx="12241768" cy="588407"/>
          </a:xfrm>
          <a:prstGeom prst="rect">
            <a:avLst/>
          </a:prstGeom>
          <a:noFill/>
          <a:ln/>
        </p:spPr>
        <p:txBody>
          <a:bodyPr wrap="square" lIns="0" tIns="0" rIns="0" bIns="0" rtlCol="0" anchor="t"/>
          <a:lstStyle/>
          <a:p>
            <a:pPr algn="l" indent="0" marL="0">
              <a:lnSpc>
                <a:spcPts val="2300"/>
              </a:lnSpc>
              <a:buNone/>
            </a:pPr>
            <a:r>
              <a:rPr lang="en-US" sz="1450" dirty="0">
                <a:solidFill>
                  <a:srgbClr val="FFFFFF"/>
                </a:solidFill>
                <a:latin typeface="Inter" pitchFamily="34" charset="0"/>
                <a:ea typeface="Inter" pitchFamily="34" charset="-122"/>
                <a:cs typeface="Inter" pitchFamily="34" charset="-120"/>
              </a:rPr>
              <a:t>Macie teraz 10 minut na pracę w grupach. Po tym czasie każda grupa przedstawi swoje wnioski (2 minuty na grupę), a następnie omówimy to wspólnie.</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793790" y="1117044"/>
            <a:ext cx="7261146"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Debrief - Pytanie 1: High-risk?</a:t>
            </a:r>
            <a:endParaRPr lang="en-US" sz="3900" dirty="0"/>
          </a:p>
        </p:txBody>
      </p:sp>
      <p:sp>
        <p:nvSpPr>
          <p:cNvPr id="3" name="Text 1"/>
          <p:cNvSpPr/>
          <p:nvPr/>
        </p:nvSpPr>
        <p:spPr>
          <a:xfrm>
            <a:off x="793790" y="1816418"/>
            <a:ext cx="3492698"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TAK, to jest system high-risk</a:t>
            </a:r>
            <a:endParaRPr lang="en-US" sz="1950" dirty="0"/>
          </a:p>
        </p:txBody>
      </p:sp>
      <p:sp>
        <p:nvSpPr>
          <p:cNvPr id="4" name="Text 2"/>
          <p:cNvSpPr/>
          <p:nvPr/>
        </p:nvSpPr>
        <p:spPr>
          <a:xfrm>
            <a:off x="793790" y="2424232"/>
            <a:ext cx="13042821" cy="95261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Podstawa prawna: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Aneks III AI Act, punkt 5(b): „systemy AI przeznaczone do stosowania w celu oceny zdolności kredytowej osób fizycznych lub ustalania ich scoringu kredytowego, z wyjątkiem systemów AI wprowadzanych do obrotu przez małe przedsiębiorstwa dla własnych potrzeb".</a:t>
            </a:r>
            <a:endParaRPr lang="en-US" sz="1550" dirty="0"/>
          </a:p>
        </p:txBody>
      </p:sp>
      <p:sp>
        <p:nvSpPr>
          <p:cNvPr id="5" name="Text 3"/>
          <p:cNvSpPr/>
          <p:nvPr/>
        </p:nvSpPr>
        <p:spPr>
          <a:xfrm>
            <a:off x="793790" y="3600093"/>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Nie ma znaczenia, że vendor nazywa to „decision support tool". Nie ma znaczenia, że ostateczna decyzja należy do analityka kredytowego.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Art. 6 ust. 3 AI Act stanowi wyraźnie: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system jest high-risk jeżeli jest przeznaczony do wykonywania profilowania osób fizycznych w celu oceny lub przewidywania ich sytuacji finansowej, zdrowia, preferencji, zachowania lub lokalizacji.</a:t>
            </a:r>
            <a:endParaRPr lang="en-US" sz="1550" dirty="0"/>
          </a:p>
        </p:txBody>
      </p:sp>
      <p:sp>
        <p:nvSpPr>
          <p:cNvPr id="6" name="Text 4"/>
          <p:cNvSpPr/>
          <p:nvPr/>
        </p:nvSpPr>
        <p:spPr>
          <a:xfrm>
            <a:off x="793790" y="477595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Ocena ryzyka kredytowego to jest </a:t>
            </a:r>
            <a:pPr algn="l" indent="0" marL="0">
              <a:lnSpc>
                <a:spcPts val="2500"/>
              </a:lnSpc>
              <a:buNone/>
            </a:pPr>
            <a:r>
              <a:rPr lang="en-US" sz="1550" i="1" dirty="0">
                <a:solidFill>
                  <a:srgbClr val="E5E0DF"/>
                </a:solidFill>
                <a:latin typeface="Inter" pitchFamily="34" charset="0"/>
                <a:ea typeface="Inter" pitchFamily="34" charset="-122"/>
                <a:cs typeface="Inter" pitchFamily="34" charset="-120"/>
              </a:rPr>
              <a:t>definicja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profilowania finansowego. System analizuje dane osobowe i finansowe, generuje prognozę ryzyka, wpływa na decyzję o przyznaniu kredytu. To jest wprost high-risk.</a:t>
            </a:r>
            <a:endParaRPr lang="en-US" sz="1550" dirty="0"/>
          </a:p>
        </p:txBody>
      </p:sp>
      <p:sp>
        <p:nvSpPr>
          <p:cNvPr id="7" name="Shape 5"/>
          <p:cNvSpPr/>
          <p:nvPr/>
        </p:nvSpPr>
        <p:spPr>
          <a:xfrm>
            <a:off x="793790" y="5634276"/>
            <a:ext cx="13042821" cy="1478280"/>
          </a:xfrm>
          <a:prstGeom prst="roundRect">
            <a:avLst>
              <a:gd name="adj" fmla="val 5639"/>
            </a:avLst>
          </a:prstGeom>
          <a:solidFill>
            <a:srgbClr val="0A004D"/>
          </a:solidFill>
          <a:ln/>
        </p:spPr>
      </p:sp>
      <p:pic>
        <p:nvPicPr>
          <p:cNvPr id="8" name="Image 0" descr="preencoded.png">    </p:cNvPr>
          <p:cNvPicPr>
            <a:picLocks noChangeAspect="1"/>
          </p:cNvPicPr>
          <p:nvPr/>
        </p:nvPicPr>
        <p:blipFill>
          <a:blip r:embed="rId1"/>
          <a:stretch>
            <a:fillRect/>
          </a:stretch>
        </p:blipFill>
        <p:spPr>
          <a:xfrm>
            <a:off x="992148" y="5937171"/>
            <a:ext cx="248007" cy="198358"/>
          </a:xfrm>
          <a:prstGeom prst="rect">
            <a:avLst/>
          </a:prstGeom>
        </p:spPr>
      </p:pic>
      <p:sp>
        <p:nvSpPr>
          <p:cNvPr id="9" name="Text 6"/>
          <p:cNvSpPr/>
          <p:nvPr/>
        </p:nvSpPr>
        <p:spPr>
          <a:xfrm>
            <a:off x="1438513" y="5882164"/>
            <a:ext cx="12199739" cy="952619"/>
          </a:xfrm>
          <a:prstGeom prst="rect">
            <a:avLst/>
          </a:prstGeom>
          <a:noFill/>
          <a:ln/>
        </p:spPr>
        <p:txBody>
          <a:bodyPr wrap="square" lIns="0" tIns="0" rIns="0" bIns="0" rtlCol="0" anchor="t"/>
          <a:lstStyle/>
          <a:p>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Pułapka vendora:</a:t>
            </a:r>
            <a:pPr algn="l" indent="0" marL="0">
              <a:lnSpc>
                <a:spcPts val="2500"/>
              </a:lnSpc>
              <a:buNone/>
            </a:pPr>
            <a:r>
              <a:rPr lang="en-US" sz="1550" dirty="0">
                <a:solidFill>
                  <a:srgbClr val="FFFFFF"/>
                </a:solidFill>
                <a:latin typeface="Inter" pitchFamily="34" charset="0"/>
                <a:ea typeface="Inter" pitchFamily="34" charset="-122"/>
                <a:cs typeface="Inter" pitchFamily="34" charset="-120"/>
              </a:rPr>
              <a:t> Vendor twierdzi, że skoro „wspiera decyzję, a nie podejmuje decyzji", to nie jest high-risk. To jest błędna interpretacja. AI Act nie wymaga, żeby system działał w pełni autonomicznie. Wystarczy, że system wykonuje funkcję wskazaną w Aneksie III - a ocena zdolności kredytowej tam jest.</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767596" y="713661"/>
            <a:ext cx="6497836" cy="569714"/>
          </a:xfrm>
          <a:prstGeom prst="rect">
            <a:avLst/>
          </a:prstGeom>
          <a:noFill/>
          <a:ln/>
        </p:spPr>
        <p:txBody>
          <a:bodyPr wrap="none" lIns="0" tIns="0" rIns="0" bIns="0" rtlCol="0" anchor="t"/>
          <a:lstStyle/>
          <a:p>
            <a:pPr algn="l" indent="0" marL="0">
              <a:lnSpc>
                <a:spcPts val="4450"/>
              </a:lnSpc>
              <a:buNone/>
            </a:pPr>
            <a:r>
              <a:rPr lang="en-US" sz="3550" b="1" dirty="0">
                <a:solidFill>
                  <a:srgbClr val="FFFFFF"/>
                </a:solidFill>
                <a:latin typeface="Inter Bold" pitchFamily="34" charset="0"/>
                <a:ea typeface="Inter Bold" pitchFamily="34" charset="-122"/>
                <a:cs typeface="Inter Bold" pitchFamily="34" charset="-120"/>
              </a:rPr>
              <a:t>Debrief - Pytanie 2: Red flags</a:t>
            </a:r>
            <a:endParaRPr lang="en-US" sz="3550" dirty="0"/>
          </a:p>
        </p:txBody>
      </p:sp>
      <p:sp>
        <p:nvSpPr>
          <p:cNvPr id="3" name="Shape 1"/>
          <p:cNvSpPr/>
          <p:nvPr/>
        </p:nvSpPr>
        <p:spPr>
          <a:xfrm>
            <a:off x="767596" y="1618178"/>
            <a:ext cx="3148251" cy="4126230"/>
          </a:xfrm>
          <a:prstGeom prst="roundRect">
            <a:avLst>
              <a:gd name="adj" fmla="val 2432"/>
            </a:avLst>
          </a:prstGeom>
          <a:solidFill>
            <a:srgbClr val="110080"/>
          </a:solidFill>
          <a:ln w="7620">
            <a:solidFill>
              <a:srgbClr val="2A1999"/>
            </a:solidFill>
            <a:prstDash val="solid"/>
          </a:ln>
        </p:spPr>
      </p:sp>
      <p:sp>
        <p:nvSpPr>
          <p:cNvPr id="4" name="Text 2"/>
          <p:cNvSpPr/>
          <p:nvPr/>
        </p:nvSpPr>
        <p:spPr>
          <a:xfrm>
            <a:off x="957501" y="1808083"/>
            <a:ext cx="2768441" cy="569595"/>
          </a:xfrm>
          <a:prstGeom prst="rect">
            <a:avLst/>
          </a:prstGeom>
          <a:noFill/>
          <a:ln/>
        </p:spPr>
        <p:txBody>
          <a:bodyPr wrap="square" lIns="0" tIns="0" rIns="0" bIns="0" rtlCol="0" anchor="t"/>
          <a:lstStyle/>
          <a:p>
            <a:pPr algn="l" indent="0" marL="0">
              <a:lnSpc>
                <a:spcPts val="2200"/>
              </a:lnSpc>
              <a:buNone/>
            </a:pPr>
            <a:r>
              <a:rPr lang="en-US" sz="1750" b="1" dirty="0">
                <a:solidFill>
                  <a:srgbClr val="E5E0DF"/>
                </a:solidFill>
                <a:latin typeface="Inter Bold" pitchFamily="34" charset="0"/>
                <a:ea typeface="Inter Bold" pitchFamily="34" charset="-122"/>
                <a:cs typeface="Inter Bold" pitchFamily="34" charset="-120"/>
              </a:rPr>
              <a:t>Red flag 1: Brak danych polskich</a:t>
            </a:r>
            <a:endParaRPr lang="en-US" sz="1750" dirty="0"/>
          </a:p>
        </p:txBody>
      </p:sp>
      <p:sp>
        <p:nvSpPr>
          <p:cNvPr id="5" name="Text 3"/>
          <p:cNvSpPr/>
          <p:nvPr/>
        </p:nvSpPr>
        <p:spPr>
          <a:xfrm>
            <a:off x="957501" y="2478048"/>
            <a:ext cx="2768441" cy="3076456"/>
          </a:xfrm>
          <a:prstGeom prst="rect">
            <a:avLst/>
          </a:prstGeom>
          <a:noFill/>
          <a:ln/>
        </p:spPr>
        <p:txBody>
          <a:bodyPr wrap="square" lIns="0" tIns="0" rIns="0" bIns="0" rtlCol="0" anchor="t"/>
          <a:lstStyle/>
          <a:p>
            <a:pPr algn="l" indent="0" marL="0">
              <a:lnSpc>
                <a:spcPts val="2200"/>
              </a:lnSpc>
              <a:buNone/>
            </a:pPr>
            <a:r>
              <a:rPr lang="en-US" sz="1400" dirty="0">
                <a:solidFill>
                  <a:srgbClr val="E5E0DF"/>
                </a:solidFill>
                <a:latin typeface="Inter" pitchFamily="34" charset="0"/>
                <a:ea typeface="Inter" pitchFamily="34" charset="-122"/>
                <a:cs typeface="Inter" pitchFamily="34" charset="-120"/>
              </a:rPr>
              <a:t>Model trenowany na danych z NL/DE/AT. Nie ma danych z polskiego rynku. Model card wprost mówi: „performance may vary for markets outside NL/DE/AT". To znaczy, że vendor </a:t>
            </a:r>
            <a:pPr algn="l" indent="0" marL="0">
              <a:lnSpc>
                <a:spcPts val="2200"/>
              </a:lnSpc>
              <a:buNone/>
            </a:pPr>
            <a:r>
              <a:rPr lang="en-US" sz="1400" b="1" dirty="0">
                <a:solidFill>
                  <a:srgbClr val="E5E0DF"/>
                </a:solidFill>
                <a:latin typeface="Inter" pitchFamily="34" charset="0"/>
                <a:ea typeface="Inter" pitchFamily="34" charset="-122"/>
                <a:cs typeface="Inter" pitchFamily="34" charset="-120"/>
              </a:rPr>
              <a:t>nie wie</a:t>
            </a:r>
            <a:pPr algn="l" indent="0" marL="0">
              <a:lnSpc>
                <a:spcPts val="2200"/>
              </a:lnSpc>
              <a:buNone/>
            </a:pPr>
            <a:r>
              <a:rPr lang="en-US" sz="1400" dirty="0">
                <a:solidFill>
                  <a:srgbClr val="E5E0DF"/>
                </a:solidFill>
                <a:latin typeface="Inter" pitchFamily="34" charset="0"/>
                <a:ea typeface="Inter" pitchFamily="34" charset="-122"/>
                <a:cs typeface="Inter" pitchFamily="34" charset="-120"/>
              </a:rPr>
              <a:t> jak model działa w Polsce. Stopa błędów może być znacznie wyższa niż 4%. Może być bias wobec polskich realiów.</a:t>
            </a:r>
            <a:endParaRPr lang="en-US" sz="1400" dirty="0"/>
          </a:p>
        </p:txBody>
      </p:sp>
      <p:sp>
        <p:nvSpPr>
          <p:cNvPr id="6" name="Shape 4"/>
          <p:cNvSpPr/>
          <p:nvPr/>
        </p:nvSpPr>
        <p:spPr>
          <a:xfrm>
            <a:off x="4083248" y="1618178"/>
            <a:ext cx="3148251" cy="4126230"/>
          </a:xfrm>
          <a:prstGeom prst="roundRect">
            <a:avLst>
              <a:gd name="adj" fmla="val 2432"/>
            </a:avLst>
          </a:prstGeom>
          <a:solidFill>
            <a:srgbClr val="110080"/>
          </a:solidFill>
          <a:ln w="7620">
            <a:solidFill>
              <a:srgbClr val="2A1999"/>
            </a:solidFill>
            <a:prstDash val="solid"/>
          </a:ln>
        </p:spPr>
      </p:sp>
      <p:sp>
        <p:nvSpPr>
          <p:cNvPr id="7" name="Text 5"/>
          <p:cNvSpPr/>
          <p:nvPr/>
        </p:nvSpPr>
        <p:spPr>
          <a:xfrm>
            <a:off x="4273153" y="1808083"/>
            <a:ext cx="2768441" cy="569595"/>
          </a:xfrm>
          <a:prstGeom prst="rect">
            <a:avLst/>
          </a:prstGeom>
          <a:noFill/>
          <a:ln/>
        </p:spPr>
        <p:txBody>
          <a:bodyPr wrap="square" lIns="0" tIns="0" rIns="0" bIns="0" rtlCol="0" anchor="t"/>
          <a:lstStyle/>
          <a:p>
            <a:pPr algn="l" indent="0" marL="0">
              <a:lnSpc>
                <a:spcPts val="2200"/>
              </a:lnSpc>
              <a:buNone/>
            </a:pPr>
            <a:r>
              <a:rPr lang="en-US" sz="1750" b="1" dirty="0">
                <a:solidFill>
                  <a:srgbClr val="E5E0DF"/>
                </a:solidFill>
                <a:latin typeface="Inter Bold" pitchFamily="34" charset="0"/>
                <a:ea typeface="Inter Bold" pitchFamily="34" charset="-122"/>
                <a:cs typeface="Inter Bold" pitchFamily="34" charset="-120"/>
              </a:rPr>
              <a:t>Red flag 2: Transfer do USA</a:t>
            </a:r>
            <a:endParaRPr lang="en-US" sz="1750" dirty="0"/>
          </a:p>
        </p:txBody>
      </p:sp>
      <p:sp>
        <p:nvSpPr>
          <p:cNvPr id="8" name="Text 6"/>
          <p:cNvSpPr/>
          <p:nvPr/>
        </p:nvSpPr>
        <p:spPr>
          <a:xfrm>
            <a:off x="4273153" y="2478048"/>
            <a:ext cx="2768441" cy="2796778"/>
          </a:xfrm>
          <a:prstGeom prst="rect">
            <a:avLst/>
          </a:prstGeom>
          <a:noFill/>
          <a:ln/>
        </p:spPr>
        <p:txBody>
          <a:bodyPr wrap="square" lIns="0" tIns="0" rIns="0" bIns="0" rtlCol="0" anchor="t"/>
          <a:lstStyle/>
          <a:p>
            <a:pPr algn="l" indent="0" marL="0">
              <a:lnSpc>
                <a:spcPts val="2200"/>
              </a:lnSpc>
              <a:buNone/>
            </a:pPr>
            <a:r>
              <a:rPr lang="en-US" sz="1400" dirty="0">
                <a:solidFill>
                  <a:srgbClr val="E5E0DF"/>
                </a:solidFill>
                <a:latin typeface="Inter" pitchFamily="34" charset="0"/>
                <a:ea typeface="Inter" pitchFamily="34" charset="-122"/>
                <a:cs typeface="Inter" pitchFamily="34" charset="-120"/>
              </a:rPr>
              <a:t>„Provider may engage sub-processors located in USA". To jest potencjalny problem Schrems III - transfer danych osobowych do USA wymaga odpowiednich zabezpieczeń. Regulamin nie mówi jakich sub-processorów, do czego, z jakimi gwarancjami. To jest czarna dziura compliance RODO.</a:t>
            </a:r>
            <a:endParaRPr lang="en-US" sz="1400" dirty="0"/>
          </a:p>
        </p:txBody>
      </p:sp>
      <p:sp>
        <p:nvSpPr>
          <p:cNvPr id="9" name="Shape 7"/>
          <p:cNvSpPr/>
          <p:nvPr/>
        </p:nvSpPr>
        <p:spPr>
          <a:xfrm>
            <a:off x="7398901" y="1618178"/>
            <a:ext cx="3148251" cy="4126230"/>
          </a:xfrm>
          <a:prstGeom prst="roundRect">
            <a:avLst>
              <a:gd name="adj" fmla="val 2432"/>
            </a:avLst>
          </a:prstGeom>
          <a:solidFill>
            <a:srgbClr val="110080"/>
          </a:solidFill>
          <a:ln w="7620">
            <a:solidFill>
              <a:srgbClr val="2A1999"/>
            </a:solidFill>
            <a:prstDash val="solid"/>
          </a:ln>
        </p:spPr>
      </p:sp>
      <p:sp>
        <p:nvSpPr>
          <p:cNvPr id="10" name="Text 8"/>
          <p:cNvSpPr/>
          <p:nvPr/>
        </p:nvSpPr>
        <p:spPr>
          <a:xfrm>
            <a:off x="7588806" y="1808083"/>
            <a:ext cx="2768441" cy="569595"/>
          </a:xfrm>
          <a:prstGeom prst="rect">
            <a:avLst/>
          </a:prstGeom>
          <a:noFill/>
          <a:ln/>
        </p:spPr>
        <p:txBody>
          <a:bodyPr wrap="square" lIns="0" tIns="0" rIns="0" bIns="0" rtlCol="0" anchor="t"/>
          <a:lstStyle/>
          <a:p>
            <a:pPr algn="l" indent="0" marL="0">
              <a:lnSpc>
                <a:spcPts val="2200"/>
              </a:lnSpc>
              <a:buNone/>
            </a:pPr>
            <a:r>
              <a:rPr lang="en-US" sz="1750" b="1" dirty="0">
                <a:solidFill>
                  <a:srgbClr val="E5E0DF"/>
                </a:solidFill>
                <a:latin typeface="Inter Bold" pitchFamily="34" charset="0"/>
                <a:ea typeface="Inter Bold" pitchFamily="34" charset="-122"/>
                <a:cs typeface="Inter Bold" pitchFamily="34" charset="-120"/>
              </a:rPr>
              <a:t>Red flag 3: Licencja na dane do treningu</a:t>
            </a:r>
            <a:endParaRPr lang="en-US" sz="1750" dirty="0"/>
          </a:p>
        </p:txBody>
      </p:sp>
      <p:sp>
        <p:nvSpPr>
          <p:cNvPr id="11" name="Text 9"/>
          <p:cNvSpPr/>
          <p:nvPr/>
        </p:nvSpPr>
        <p:spPr>
          <a:xfrm>
            <a:off x="7588806" y="2478048"/>
            <a:ext cx="2768441" cy="3076456"/>
          </a:xfrm>
          <a:prstGeom prst="rect">
            <a:avLst/>
          </a:prstGeom>
          <a:noFill/>
          <a:ln/>
        </p:spPr>
        <p:txBody>
          <a:bodyPr wrap="square" lIns="0" tIns="0" rIns="0" bIns="0" rtlCol="0" anchor="t"/>
          <a:lstStyle/>
          <a:p>
            <a:pPr algn="l" indent="0" marL="0">
              <a:lnSpc>
                <a:spcPts val="2200"/>
              </a:lnSpc>
              <a:buNone/>
            </a:pPr>
            <a:r>
              <a:rPr lang="en-US" sz="1400" dirty="0">
                <a:solidFill>
                  <a:srgbClr val="E5E0DF"/>
                </a:solidFill>
                <a:latin typeface="Inter" pitchFamily="34" charset="0"/>
                <a:ea typeface="Inter" pitchFamily="34" charset="-122"/>
                <a:cs typeface="Inter" pitchFamily="34" charset="-120"/>
              </a:rPr>
              <a:t>„Provider may use Customer's input data to improve, train and enhance the Services, unless Customer opts out". To znaczy, że </a:t>
            </a:r>
            <a:pPr algn="l" indent="0" marL="0">
              <a:lnSpc>
                <a:spcPts val="2200"/>
              </a:lnSpc>
              <a:buNone/>
            </a:pPr>
            <a:r>
              <a:rPr lang="en-US" sz="1400" b="1" dirty="0">
                <a:solidFill>
                  <a:srgbClr val="E5E0DF"/>
                </a:solidFill>
                <a:latin typeface="Inter" pitchFamily="34" charset="0"/>
                <a:ea typeface="Inter" pitchFamily="34" charset="-122"/>
                <a:cs typeface="Inter" pitchFamily="34" charset="-120"/>
              </a:rPr>
              <a:t>domyślnie</a:t>
            </a:r>
            <a:pPr algn="l" indent="0" marL="0">
              <a:lnSpc>
                <a:spcPts val="2200"/>
              </a:lnSpc>
              <a:buNone/>
            </a:pPr>
            <a:r>
              <a:rPr lang="en-US" sz="1400" dirty="0">
                <a:solidFill>
                  <a:srgbClr val="E5E0DF"/>
                </a:solidFill>
                <a:latin typeface="Inter" pitchFamily="34" charset="0"/>
                <a:ea typeface="Inter" pitchFamily="34" charset="-122"/>
                <a:cs typeface="Inter" pitchFamily="34" charset="-120"/>
              </a:rPr>
              <a:t> wasze poufne dane kredytowe (wnioski, dane finansowe, decyzje) trafiają do treningu globalnego modelu. Opt-out wymaga emaila. Nikt wam o tym nie powie podczas sprzedaży.</a:t>
            </a:r>
            <a:endParaRPr lang="en-US" sz="1400" dirty="0"/>
          </a:p>
        </p:txBody>
      </p:sp>
      <p:sp>
        <p:nvSpPr>
          <p:cNvPr id="12" name="Shape 10"/>
          <p:cNvSpPr/>
          <p:nvPr/>
        </p:nvSpPr>
        <p:spPr>
          <a:xfrm>
            <a:off x="10714553" y="1618178"/>
            <a:ext cx="3148251" cy="4126230"/>
          </a:xfrm>
          <a:prstGeom prst="roundRect">
            <a:avLst>
              <a:gd name="adj" fmla="val 2432"/>
            </a:avLst>
          </a:prstGeom>
          <a:solidFill>
            <a:srgbClr val="110080"/>
          </a:solidFill>
          <a:ln w="7620">
            <a:solidFill>
              <a:srgbClr val="2A1999"/>
            </a:solidFill>
            <a:prstDash val="solid"/>
          </a:ln>
        </p:spPr>
      </p:sp>
      <p:sp>
        <p:nvSpPr>
          <p:cNvPr id="13" name="Text 11"/>
          <p:cNvSpPr/>
          <p:nvPr/>
        </p:nvSpPr>
        <p:spPr>
          <a:xfrm>
            <a:off x="10904458" y="1808083"/>
            <a:ext cx="2768441" cy="569595"/>
          </a:xfrm>
          <a:prstGeom prst="rect">
            <a:avLst/>
          </a:prstGeom>
          <a:noFill/>
          <a:ln/>
        </p:spPr>
        <p:txBody>
          <a:bodyPr wrap="square" lIns="0" tIns="0" rIns="0" bIns="0" rtlCol="0" anchor="t"/>
          <a:lstStyle/>
          <a:p>
            <a:pPr algn="l" indent="0" marL="0">
              <a:lnSpc>
                <a:spcPts val="2200"/>
              </a:lnSpc>
              <a:buNone/>
            </a:pPr>
            <a:r>
              <a:rPr lang="en-US" sz="1750" b="1" dirty="0">
                <a:solidFill>
                  <a:srgbClr val="E5E0DF"/>
                </a:solidFill>
                <a:latin typeface="Inter Bold" pitchFamily="34" charset="0"/>
                <a:ea typeface="Inter Bold" pitchFamily="34" charset="-122"/>
                <a:cs typeface="Inter Bold" pitchFamily="34" charset="-120"/>
              </a:rPr>
              <a:t>Red flag 4: Brak gwarancji</a:t>
            </a:r>
            <a:endParaRPr lang="en-US" sz="1750" dirty="0"/>
          </a:p>
        </p:txBody>
      </p:sp>
      <p:sp>
        <p:nvSpPr>
          <p:cNvPr id="14" name="Text 12"/>
          <p:cNvSpPr/>
          <p:nvPr/>
        </p:nvSpPr>
        <p:spPr>
          <a:xfrm>
            <a:off x="10904458" y="2478048"/>
            <a:ext cx="2768441" cy="2796778"/>
          </a:xfrm>
          <a:prstGeom prst="rect">
            <a:avLst/>
          </a:prstGeom>
          <a:noFill/>
          <a:ln/>
        </p:spPr>
        <p:txBody>
          <a:bodyPr wrap="square" lIns="0" tIns="0" rIns="0" bIns="0" rtlCol="0" anchor="t"/>
          <a:lstStyle/>
          <a:p>
            <a:pPr algn="l" indent="0" marL="0">
              <a:lnSpc>
                <a:spcPts val="2200"/>
              </a:lnSpc>
              <a:buNone/>
            </a:pPr>
            <a:r>
              <a:rPr lang="en-US" sz="1400" dirty="0">
                <a:solidFill>
                  <a:srgbClr val="E5E0DF"/>
                </a:solidFill>
                <a:latin typeface="Inter" pitchFamily="34" charset="0"/>
                <a:ea typeface="Inter" pitchFamily="34" charset="-122"/>
                <a:cs typeface="Inter" pitchFamily="34" charset="-120"/>
              </a:rPr>
              <a:t>„Provider does not guarantee accuracy, reliability or completeness". Vendor oferuje model z 96% accuracy - ale nie gwarantuje tej accuracy. Co więcej, mówi wprost, że wy odpowiadacie za weryfikację każdej decyzji. Więc po co wam AI, jeśli musicie i tak wszystko sprawdzić ręcznie?</a:t>
            </a:r>
            <a:endParaRPr lang="en-US" sz="1400" dirty="0"/>
          </a:p>
        </p:txBody>
      </p:sp>
      <p:sp>
        <p:nvSpPr>
          <p:cNvPr id="15" name="Shape 13"/>
          <p:cNvSpPr/>
          <p:nvPr/>
        </p:nvSpPr>
        <p:spPr>
          <a:xfrm>
            <a:off x="767596" y="5911810"/>
            <a:ext cx="13095208" cy="1604010"/>
          </a:xfrm>
          <a:prstGeom prst="roundRect">
            <a:avLst>
              <a:gd name="adj" fmla="val 4774"/>
            </a:avLst>
          </a:prstGeom>
          <a:solidFill>
            <a:srgbClr val="110080"/>
          </a:solidFill>
          <a:ln w="7620">
            <a:solidFill>
              <a:srgbClr val="2A1999"/>
            </a:solidFill>
            <a:prstDash val="solid"/>
          </a:ln>
        </p:spPr>
      </p:sp>
      <p:sp>
        <p:nvSpPr>
          <p:cNvPr id="16" name="Text 14"/>
          <p:cNvSpPr/>
          <p:nvPr/>
        </p:nvSpPr>
        <p:spPr>
          <a:xfrm>
            <a:off x="957501" y="6101715"/>
            <a:ext cx="6567607" cy="284798"/>
          </a:xfrm>
          <a:prstGeom prst="rect">
            <a:avLst/>
          </a:prstGeom>
          <a:noFill/>
          <a:ln/>
        </p:spPr>
        <p:txBody>
          <a:bodyPr wrap="none" lIns="0" tIns="0" rIns="0" bIns="0" rtlCol="0" anchor="t"/>
          <a:lstStyle/>
          <a:p>
            <a:pPr algn="l" indent="0" marL="0">
              <a:lnSpc>
                <a:spcPts val="2200"/>
              </a:lnSpc>
              <a:buNone/>
            </a:pPr>
            <a:r>
              <a:rPr lang="en-US" sz="1750" b="1" dirty="0">
                <a:solidFill>
                  <a:srgbClr val="E5E0DF"/>
                </a:solidFill>
                <a:latin typeface="Inter Bold" pitchFamily="34" charset="0"/>
                <a:ea typeface="Inter Bold" pitchFamily="34" charset="-122"/>
                <a:cs typeface="Inter Bold" pitchFamily="34" charset="-120"/>
              </a:rPr>
              <a:t>Red flag 5: Przerzucenie odpowiedzialności za klasyfikację</a:t>
            </a:r>
            <a:endParaRPr lang="en-US" sz="1750" dirty="0"/>
          </a:p>
        </p:txBody>
      </p:sp>
      <p:sp>
        <p:nvSpPr>
          <p:cNvPr id="17" name="Text 15"/>
          <p:cNvSpPr/>
          <p:nvPr/>
        </p:nvSpPr>
        <p:spPr>
          <a:xfrm>
            <a:off x="957501" y="6486882"/>
            <a:ext cx="12715399" cy="839033"/>
          </a:xfrm>
          <a:prstGeom prst="rect">
            <a:avLst/>
          </a:prstGeom>
          <a:noFill/>
          <a:ln/>
        </p:spPr>
        <p:txBody>
          <a:bodyPr wrap="square" lIns="0" tIns="0" rIns="0" bIns="0" rtlCol="0" anchor="t"/>
          <a:lstStyle/>
          <a:p>
            <a:pPr algn="l" indent="0" marL="0">
              <a:lnSpc>
                <a:spcPts val="2200"/>
              </a:lnSpc>
              <a:buNone/>
            </a:pPr>
            <a:r>
              <a:rPr lang="en-US" sz="1400" dirty="0">
                <a:solidFill>
                  <a:srgbClr val="E5E0DF"/>
                </a:solidFill>
                <a:latin typeface="Inter" pitchFamily="34" charset="0"/>
                <a:ea typeface="Inter" pitchFamily="34" charset="-122"/>
                <a:cs typeface="Inter" pitchFamily="34" charset="-120"/>
              </a:rPr>
              <a:t>„Customer is solely responsible for determining whether the Services constitute high-risk AI system". Vendor mówi wam „to nie jest high-risk" w emailu - ale w regulaminie przerzuca całą odpowiedzialność na was. To jest klasyczna gra: vendor minimalizuje swoje obowiązki, wy bierzecie całe ryzyko.</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787241" y="552212"/>
            <a:ext cx="8312825" cy="584240"/>
          </a:xfrm>
          <a:prstGeom prst="rect">
            <a:avLst/>
          </a:prstGeom>
          <a:noFill/>
          <a:ln/>
        </p:spPr>
        <p:txBody>
          <a:bodyPr wrap="none" lIns="0" tIns="0" rIns="0" bIns="0" rtlCol="0" anchor="t"/>
          <a:lstStyle/>
          <a:p>
            <a:pPr algn="l" indent="0" marL="0">
              <a:lnSpc>
                <a:spcPts val="4600"/>
              </a:lnSpc>
              <a:buNone/>
            </a:pPr>
            <a:r>
              <a:rPr lang="en-US" sz="3650" b="1" dirty="0">
                <a:solidFill>
                  <a:srgbClr val="FFFFFF"/>
                </a:solidFill>
                <a:latin typeface="Inter Bold" pitchFamily="34" charset="0"/>
                <a:ea typeface="Inter Bold" pitchFamily="34" charset="-122"/>
                <a:cs typeface="Inter Bold" pitchFamily="34" charset="-120"/>
              </a:rPr>
              <a:t>Debrief — Pytanie 3: Co negocjować</a:t>
            </a:r>
            <a:endParaRPr lang="en-US" sz="3650" dirty="0"/>
          </a:p>
        </p:txBody>
      </p:sp>
      <p:sp>
        <p:nvSpPr>
          <p:cNvPr id="3" name="Text 1"/>
          <p:cNvSpPr/>
          <p:nvPr/>
        </p:nvSpPr>
        <p:spPr>
          <a:xfrm>
            <a:off x="787241" y="1488758"/>
            <a:ext cx="186928" cy="23372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Light" pitchFamily="34" charset="0"/>
                <a:ea typeface="Inter Light" pitchFamily="34" charset="-122"/>
                <a:cs typeface="Inter Light" pitchFamily="34" charset="-120"/>
              </a:rPr>
              <a:t>01</a:t>
            </a:r>
            <a:endParaRPr lang="en-US" sz="1450" dirty="0"/>
          </a:p>
        </p:txBody>
      </p:sp>
      <p:sp>
        <p:nvSpPr>
          <p:cNvPr id="4" name="Shape 2"/>
          <p:cNvSpPr/>
          <p:nvPr/>
        </p:nvSpPr>
        <p:spPr>
          <a:xfrm>
            <a:off x="787241" y="1783675"/>
            <a:ext cx="4234577" cy="22860"/>
          </a:xfrm>
          <a:prstGeom prst="rect">
            <a:avLst/>
          </a:prstGeom>
          <a:solidFill>
            <a:srgbClr val="2B0AFF"/>
          </a:solidFill>
          <a:ln/>
        </p:spPr>
      </p:sp>
      <p:sp>
        <p:nvSpPr>
          <p:cNvPr id="5" name="Text 3"/>
          <p:cNvSpPr/>
          <p:nvPr/>
        </p:nvSpPr>
        <p:spPr>
          <a:xfrm>
            <a:off x="787241" y="1922859"/>
            <a:ext cx="3584019" cy="292060"/>
          </a:xfrm>
          <a:prstGeom prst="rect">
            <a:avLst/>
          </a:prstGeom>
          <a:noFill/>
          <a:ln/>
        </p:spPr>
        <p:txBody>
          <a:bodyPr wrap="none" lIns="0" tIns="0" rIns="0" bIns="0" rtlCol="0" anchor="t"/>
          <a:lstStyle/>
          <a:p>
            <a:pPr algn="l" indent="0" marL="0">
              <a:lnSpc>
                <a:spcPts val="2300"/>
              </a:lnSpc>
              <a:buNone/>
            </a:pPr>
            <a:r>
              <a:rPr lang="en-US" sz="1800" b="1" dirty="0">
                <a:solidFill>
                  <a:srgbClr val="E5E0DF"/>
                </a:solidFill>
                <a:latin typeface="Inter Bold" pitchFamily="34" charset="0"/>
                <a:ea typeface="Inter Bold" pitchFamily="34" charset="-122"/>
                <a:cs typeface="Inter Bold" pitchFamily="34" charset="-120"/>
              </a:rPr>
              <a:t>Fine-tuning na polskich danych</a:t>
            </a:r>
            <a:endParaRPr lang="en-US" sz="1800" dirty="0"/>
          </a:p>
        </p:txBody>
      </p:sp>
      <p:sp>
        <p:nvSpPr>
          <p:cNvPr id="6" name="Text 4"/>
          <p:cNvSpPr/>
          <p:nvPr/>
        </p:nvSpPr>
        <p:spPr>
          <a:xfrm>
            <a:off x="787241" y="2320528"/>
            <a:ext cx="4234577" cy="2614613"/>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Wymagajcie, żeby vendor przeprowadził fine-tuning modelu na polskich danych kredytowych przed wdrożeniem produkcyjnym. Albo dostarczcie vendorowi zanonimizowany zbiór waszych historycznych decyzji (np. 10 000 aplikacji) i wymagajcie walidacji modelu na tym zbiorze. Dopóki vendor nie pokaże wam accuracy na polskich danych — nie podpisujecie.</a:t>
            </a:r>
            <a:endParaRPr lang="en-US" sz="1450" dirty="0"/>
          </a:p>
        </p:txBody>
      </p:sp>
      <p:sp>
        <p:nvSpPr>
          <p:cNvPr id="7" name="Text 5"/>
          <p:cNvSpPr/>
          <p:nvPr/>
        </p:nvSpPr>
        <p:spPr>
          <a:xfrm>
            <a:off x="5197912" y="1488758"/>
            <a:ext cx="186928" cy="23372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Light" pitchFamily="34" charset="0"/>
                <a:ea typeface="Inter Light" pitchFamily="34" charset="-122"/>
                <a:cs typeface="Inter Light" pitchFamily="34" charset="-120"/>
              </a:rPr>
              <a:t>02</a:t>
            </a:r>
            <a:endParaRPr lang="en-US" sz="1450" dirty="0"/>
          </a:p>
        </p:txBody>
      </p:sp>
      <p:sp>
        <p:nvSpPr>
          <p:cNvPr id="8" name="Shape 6"/>
          <p:cNvSpPr/>
          <p:nvPr/>
        </p:nvSpPr>
        <p:spPr>
          <a:xfrm>
            <a:off x="5197912" y="1783675"/>
            <a:ext cx="4234577" cy="22860"/>
          </a:xfrm>
          <a:prstGeom prst="rect">
            <a:avLst/>
          </a:prstGeom>
          <a:solidFill>
            <a:srgbClr val="2B0AFF"/>
          </a:solidFill>
          <a:ln/>
        </p:spPr>
      </p:sp>
      <p:sp>
        <p:nvSpPr>
          <p:cNvPr id="9" name="Text 7"/>
          <p:cNvSpPr/>
          <p:nvPr/>
        </p:nvSpPr>
        <p:spPr>
          <a:xfrm>
            <a:off x="5197912" y="1922859"/>
            <a:ext cx="4234577" cy="584121"/>
          </a:xfrm>
          <a:prstGeom prst="rect">
            <a:avLst/>
          </a:prstGeom>
          <a:noFill/>
          <a:ln/>
        </p:spPr>
        <p:txBody>
          <a:bodyPr wrap="square" lIns="0" tIns="0" rIns="0" bIns="0" rtlCol="0" anchor="t"/>
          <a:lstStyle/>
          <a:p>
            <a:pPr algn="l" indent="0" marL="0">
              <a:lnSpc>
                <a:spcPts val="2300"/>
              </a:lnSpc>
              <a:buNone/>
            </a:pPr>
            <a:r>
              <a:rPr lang="en-US" sz="1800" b="1" dirty="0">
                <a:solidFill>
                  <a:srgbClr val="E5E0DF"/>
                </a:solidFill>
                <a:latin typeface="Inter Bold" pitchFamily="34" charset="0"/>
                <a:ea typeface="Inter Bold" pitchFamily="34" charset="-122"/>
                <a:cs typeface="Inter Bold" pitchFamily="34" charset="-120"/>
              </a:rPr>
              <a:t>Wyłączenie licencji na dane do treningu</a:t>
            </a:r>
            <a:endParaRPr lang="en-US" sz="1800" dirty="0"/>
          </a:p>
        </p:txBody>
      </p:sp>
      <p:sp>
        <p:nvSpPr>
          <p:cNvPr id="10" name="Text 8"/>
          <p:cNvSpPr/>
          <p:nvPr/>
        </p:nvSpPr>
        <p:spPr>
          <a:xfrm>
            <a:off x="5197912" y="2612588"/>
            <a:ext cx="4234577" cy="2033588"/>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Zmiana w umowie: „Provider will not use Customer data for training, improving or any purposes other than providing Services to Customer. This prohibition applies to all Customer data including inputs, outputs, decisions and metadata. No opt-out required - this is default setting."</a:t>
            </a:r>
            <a:endParaRPr lang="en-US" sz="1450" dirty="0"/>
          </a:p>
        </p:txBody>
      </p:sp>
      <p:sp>
        <p:nvSpPr>
          <p:cNvPr id="11" name="Text 9"/>
          <p:cNvSpPr/>
          <p:nvPr/>
        </p:nvSpPr>
        <p:spPr>
          <a:xfrm>
            <a:off x="9608582" y="1488758"/>
            <a:ext cx="186928" cy="23372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Light" pitchFamily="34" charset="0"/>
                <a:ea typeface="Inter Light" pitchFamily="34" charset="-122"/>
                <a:cs typeface="Inter Light" pitchFamily="34" charset="-120"/>
              </a:rPr>
              <a:t>03</a:t>
            </a:r>
            <a:endParaRPr lang="en-US" sz="1450" dirty="0"/>
          </a:p>
        </p:txBody>
      </p:sp>
      <p:sp>
        <p:nvSpPr>
          <p:cNvPr id="12" name="Shape 10"/>
          <p:cNvSpPr/>
          <p:nvPr/>
        </p:nvSpPr>
        <p:spPr>
          <a:xfrm>
            <a:off x="9608582" y="1783675"/>
            <a:ext cx="4234577" cy="22860"/>
          </a:xfrm>
          <a:prstGeom prst="rect">
            <a:avLst/>
          </a:prstGeom>
          <a:solidFill>
            <a:srgbClr val="2B0AFF"/>
          </a:solidFill>
          <a:ln/>
        </p:spPr>
      </p:sp>
      <p:sp>
        <p:nvSpPr>
          <p:cNvPr id="13" name="Text 11"/>
          <p:cNvSpPr/>
          <p:nvPr/>
        </p:nvSpPr>
        <p:spPr>
          <a:xfrm>
            <a:off x="9608582" y="1922859"/>
            <a:ext cx="4234577" cy="584121"/>
          </a:xfrm>
          <a:prstGeom prst="rect">
            <a:avLst/>
          </a:prstGeom>
          <a:noFill/>
          <a:ln/>
        </p:spPr>
        <p:txBody>
          <a:bodyPr wrap="square" lIns="0" tIns="0" rIns="0" bIns="0" rtlCol="0" anchor="t"/>
          <a:lstStyle/>
          <a:p>
            <a:pPr algn="l" indent="0" marL="0">
              <a:lnSpc>
                <a:spcPts val="2300"/>
              </a:lnSpc>
              <a:buNone/>
            </a:pPr>
            <a:r>
              <a:rPr lang="en-US" sz="1800" b="1" dirty="0">
                <a:solidFill>
                  <a:srgbClr val="E5E0DF"/>
                </a:solidFill>
                <a:latin typeface="Inter Bold" pitchFamily="34" charset="0"/>
                <a:ea typeface="Inter Bold" pitchFamily="34" charset="-122"/>
                <a:cs typeface="Inter Bold" pitchFamily="34" charset="-120"/>
              </a:rPr>
              <a:t>SLA z metrykami accuracy na polskim rynku</a:t>
            </a:r>
            <a:endParaRPr lang="en-US" sz="1800" dirty="0"/>
          </a:p>
        </p:txBody>
      </p:sp>
      <p:sp>
        <p:nvSpPr>
          <p:cNvPr id="14" name="Text 12"/>
          <p:cNvSpPr/>
          <p:nvPr/>
        </p:nvSpPr>
        <p:spPr>
          <a:xfrm>
            <a:off x="9608582" y="2612588"/>
            <a:ext cx="4234577" cy="2324100"/>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Wymagajcie SLA określającego minimalną accuracy (np. 92%) dla polskiego przypadku użycia, z karami umownymi za nieosiągnięcie. Wymagajcie kwartalnego raportowania faktycznej accuracy na waszych danych produkcyjnych. Jeśli accuracy spada poniżej 90% przez dwa kwartały - prawo do wypowiedzenia umowy bez kar.</a:t>
            </a:r>
            <a:endParaRPr lang="en-US" sz="1450" dirty="0"/>
          </a:p>
        </p:txBody>
      </p:sp>
      <p:sp>
        <p:nvSpPr>
          <p:cNvPr id="15" name="Text 13"/>
          <p:cNvSpPr/>
          <p:nvPr/>
        </p:nvSpPr>
        <p:spPr>
          <a:xfrm>
            <a:off x="787241" y="5252918"/>
            <a:ext cx="186928" cy="23372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Light" pitchFamily="34" charset="0"/>
                <a:ea typeface="Inter Light" pitchFamily="34" charset="-122"/>
                <a:cs typeface="Inter Light" pitchFamily="34" charset="-120"/>
              </a:rPr>
              <a:t>04</a:t>
            </a:r>
            <a:endParaRPr lang="en-US" sz="1450" dirty="0"/>
          </a:p>
        </p:txBody>
      </p:sp>
      <p:sp>
        <p:nvSpPr>
          <p:cNvPr id="16" name="Shape 14"/>
          <p:cNvSpPr/>
          <p:nvPr/>
        </p:nvSpPr>
        <p:spPr>
          <a:xfrm>
            <a:off x="787241" y="5547836"/>
            <a:ext cx="6439853" cy="22860"/>
          </a:xfrm>
          <a:prstGeom prst="rect">
            <a:avLst/>
          </a:prstGeom>
          <a:solidFill>
            <a:srgbClr val="2B0AFF"/>
          </a:solidFill>
          <a:ln/>
        </p:spPr>
      </p:sp>
      <p:sp>
        <p:nvSpPr>
          <p:cNvPr id="17" name="Text 15"/>
          <p:cNvSpPr/>
          <p:nvPr/>
        </p:nvSpPr>
        <p:spPr>
          <a:xfrm>
            <a:off x="787241" y="5687020"/>
            <a:ext cx="5530572" cy="292060"/>
          </a:xfrm>
          <a:prstGeom prst="rect">
            <a:avLst/>
          </a:prstGeom>
          <a:noFill/>
          <a:ln/>
        </p:spPr>
        <p:txBody>
          <a:bodyPr wrap="none" lIns="0" tIns="0" rIns="0" bIns="0" rtlCol="0" anchor="t"/>
          <a:lstStyle/>
          <a:p>
            <a:pPr algn="l" indent="0" marL="0">
              <a:lnSpc>
                <a:spcPts val="2300"/>
              </a:lnSpc>
              <a:buNone/>
            </a:pPr>
            <a:r>
              <a:rPr lang="en-US" sz="1800" b="1" dirty="0">
                <a:solidFill>
                  <a:srgbClr val="E5E0DF"/>
                </a:solidFill>
                <a:latin typeface="Inter Bold" pitchFamily="34" charset="0"/>
                <a:ea typeface="Inter Bold" pitchFamily="34" charset="-122"/>
                <a:cs typeface="Inter Bold" pitchFamily="34" charset="-120"/>
              </a:rPr>
              <a:t>Jasny podział odpowiedzialności za klasyfikację</a:t>
            </a:r>
            <a:endParaRPr lang="en-US" sz="1800" dirty="0"/>
          </a:p>
        </p:txBody>
      </p:sp>
      <p:sp>
        <p:nvSpPr>
          <p:cNvPr id="18" name="Text 16"/>
          <p:cNvSpPr/>
          <p:nvPr/>
        </p:nvSpPr>
        <p:spPr>
          <a:xfrm>
            <a:off x="787241" y="6084689"/>
            <a:ext cx="6439853" cy="1452563"/>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Zmiana w umowie: „Parties acknowledge that the System constitutes high-risk AI system under EU AI Act Annex III point 5(b) when used for credit risk assessment. Provider is responsible for compliance with provider obligations under AI Act. Customer is responsible for deployer obligations."</a:t>
            </a:r>
            <a:endParaRPr lang="en-US" sz="1450" dirty="0"/>
          </a:p>
        </p:txBody>
      </p:sp>
      <p:sp>
        <p:nvSpPr>
          <p:cNvPr id="19" name="Text 17"/>
          <p:cNvSpPr/>
          <p:nvPr/>
        </p:nvSpPr>
        <p:spPr>
          <a:xfrm>
            <a:off x="7403187" y="5252918"/>
            <a:ext cx="186928" cy="23372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Light" pitchFamily="34" charset="0"/>
                <a:ea typeface="Inter Light" pitchFamily="34" charset="-122"/>
                <a:cs typeface="Inter Light" pitchFamily="34" charset="-120"/>
              </a:rPr>
              <a:t>05</a:t>
            </a:r>
            <a:endParaRPr lang="en-US" sz="1450" dirty="0"/>
          </a:p>
        </p:txBody>
      </p:sp>
      <p:sp>
        <p:nvSpPr>
          <p:cNvPr id="20" name="Shape 18"/>
          <p:cNvSpPr/>
          <p:nvPr/>
        </p:nvSpPr>
        <p:spPr>
          <a:xfrm>
            <a:off x="7403187" y="5547836"/>
            <a:ext cx="6439972" cy="22860"/>
          </a:xfrm>
          <a:prstGeom prst="rect">
            <a:avLst/>
          </a:prstGeom>
          <a:solidFill>
            <a:srgbClr val="2B0AFF"/>
          </a:solidFill>
          <a:ln/>
        </p:spPr>
      </p:sp>
      <p:sp>
        <p:nvSpPr>
          <p:cNvPr id="21" name="Text 19"/>
          <p:cNvSpPr/>
          <p:nvPr/>
        </p:nvSpPr>
        <p:spPr>
          <a:xfrm>
            <a:off x="7403187" y="5687020"/>
            <a:ext cx="3097292" cy="292060"/>
          </a:xfrm>
          <a:prstGeom prst="rect">
            <a:avLst/>
          </a:prstGeom>
          <a:noFill/>
          <a:ln/>
        </p:spPr>
        <p:txBody>
          <a:bodyPr wrap="none" lIns="0" tIns="0" rIns="0" bIns="0" rtlCol="0" anchor="t"/>
          <a:lstStyle/>
          <a:p>
            <a:pPr algn="l" indent="0" marL="0">
              <a:lnSpc>
                <a:spcPts val="2300"/>
              </a:lnSpc>
              <a:buNone/>
            </a:pPr>
            <a:r>
              <a:rPr lang="en-US" sz="1800" b="1" dirty="0">
                <a:solidFill>
                  <a:srgbClr val="E5E0DF"/>
                </a:solidFill>
                <a:latin typeface="Inter Bold" pitchFamily="34" charset="0"/>
                <a:ea typeface="Inter Bold" pitchFamily="34" charset="-122"/>
                <a:cs typeface="Inter Bold" pitchFamily="34" charset="-120"/>
              </a:rPr>
              <a:t>Exit strategy i przenośność</a:t>
            </a:r>
            <a:endParaRPr lang="en-US" sz="1800" dirty="0"/>
          </a:p>
        </p:txBody>
      </p:sp>
      <p:sp>
        <p:nvSpPr>
          <p:cNvPr id="22" name="Text 20"/>
          <p:cNvSpPr/>
          <p:nvPr/>
        </p:nvSpPr>
        <p:spPr>
          <a:xfrm>
            <a:off x="7403187" y="6084689"/>
            <a:ext cx="6439972" cy="1162050"/>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Prawo do pełnego eksportu danych w ciągu 30 dni. Vendor zobowiązuje się usunąć wszystkie dane w ciągu 90 dni. Vendor nie może wykorzystywać fine-tuned modelu dla innych klientów. 90-dniowe wsparcie przy migracji do nowego rozwiązania.</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793790" y="616029"/>
            <a:ext cx="9401175"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Debrief - Pytanie 4: Kupujemy czy nie?</a:t>
            </a:r>
            <a:endParaRPr lang="en-US" sz="3900" dirty="0"/>
          </a:p>
        </p:txBody>
      </p:sp>
      <p:sp>
        <p:nvSpPr>
          <p:cNvPr id="3" name="Text 1"/>
          <p:cNvSpPr/>
          <p:nvPr/>
        </p:nvSpPr>
        <p:spPr>
          <a:xfrm>
            <a:off x="1091446" y="1856184"/>
            <a:ext cx="12745164"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„Sam bym nie kupił w obecnej formie. Ale po renegocjacji - tak, pod warunkiem fine-tuningu na polskich danych i wyłączenia licencji treningowej."</a:t>
            </a:r>
            <a:endParaRPr lang="en-US" sz="1550" dirty="0"/>
          </a:p>
        </p:txBody>
      </p:sp>
      <p:sp>
        <p:nvSpPr>
          <p:cNvPr id="4" name="Shape 2"/>
          <p:cNvSpPr/>
          <p:nvPr/>
        </p:nvSpPr>
        <p:spPr>
          <a:xfrm>
            <a:off x="793790" y="1632942"/>
            <a:ext cx="22860" cy="1081564"/>
          </a:xfrm>
          <a:prstGeom prst="rect">
            <a:avLst/>
          </a:prstGeom>
          <a:solidFill>
            <a:srgbClr val="2B0AFF"/>
          </a:solidFill>
          <a:ln/>
        </p:spPr>
      </p:sp>
      <p:sp>
        <p:nvSpPr>
          <p:cNvPr id="5" name="Text 3"/>
          <p:cNvSpPr/>
          <p:nvPr/>
        </p:nvSpPr>
        <p:spPr>
          <a:xfrm>
            <a:off x="793790" y="293774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jest różnica między bezkrytycznym kupowaniem AI a świadomym deploymentem.</a:t>
            </a:r>
            <a:endParaRPr lang="en-US" sz="1550" dirty="0"/>
          </a:p>
        </p:txBody>
      </p:sp>
      <p:sp>
        <p:nvSpPr>
          <p:cNvPr id="6" name="Text 4"/>
          <p:cNvSpPr/>
          <p:nvPr/>
        </p:nvSpPr>
        <p:spPr>
          <a:xfrm>
            <a:off x="793790" y="3676888"/>
            <a:ext cx="3740944"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Dlaczego NIE w obecnej formie</a:t>
            </a:r>
            <a:endParaRPr lang="en-US" sz="1950" dirty="0"/>
          </a:p>
        </p:txBody>
      </p:sp>
      <p:sp>
        <p:nvSpPr>
          <p:cNvPr id="7" name="Text 5"/>
          <p:cNvSpPr/>
          <p:nvPr/>
        </p:nvSpPr>
        <p:spPr>
          <a:xfrm>
            <a:off x="793790" y="4185404"/>
            <a:ext cx="6279356" cy="2222912"/>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Model nie jest zwalidowany na polskich danych - zbyt duże ryzyko błędów</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Brak gwarancji accuracy - całe ryzyko po naszej stronie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Licencja na dane do treningu - naruszenie poufności</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Transfer do USA bez szczegółów - ryzyko RODO</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Vendor przerzuca odpowiedzialność za klasyfikację - my bierzemy ryzyko compliance bez wsparcia vendora</a:t>
            </a:r>
            <a:endParaRPr lang="en-US" sz="1550" dirty="0"/>
          </a:p>
        </p:txBody>
      </p:sp>
      <p:sp>
        <p:nvSpPr>
          <p:cNvPr id="8" name="Text 6"/>
          <p:cNvSpPr/>
          <p:nvPr/>
        </p:nvSpPr>
        <p:spPr>
          <a:xfrm>
            <a:off x="7564874" y="3676888"/>
            <a:ext cx="267902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Warunki do spełnienia</a:t>
            </a:r>
            <a:endParaRPr lang="en-US" sz="1950" dirty="0"/>
          </a:p>
        </p:txBody>
      </p:sp>
      <p:sp>
        <p:nvSpPr>
          <p:cNvPr id="9" name="Text 7"/>
          <p:cNvSpPr/>
          <p:nvPr/>
        </p:nvSpPr>
        <p:spPr>
          <a:xfrm>
            <a:off x="7564874" y="4185404"/>
            <a:ext cx="6279356" cy="1905354"/>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1"/>
            </a:pPr>
            <a:r>
              <a:rPr lang="en-US" sz="1550" dirty="0">
                <a:solidFill>
                  <a:srgbClr val="E5E0DF"/>
                </a:solidFill>
                <a:latin typeface="Inter" pitchFamily="34" charset="0"/>
                <a:ea typeface="Inter" pitchFamily="34" charset="-122"/>
                <a:cs typeface="Inter" pitchFamily="34" charset="-120"/>
              </a:rPr>
              <a:t>Fine-tuning lub walidacja na polskich danych - minimum 5000 aplikacji</a:t>
            </a:r>
            <a:endParaRPr lang="en-US" sz="1550" dirty="0"/>
          </a:p>
          <a:p>
            <a:pPr algn="l" marL="342900" indent="-342900">
              <a:lnSpc>
                <a:spcPts val="2500"/>
              </a:lnSpc>
              <a:buSzPct val="100000"/>
              <a:buFont typeface="+mj-lt"/>
              <a:buAutoNum type="arabicPeriod" startAt="2"/>
            </a:pPr>
            <a:r>
              <a:rPr lang="en-US" sz="1550" dirty="0">
                <a:solidFill>
                  <a:srgbClr val="E5E0DF"/>
                </a:solidFill>
                <a:latin typeface="Inter" pitchFamily="34" charset="0"/>
                <a:ea typeface="Inter" pitchFamily="34" charset="-122"/>
                <a:cs typeface="Inter" pitchFamily="34" charset="-120"/>
              </a:rPr>
              <a:t>SLA z accuracy 92%+ dla Polski z karami umownymi</a:t>
            </a:r>
            <a:endParaRPr lang="en-US" sz="1550" dirty="0"/>
          </a:p>
          <a:p>
            <a:pPr algn="l" marL="342900" indent="-342900">
              <a:lnSpc>
                <a:spcPts val="2500"/>
              </a:lnSpc>
              <a:buSzPct val="100000"/>
              <a:buFont typeface="+mj-lt"/>
              <a:buAutoNum type="arabicPeriod" startAt="3"/>
            </a:pPr>
            <a:r>
              <a:rPr lang="en-US" sz="1550" dirty="0">
                <a:solidFill>
                  <a:srgbClr val="E5E0DF"/>
                </a:solidFill>
                <a:latin typeface="Inter" pitchFamily="34" charset="0"/>
                <a:ea typeface="Inter" pitchFamily="34" charset="-122"/>
                <a:cs typeface="Inter" pitchFamily="34" charset="-120"/>
              </a:rPr>
              <a:t>Wyłączenie licencji treningowej - domyślnie, nie opt-out</a:t>
            </a:r>
            <a:endParaRPr lang="en-US" sz="1550" dirty="0"/>
          </a:p>
          <a:p>
            <a:pPr algn="l" marL="342900" indent="-342900">
              <a:lnSpc>
                <a:spcPts val="2500"/>
              </a:lnSpc>
              <a:buSzPct val="100000"/>
              <a:buFont typeface="+mj-lt"/>
              <a:buAutoNum type="arabicPeriod" startAt="4"/>
            </a:pPr>
            <a:r>
              <a:rPr lang="en-US" sz="1550" dirty="0">
                <a:solidFill>
                  <a:srgbClr val="E5E0DF"/>
                </a:solidFill>
                <a:latin typeface="Inter" pitchFamily="34" charset="0"/>
                <a:ea typeface="Inter" pitchFamily="34" charset="-122"/>
                <a:cs typeface="Inter" pitchFamily="34" charset="-120"/>
              </a:rPr>
              <a:t>Szczegóły sub-processorów i gwarancje RODO</a:t>
            </a:r>
            <a:endParaRPr lang="en-US" sz="1550" dirty="0"/>
          </a:p>
          <a:p>
            <a:pPr algn="l" marL="342900" indent="-342900">
              <a:lnSpc>
                <a:spcPts val="2500"/>
              </a:lnSpc>
              <a:buSzPct val="100000"/>
              <a:buFont typeface="+mj-lt"/>
              <a:buAutoNum type="arabicPeriod" startAt="5"/>
            </a:pPr>
            <a:r>
              <a:rPr lang="en-US" sz="1550" dirty="0">
                <a:solidFill>
                  <a:srgbClr val="E5E0DF"/>
                </a:solidFill>
                <a:latin typeface="Inter" pitchFamily="34" charset="0"/>
                <a:ea typeface="Inter" pitchFamily="34" charset="-122"/>
                <a:cs typeface="Inter" pitchFamily="34" charset="-120"/>
              </a:rPr>
              <a:t>Uznanie high-risk w umowie z podziałem obowiązków</a:t>
            </a:r>
            <a:endParaRPr lang="en-US" sz="1550" dirty="0"/>
          </a:p>
        </p:txBody>
      </p:sp>
      <p:sp>
        <p:nvSpPr>
          <p:cNvPr id="10" name="Text 8"/>
          <p:cNvSpPr/>
          <p:nvPr/>
        </p:nvSpPr>
        <p:spPr>
          <a:xfrm>
            <a:off x="793790" y="642343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Jeśli vendor się nie zgadza - szukamy innego vendora. Jest wielu vendorów AI do credit scoring - ci, którzy rozumieją AI Act, będą gotowi na te warunki.</a:t>
            </a:r>
            <a:endParaRPr lang="en-US" sz="15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793790" y="1490186"/>
            <a:ext cx="7305913"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Kluczowe wnioski z warsztatu</a:t>
            </a:r>
            <a:endParaRPr lang="en-US" sz="3900" dirty="0"/>
          </a:p>
        </p:txBody>
      </p:sp>
      <p:sp>
        <p:nvSpPr>
          <p:cNvPr id="3" name="Shape 1"/>
          <p:cNvSpPr/>
          <p:nvPr/>
        </p:nvSpPr>
        <p:spPr>
          <a:xfrm>
            <a:off x="770930" y="2484239"/>
            <a:ext cx="45720" cy="4278035"/>
          </a:xfrm>
          <a:prstGeom prst="rect">
            <a:avLst/>
          </a:prstGeom>
          <a:solidFill>
            <a:srgbClr val="2B0AFF"/>
          </a:solidFill>
          <a:ln/>
        </p:spPr>
      </p:sp>
      <p:sp>
        <p:nvSpPr>
          <p:cNvPr id="4" name="Text 2"/>
          <p:cNvSpPr/>
          <p:nvPr/>
        </p:nvSpPr>
        <p:spPr>
          <a:xfrm>
            <a:off x="1037868" y="2507099"/>
            <a:ext cx="3938111"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Wniosek 1: Nie ufajcie opinii vendora o klasyfikacji</a:t>
            </a:r>
            <a:endParaRPr lang="en-US" sz="1950" dirty="0"/>
          </a:p>
        </p:txBody>
      </p:sp>
      <p:sp>
        <p:nvSpPr>
          <p:cNvPr id="5" name="Text 3"/>
          <p:cNvSpPr/>
          <p:nvPr/>
        </p:nvSpPr>
        <p:spPr>
          <a:xfrm>
            <a:off x="1037868" y="3246477"/>
            <a:ext cx="3938111" cy="3492937"/>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Vendor ma interes ekonomiczny w minimalizowaniu swoich obowiązków. Vendor powie wam „to nie jest high-risk" - bo jeśli jest high-risk, vendor musi spełnić wymagania z rozdziału 2 AI Act (dokumentacja techniczna, system zarządzania jakością, oznakowanie CE, monitoring post-market). To kosztuje. Ale wy - jako deployer - odpowiadacie za klasyfikację w waszym kontekście użycia. Nie vendor.</a:t>
            </a:r>
            <a:endParaRPr lang="en-US" sz="1550" dirty="0"/>
          </a:p>
        </p:txBody>
      </p:sp>
      <p:sp>
        <p:nvSpPr>
          <p:cNvPr id="6" name="Shape 4"/>
          <p:cNvSpPr/>
          <p:nvPr/>
        </p:nvSpPr>
        <p:spPr>
          <a:xfrm>
            <a:off x="5201126" y="2484239"/>
            <a:ext cx="45720" cy="4278035"/>
          </a:xfrm>
          <a:prstGeom prst="rect">
            <a:avLst/>
          </a:prstGeom>
          <a:solidFill>
            <a:srgbClr val="2B0AFF"/>
          </a:solidFill>
          <a:ln/>
        </p:spPr>
      </p:sp>
      <p:sp>
        <p:nvSpPr>
          <p:cNvPr id="7" name="Text 5"/>
          <p:cNvSpPr/>
          <p:nvPr/>
        </p:nvSpPr>
        <p:spPr>
          <a:xfrm>
            <a:off x="5468064" y="2507099"/>
            <a:ext cx="3938230"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Wniosek 2: Model card to nie opcja - to konieczność</a:t>
            </a:r>
            <a:endParaRPr lang="en-US" sz="1950" dirty="0"/>
          </a:p>
        </p:txBody>
      </p:sp>
      <p:sp>
        <p:nvSpPr>
          <p:cNvPr id="8" name="Text 6"/>
          <p:cNvSpPr/>
          <p:nvPr/>
        </p:nvSpPr>
        <p:spPr>
          <a:xfrm>
            <a:off x="5468064" y="3246477"/>
            <a:ext cx="3938230" cy="222277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Jeśli vendor nie ma model card lub odmawia jego pokazania - nie kupujcie. Model card mówi wam wszystko, co musicie wiedzieć o ograniczeniach modelu. Bez model card kupujecie kota w worku. I nie macie jak przeprowadzić due diligence zgodnego z AI Act.</a:t>
            </a:r>
            <a:endParaRPr lang="en-US" sz="1550" dirty="0"/>
          </a:p>
        </p:txBody>
      </p:sp>
      <p:sp>
        <p:nvSpPr>
          <p:cNvPr id="9" name="Shape 7"/>
          <p:cNvSpPr/>
          <p:nvPr/>
        </p:nvSpPr>
        <p:spPr>
          <a:xfrm>
            <a:off x="9631442" y="2484239"/>
            <a:ext cx="45720" cy="4278035"/>
          </a:xfrm>
          <a:prstGeom prst="rect">
            <a:avLst/>
          </a:prstGeom>
          <a:solidFill>
            <a:srgbClr val="2B0AFF"/>
          </a:solidFill>
          <a:ln/>
        </p:spPr>
      </p:sp>
      <p:sp>
        <p:nvSpPr>
          <p:cNvPr id="10" name="Text 8"/>
          <p:cNvSpPr/>
          <p:nvPr/>
        </p:nvSpPr>
        <p:spPr>
          <a:xfrm>
            <a:off x="9898380" y="2507099"/>
            <a:ext cx="3938230"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Wniosek 3: Negocjujcie - albo odchodźcie</a:t>
            </a:r>
            <a:endParaRPr lang="en-US" sz="1950" dirty="0"/>
          </a:p>
        </p:txBody>
      </p:sp>
      <p:sp>
        <p:nvSpPr>
          <p:cNvPr id="11" name="Text 9"/>
          <p:cNvSpPr/>
          <p:nvPr/>
        </p:nvSpPr>
        <p:spPr>
          <a:xfrm>
            <a:off x="9898380" y="3246477"/>
            <a:ext cx="3938230" cy="2857857"/>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Większość vendorów AI ma regulaminy pisane dla minimalizacji swojej odpowiedzialności i maksymalizacji swoich praw (np. licencja na dane). To nie są Pisma Święte. To są punkty wyjścia do negocjacji. W wersji enterprise prawie wszystko można negocjować. Ale musicie wiedzieć co negocjować - stąd lista 10 pytań i lista red flags.</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793790" y="1176576"/>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Perspektywa KIRP</a:t>
            </a:r>
            <a:endParaRPr lang="en-US" sz="3900" dirty="0"/>
          </a:p>
        </p:txBody>
      </p:sp>
      <p:sp>
        <p:nvSpPr>
          <p:cNvPr id="3" name="Text 1"/>
          <p:cNvSpPr/>
          <p:nvPr/>
        </p:nvSpPr>
        <p:spPr>
          <a:xfrm>
            <a:off x="793790" y="1875949"/>
            <a:ext cx="5888712"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Jak radcy prawni powinni doradzać w sprawie AI</a:t>
            </a:r>
            <a:endParaRPr lang="en-US" sz="1950" dirty="0"/>
          </a:p>
        </p:txBody>
      </p:sp>
      <p:sp>
        <p:nvSpPr>
          <p:cNvPr id="4" name="Text 2"/>
          <p:cNvSpPr/>
          <p:nvPr/>
        </p:nvSpPr>
        <p:spPr>
          <a:xfrm>
            <a:off x="793790" y="248376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Jako pełnomocnik Krajowej Izby Radców Prawnych ds. AI współtworzyłem rekomendacje KIRP dotyczące korzystania z AI przez radców prawnych. Te rekomendacje nie są wiążące - to soft law, dokument wskazujący kierunek. Ale mówią coś ważnego:</a:t>
            </a:r>
            <a:endParaRPr lang="en-US" sz="1550" dirty="0"/>
          </a:p>
        </p:txBody>
      </p:sp>
      <p:sp>
        <p:nvSpPr>
          <p:cNvPr id="5" name="Text 3"/>
          <p:cNvSpPr/>
          <p:nvPr/>
        </p:nvSpPr>
        <p:spPr>
          <a:xfrm>
            <a:off x="1091446" y="3565327"/>
            <a:ext cx="12745164"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Radca prawny, który doradza klientowi w sprawie zakupu lub wdrożenia AI, musi rozumieć nie tylko regulację, ale i technologię.</a:t>
            </a:r>
            <a:endParaRPr lang="en-US" sz="1550" dirty="0"/>
          </a:p>
        </p:txBody>
      </p:sp>
      <p:sp>
        <p:nvSpPr>
          <p:cNvPr id="6" name="Shape 4"/>
          <p:cNvSpPr/>
          <p:nvPr/>
        </p:nvSpPr>
        <p:spPr>
          <a:xfrm>
            <a:off x="793790" y="3342084"/>
            <a:ext cx="22860" cy="764024"/>
          </a:xfrm>
          <a:prstGeom prst="rect">
            <a:avLst/>
          </a:prstGeom>
          <a:solidFill>
            <a:srgbClr val="2B0AFF"/>
          </a:solidFill>
          <a:ln/>
        </p:spPr>
      </p:sp>
      <p:sp>
        <p:nvSpPr>
          <p:cNvPr id="7" name="Text 5"/>
          <p:cNvSpPr/>
          <p:nvPr/>
        </p:nvSpPr>
        <p:spPr>
          <a:xfrm>
            <a:off x="793790" y="432935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jest zmiana paradygmatu w zawodzie prawniczym. Tradycyjnie prawnik mówił: „powiedz mi, co chcesz zrobić, a ja powiem ci, czy to legalne". Przy AI to nie wystarcza. Prawnik musi rozumieć:</a:t>
            </a:r>
            <a:endParaRPr lang="en-US" sz="1550" dirty="0"/>
          </a:p>
        </p:txBody>
      </p:sp>
      <p:sp>
        <p:nvSpPr>
          <p:cNvPr id="8" name="Text 6"/>
          <p:cNvSpPr/>
          <p:nvPr/>
        </p:nvSpPr>
        <p:spPr>
          <a:xfrm>
            <a:off x="793790" y="5187672"/>
            <a:ext cx="13042821" cy="1587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Jak działa model AI (choćby na poziomie konceptualnym)</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Czym jest model card i jak go czytać</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Jakie są typowe ograniczenia modeli (bias, halucynacje, drift)</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Co to znaczy „accuracy 95%" i czy to jest dobre czy złe dla danego przypadku użycia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Jakie pytania zadać vendorowi, żeby ocenić ryzyko compliance</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793790" y="1109663"/>
            <a:ext cx="6309717"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Co to oznacza dla biznesu</a:t>
            </a:r>
            <a:endParaRPr lang="en-US" sz="3900" dirty="0"/>
          </a:p>
        </p:txBody>
      </p:sp>
      <p:sp>
        <p:nvSpPr>
          <p:cNvPr id="3" name="Text 1"/>
          <p:cNvSpPr/>
          <p:nvPr/>
        </p:nvSpPr>
        <p:spPr>
          <a:xfrm>
            <a:off x="793790" y="212657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Gdy zatrudniacie kancelarię lub prawnika wewnętrznego do obsługi wdrożenia AI, zadajcie im te same pytania, które zadajecie vendorowi:</a:t>
            </a:r>
            <a:endParaRPr lang="en-US" sz="1550" dirty="0"/>
          </a:p>
        </p:txBody>
      </p:sp>
      <p:sp>
        <p:nvSpPr>
          <p:cNvPr id="4" name="Text 2"/>
          <p:cNvSpPr/>
          <p:nvPr/>
        </p:nvSpPr>
        <p:spPr>
          <a:xfrm>
            <a:off x="793790" y="286571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Pytania do prawnika</a:t>
            </a:r>
            <a:endParaRPr lang="en-US" sz="1950" dirty="0"/>
          </a:p>
        </p:txBody>
      </p:sp>
      <p:sp>
        <p:nvSpPr>
          <p:cNvPr id="5" name="Text 3"/>
          <p:cNvSpPr/>
          <p:nvPr/>
        </p:nvSpPr>
        <p:spPr>
          <a:xfrm>
            <a:off x="793790" y="3374231"/>
            <a:ext cx="6279356" cy="2540471"/>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rozumiesz, czym jest karta modelu?</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potrafisz ocenić, czy system jest high-risk w naszym kontekście użycia?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wiesz, co negocjować w umowie z dostawcą AI?</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znasz różnicę między providerem a deployerem pod AI Act?</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potrafisz przeprowadzić analizę ryzyka dla systemu AI zgodnie z art. 27 AI Act (DPIA dla deployera)?</a:t>
            </a:r>
            <a:endParaRPr lang="en-US" sz="1550" dirty="0"/>
          </a:p>
        </p:txBody>
      </p:sp>
      <p:sp>
        <p:nvSpPr>
          <p:cNvPr id="6" name="Text 4"/>
          <p:cNvSpPr/>
          <p:nvPr/>
        </p:nvSpPr>
        <p:spPr>
          <a:xfrm>
            <a:off x="7564874" y="286571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Czego unikać</a:t>
            </a:r>
            <a:endParaRPr lang="en-US" sz="1950" dirty="0"/>
          </a:p>
        </p:txBody>
      </p:sp>
      <p:sp>
        <p:nvSpPr>
          <p:cNvPr id="7" name="Text 5"/>
          <p:cNvSpPr/>
          <p:nvPr/>
        </p:nvSpPr>
        <p:spPr>
          <a:xfrm>
            <a:off x="7564874" y="3374231"/>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Najgorsze, co możecie usłyszeć od prawnika, to </a:t>
            </a:r>
            <a:pPr algn="l" indent="0" marL="0">
              <a:lnSpc>
                <a:spcPts val="2500"/>
              </a:lnSpc>
              <a:buNone/>
            </a:pPr>
            <a:r>
              <a:rPr lang="en-US" sz="1550" i="1" dirty="0">
                <a:solidFill>
                  <a:srgbClr val="E5E0DF"/>
                </a:solidFill>
                <a:latin typeface="Inter" pitchFamily="34" charset="0"/>
                <a:ea typeface="Inter" pitchFamily="34" charset="-122"/>
                <a:cs typeface="Inter" pitchFamily="34" charset="-120"/>
              </a:rPr>
              <a:t>„to zależy"</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bez dalszego ciągu.</a:t>
            </a:r>
            <a:endParaRPr lang="en-US" sz="1550" dirty="0"/>
          </a:p>
        </p:txBody>
      </p:sp>
      <p:sp>
        <p:nvSpPr>
          <p:cNvPr id="8" name="Text 6"/>
          <p:cNvSpPr/>
          <p:nvPr/>
        </p:nvSpPr>
        <p:spPr>
          <a:xfrm>
            <a:off x="7564874" y="4187904"/>
            <a:ext cx="6279356"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Złe pytanie do prawnika: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„Czy możemy używać tego AI?"</a:t>
            </a:r>
            <a:endParaRPr lang="en-US" sz="1550" dirty="0"/>
          </a:p>
        </p:txBody>
      </p:sp>
      <p:sp>
        <p:nvSpPr>
          <p:cNvPr id="9" name="Text 7"/>
          <p:cNvSpPr/>
          <p:nvPr/>
        </p:nvSpPr>
        <p:spPr>
          <a:xfrm>
            <a:off x="7564874" y="4684038"/>
            <a:ext cx="6279356" cy="635079"/>
          </a:xfrm>
          <a:prstGeom prst="rect">
            <a:avLst/>
          </a:prstGeom>
          <a:noFill/>
          <a:ln/>
        </p:spPr>
        <p:txBody>
          <a:bodyPr wrap="squar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Dobre pytanie:</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„Jakie ryzyka widzisz, jak je mitygować i ile to kosztuje? Przygotuj mi mapę decyzyjną dla tego wdrożenia."</a:t>
            </a:r>
            <a:endParaRPr lang="en-US" sz="1550" dirty="0"/>
          </a:p>
        </p:txBody>
      </p:sp>
      <p:sp>
        <p:nvSpPr>
          <p:cNvPr id="10" name="Text 8"/>
          <p:cNvSpPr/>
          <p:nvPr/>
        </p:nvSpPr>
        <p:spPr>
          <a:xfrm>
            <a:off x="793790" y="620735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Jeśli wasz prawnik nie potrafi odpowiedzieć na te pytania - potrzebujecie dodatkowej ekspertyzy. Nie jest to krytyka prawnika - AI to nowa dziedzina, nikt się tego nie uczył na studiach prawniczych. Ale compliance z AI Act wymaga tej wiedzy.</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793790" y="684490"/>
            <a:ext cx="6020991" cy="465177"/>
          </a:xfrm>
          <a:prstGeom prst="rect">
            <a:avLst/>
          </a:prstGeom>
          <a:noFill/>
          <a:ln/>
        </p:spPr>
        <p:txBody>
          <a:bodyPr wrap="none" lIns="0" tIns="0" rIns="0" bIns="0" rtlCol="0" anchor="t"/>
          <a:lstStyle/>
          <a:p>
            <a:pPr algn="l" indent="0" marL="0">
              <a:lnSpc>
                <a:spcPts val="3650"/>
              </a:lnSpc>
              <a:buNone/>
            </a:pPr>
            <a:r>
              <a:rPr lang="en-US" sz="2900" b="1" dirty="0">
                <a:solidFill>
                  <a:srgbClr val="FFFFFF"/>
                </a:solidFill>
                <a:latin typeface="Inter Bold" pitchFamily="34" charset="0"/>
                <a:ea typeface="Inter Bold" pitchFamily="34" charset="-122"/>
                <a:cs typeface="Inter Bold" pitchFamily="34" charset="-120"/>
              </a:rPr>
              <a:t>Jak rozmawiać z prawnikiem o AI</a:t>
            </a:r>
            <a:endParaRPr lang="en-US" sz="2900" dirty="0"/>
          </a:p>
        </p:txBody>
      </p:sp>
      <p:sp>
        <p:nvSpPr>
          <p:cNvPr id="3" name="Text 1"/>
          <p:cNvSpPr/>
          <p:nvPr/>
        </p:nvSpPr>
        <p:spPr>
          <a:xfrm>
            <a:off x="793790" y="1194316"/>
            <a:ext cx="2643545" cy="232529"/>
          </a:xfrm>
          <a:prstGeom prst="rect">
            <a:avLst/>
          </a:prstGeom>
          <a:noFill/>
          <a:ln/>
        </p:spPr>
        <p:txBody>
          <a:bodyPr wrap="none" lIns="0" tIns="0" rIns="0" bIns="0" rtlCol="0" anchor="t"/>
          <a:lstStyle/>
          <a:p>
            <a:pPr algn="l" indent="0" marL="0">
              <a:lnSpc>
                <a:spcPts val="1800"/>
              </a:lnSpc>
              <a:buNone/>
            </a:pPr>
            <a:r>
              <a:rPr lang="en-US" sz="1450" b="1" dirty="0">
                <a:solidFill>
                  <a:srgbClr val="FFFFFF"/>
                </a:solidFill>
                <a:latin typeface="Inter Bold" pitchFamily="34" charset="0"/>
                <a:ea typeface="Inter Bold" pitchFamily="34" charset="-122"/>
                <a:cs typeface="Inter Bold" pitchFamily="34" charset="-120"/>
              </a:rPr>
              <a:t>Trzy pary pytań: złe vs dobre</a:t>
            </a:r>
            <a:endParaRPr lang="en-US" sz="1450" dirty="0"/>
          </a:p>
        </p:txBody>
      </p:sp>
      <p:sp>
        <p:nvSpPr>
          <p:cNvPr id="4" name="Shape 2"/>
          <p:cNvSpPr/>
          <p:nvPr/>
        </p:nvSpPr>
        <p:spPr>
          <a:xfrm>
            <a:off x="793790" y="1594247"/>
            <a:ext cx="6465570" cy="446484"/>
          </a:xfrm>
          <a:prstGeom prst="roundRect">
            <a:avLst>
              <a:gd name="adj" fmla="val 480091"/>
            </a:avLst>
          </a:prstGeom>
          <a:solidFill>
            <a:srgbClr val="110080"/>
          </a:solidFill>
          <a:ln w="7620">
            <a:solidFill>
              <a:srgbClr val="2A1999"/>
            </a:solidFill>
            <a:prstDash val="solid"/>
          </a:ln>
        </p:spPr>
      </p:sp>
      <p:sp>
        <p:nvSpPr>
          <p:cNvPr id="5" name="Text 3"/>
          <p:cNvSpPr/>
          <p:nvPr/>
        </p:nvSpPr>
        <p:spPr>
          <a:xfrm>
            <a:off x="3914894" y="1677948"/>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1</a:t>
            </a:r>
            <a:endParaRPr lang="en-US" sz="1750" dirty="0"/>
          </a:p>
        </p:txBody>
      </p:sp>
      <p:sp>
        <p:nvSpPr>
          <p:cNvPr id="6" name="Text 4"/>
          <p:cNvSpPr/>
          <p:nvPr/>
        </p:nvSpPr>
        <p:spPr>
          <a:xfrm>
            <a:off x="942618" y="2152293"/>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Złe pytanie</a:t>
            </a:r>
            <a:endParaRPr lang="en-US" sz="1450" dirty="0"/>
          </a:p>
        </p:txBody>
      </p:sp>
      <p:sp>
        <p:nvSpPr>
          <p:cNvPr id="7" name="Text 5"/>
          <p:cNvSpPr/>
          <p:nvPr/>
        </p:nvSpPr>
        <p:spPr>
          <a:xfrm>
            <a:off x="942618" y="2451735"/>
            <a:ext cx="6167914" cy="208359"/>
          </a:xfrm>
          <a:prstGeom prst="rect">
            <a:avLst/>
          </a:prstGeom>
          <a:noFill/>
          <a:ln/>
        </p:spPr>
        <p:txBody>
          <a:bodyPr wrap="none" lIns="0" tIns="0" rIns="0" bIns="0" rtlCol="0" anchor="t"/>
          <a:lstStyle/>
          <a:p>
            <a:pPr algn="l" indent="0" marL="0">
              <a:lnSpc>
                <a:spcPts val="1600"/>
              </a:lnSpc>
              <a:buNone/>
            </a:pPr>
            <a:r>
              <a:rPr lang="en-US" sz="1150" dirty="0">
                <a:solidFill>
                  <a:srgbClr val="E5E0DF"/>
                </a:solidFill>
                <a:latin typeface="Inter" pitchFamily="34" charset="0"/>
                <a:ea typeface="Inter" pitchFamily="34" charset="-122"/>
                <a:cs typeface="Inter" pitchFamily="34" charset="-120"/>
              </a:rPr>
              <a:t>„Czy możemy używać ChatGPT w firmie?"</a:t>
            </a:r>
            <a:endParaRPr lang="en-US" sz="1150" dirty="0"/>
          </a:p>
        </p:txBody>
      </p:sp>
      <p:sp>
        <p:nvSpPr>
          <p:cNvPr id="8" name="Shape 6"/>
          <p:cNvSpPr/>
          <p:nvPr/>
        </p:nvSpPr>
        <p:spPr>
          <a:xfrm>
            <a:off x="7370921" y="1594247"/>
            <a:ext cx="6465689" cy="446484"/>
          </a:xfrm>
          <a:prstGeom prst="roundRect">
            <a:avLst>
              <a:gd name="adj" fmla="val 480091"/>
            </a:avLst>
          </a:prstGeom>
          <a:solidFill>
            <a:srgbClr val="110080"/>
          </a:solidFill>
          <a:ln w="7620">
            <a:solidFill>
              <a:srgbClr val="2A1999"/>
            </a:solidFill>
            <a:prstDash val="solid"/>
          </a:ln>
        </p:spPr>
      </p:sp>
      <p:sp>
        <p:nvSpPr>
          <p:cNvPr id="9" name="Text 7"/>
          <p:cNvSpPr/>
          <p:nvPr/>
        </p:nvSpPr>
        <p:spPr>
          <a:xfrm>
            <a:off x="10492145" y="1677948"/>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2</a:t>
            </a:r>
            <a:endParaRPr lang="en-US" sz="1750" dirty="0"/>
          </a:p>
        </p:txBody>
      </p:sp>
      <p:sp>
        <p:nvSpPr>
          <p:cNvPr id="10" name="Text 8"/>
          <p:cNvSpPr/>
          <p:nvPr/>
        </p:nvSpPr>
        <p:spPr>
          <a:xfrm>
            <a:off x="7519749" y="2152293"/>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Dobre pytanie</a:t>
            </a:r>
            <a:endParaRPr lang="en-US" sz="1450" dirty="0"/>
          </a:p>
        </p:txBody>
      </p:sp>
      <p:sp>
        <p:nvSpPr>
          <p:cNvPr id="11" name="Text 9"/>
          <p:cNvSpPr/>
          <p:nvPr/>
        </p:nvSpPr>
        <p:spPr>
          <a:xfrm>
            <a:off x="7519749" y="2451735"/>
            <a:ext cx="6168033" cy="833438"/>
          </a:xfrm>
          <a:prstGeom prst="rect">
            <a:avLst/>
          </a:prstGeom>
          <a:noFill/>
          <a:ln/>
        </p:spPr>
        <p:txBody>
          <a:bodyPr wrap="square" lIns="0" tIns="0" rIns="0" bIns="0" rtlCol="0" anchor="t"/>
          <a:lstStyle/>
          <a:p>
            <a:pPr algn="l" indent="0" marL="0">
              <a:lnSpc>
                <a:spcPts val="1600"/>
              </a:lnSpc>
              <a:buNone/>
            </a:pPr>
            <a:r>
              <a:rPr lang="en-US" sz="1150" dirty="0">
                <a:solidFill>
                  <a:srgbClr val="E5E0DF"/>
                </a:solidFill>
                <a:latin typeface="Inter" pitchFamily="34" charset="0"/>
                <a:ea typeface="Inter" pitchFamily="34" charset="-122"/>
                <a:cs typeface="Inter" pitchFamily="34" charset="-120"/>
              </a:rPr>
              <a:t>„Jakie warunki musimy spełnić, żeby korzystanie z generatywnego AI w dziale prawnym było zgodne z RODO i AI Act? Jakie klauzule muszą znaleźć się w naszej polityce AI? Jakie szkolenia muszemy przeprowadzić? Ile to będzie kosztowało w czasie i budżecie?"</a:t>
            </a:r>
            <a:endParaRPr lang="en-US" sz="1150" dirty="0"/>
          </a:p>
        </p:txBody>
      </p:sp>
      <p:sp>
        <p:nvSpPr>
          <p:cNvPr id="12" name="Shape 10"/>
          <p:cNvSpPr/>
          <p:nvPr/>
        </p:nvSpPr>
        <p:spPr>
          <a:xfrm>
            <a:off x="793790" y="3545562"/>
            <a:ext cx="6465570" cy="446484"/>
          </a:xfrm>
          <a:prstGeom prst="roundRect">
            <a:avLst>
              <a:gd name="adj" fmla="val 480091"/>
            </a:avLst>
          </a:prstGeom>
          <a:solidFill>
            <a:srgbClr val="110080"/>
          </a:solidFill>
          <a:ln w="7620">
            <a:solidFill>
              <a:srgbClr val="2A1999"/>
            </a:solidFill>
            <a:prstDash val="solid"/>
          </a:ln>
        </p:spPr>
      </p:sp>
      <p:sp>
        <p:nvSpPr>
          <p:cNvPr id="13" name="Text 11"/>
          <p:cNvSpPr/>
          <p:nvPr/>
        </p:nvSpPr>
        <p:spPr>
          <a:xfrm>
            <a:off x="3914894" y="3629263"/>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3</a:t>
            </a:r>
            <a:endParaRPr lang="en-US" sz="1750" dirty="0"/>
          </a:p>
        </p:txBody>
      </p:sp>
      <p:sp>
        <p:nvSpPr>
          <p:cNvPr id="14" name="Text 12"/>
          <p:cNvSpPr/>
          <p:nvPr/>
        </p:nvSpPr>
        <p:spPr>
          <a:xfrm>
            <a:off x="942618" y="4103608"/>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Złe pytanie</a:t>
            </a:r>
            <a:endParaRPr lang="en-US" sz="1450" dirty="0"/>
          </a:p>
        </p:txBody>
      </p:sp>
      <p:sp>
        <p:nvSpPr>
          <p:cNvPr id="15" name="Text 13"/>
          <p:cNvSpPr/>
          <p:nvPr/>
        </p:nvSpPr>
        <p:spPr>
          <a:xfrm>
            <a:off x="942618" y="4403050"/>
            <a:ext cx="6167914" cy="208359"/>
          </a:xfrm>
          <a:prstGeom prst="rect">
            <a:avLst/>
          </a:prstGeom>
          <a:noFill/>
          <a:ln/>
        </p:spPr>
        <p:txBody>
          <a:bodyPr wrap="none" lIns="0" tIns="0" rIns="0" bIns="0" rtlCol="0" anchor="t"/>
          <a:lstStyle/>
          <a:p>
            <a:pPr algn="l" indent="0" marL="0">
              <a:lnSpc>
                <a:spcPts val="1600"/>
              </a:lnSpc>
              <a:buNone/>
            </a:pPr>
            <a:r>
              <a:rPr lang="en-US" sz="1150" dirty="0">
                <a:solidFill>
                  <a:srgbClr val="E5E0DF"/>
                </a:solidFill>
                <a:latin typeface="Inter" pitchFamily="34" charset="0"/>
                <a:ea typeface="Inter" pitchFamily="34" charset="-122"/>
                <a:cs typeface="Inter" pitchFamily="34" charset="-120"/>
              </a:rPr>
              <a:t>„Czy to narzędzie jest high-risk?"</a:t>
            </a:r>
            <a:endParaRPr lang="en-US" sz="1150" dirty="0"/>
          </a:p>
        </p:txBody>
      </p:sp>
      <p:sp>
        <p:nvSpPr>
          <p:cNvPr id="16" name="Shape 14"/>
          <p:cNvSpPr/>
          <p:nvPr/>
        </p:nvSpPr>
        <p:spPr>
          <a:xfrm>
            <a:off x="7370921" y="3545562"/>
            <a:ext cx="6465689" cy="446484"/>
          </a:xfrm>
          <a:prstGeom prst="roundRect">
            <a:avLst>
              <a:gd name="adj" fmla="val 480091"/>
            </a:avLst>
          </a:prstGeom>
          <a:solidFill>
            <a:srgbClr val="110080"/>
          </a:solidFill>
          <a:ln w="7620">
            <a:solidFill>
              <a:srgbClr val="2A1999"/>
            </a:solidFill>
            <a:prstDash val="solid"/>
          </a:ln>
        </p:spPr>
      </p:sp>
      <p:sp>
        <p:nvSpPr>
          <p:cNvPr id="17" name="Text 15"/>
          <p:cNvSpPr/>
          <p:nvPr/>
        </p:nvSpPr>
        <p:spPr>
          <a:xfrm>
            <a:off x="10492145" y="3629263"/>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4</a:t>
            </a:r>
            <a:endParaRPr lang="en-US" sz="1750" dirty="0"/>
          </a:p>
        </p:txBody>
      </p:sp>
      <p:sp>
        <p:nvSpPr>
          <p:cNvPr id="18" name="Text 16"/>
          <p:cNvSpPr/>
          <p:nvPr/>
        </p:nvSpPr>
        <p:spPr>
          <a:xfrm>
            <a:off x="7519749" y="4103608"/>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Dobre pytanie</a:t>
            </a:r>
            <a:endParaRPr lang="en-US" sz="1450" dirty="0"/>
          </a:p>
        </p:txBody>
      </p:sp>
      <p:sp>
        <p:nvSpPr>
          <p:cNvPr id="19" name="Text 17"/>
          <p:cNvSpPr/>
          <p:nvPr/>
        </p:nvSpPr>
        <p:spPr>
          <a:xfrm>
            <a:off x="7519749" y="4403050"/>
            <a:ext cx="6168033" cy="833438"/>
          </a:xfrm>
          <a:prstGeom prst="rect">
            <a:avLst/>
          </a:prstGeom>
          <a:noFill/>
          <a:ln/>
        </p:spPr>
        <p:txBody>
          <a:bodyPr wrap="square" lIns="0" tIns="0" rIns="0" bIns="0" rtlCol="0" anchor="t"/>
          <a:lstStyle/>
          <a:p>
            <a:pPr algn="l" indent="0" marL="0">
              <a:lnSpc>
                <a:spcPts val="1600"/>
              </a:lnSpc>
              <a:buNone/>
            </a:pPr>
            <a:r>
              <a:rPr lang="en-US" sz="1150" dirty="0">
                <a:solidFill>
                  <a:srgbClr val="E5E0DF"/>
                </a:solidFill>
                <a:latin typeface="Inter" pitchFamily="34" charset="0"/>
                <a:ea typeface="Inter" pitchFamily="34" charset="-122"/>
                <a:cs typeface="Inter" pitchFamily="34" charset="-120"/>
              </a:rPr>
              <a:t>„Biorąc pod uwagę, że planujemy używać tego narzędzia do preselekcji CV kandydatów w rekrutacji, czy podlega ono obowiązkom z Aneksu III AI Act punkt 4a? Jeśli tak — jakie konkretne obowiązki spoczywają na nas jako deployerze? Co musi zrobić vendor jako provider? Kto za co odpowiada i jak to zapisać w umowie?"</a:t>
            </a:r>
            <a:endParaRPr lang="en-US" sz="1150" dirty="0"/>
          </a:p>
        </p:txBody>
      </p:sp>
      <p:sp>
        <p:nvSpPr>
          <p:cNvPr id="20" name="Shape 18"/>
          <p:cNvSpPr/>
          <p:nvPr/>
        </p:nvSpPr>
        <p:spPr>
          <a:xfrm>
            <a:off x="793790" y="5496878"/>
            <a:ext cx="6465570" cy="446484"/>
          </a:xfrm>
          <a:prstGeom prst="roundRect">
            <a:avLst>
              <a:gd name="adj" fmla="val 480091"/>
            </a:avLst>
          </a:prstGeom>
          <a:solidFill>
            <a:srgbClr val="110080"/>
          </a:solidFill>
          <a:ln w="7620">
            <a:solidFill>
              <a:srgbClr val="2A1999"/>
            </a:solidFill>
            <a:prstDash val="solid"/>
          </a:ln>
        </p:spPr>
      </p:sp>
      <p:sp>
        <p:nvSpPr>
          <p:cNvPr id="21" name="Text 19"/>
          <p:cNvSpPr/>
          <p:nvPr/>
        </p:nvSpPr>
        <p:spPr>
          <a:xfrm>
            <a:off x="3914894" y="5580578"/>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5</a:t>
            </a:r>
            <a:endParaRPr lang="en-US" sz="1750" dirty="0"/>
          </a:p>
        </p:txBody>
      </p:sp>
      <p:sp>
        <p:nvSpPr>
          <p:cNvPr id="22" name="Text 20"/>
          <p:cNvSpPr/>
          <p:nvPr/>
        </p:nvSpPr>
        <p:spPr>
          <a:xfrm>
            <a:off x="942618" y="6054923"/>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Złe pytanie</a:t>
            </a:r>
            <a:endParaRPr lang="en-US" sz="1450" dirty="0"/>
          </a:p>
        </p:txBody>
      </p:sp>
      <p:sp>
        <p:nvSpPr>
          <p:cNvPr id="23" name="Text 21"/>
          <p:cNvSpPr/>
          <p:nvPr/>
        </p:nvSpPr>
        <p:spPr>
          <a:xfrm>
            <a:off x="942618" y="6354366"/>
            <a:ext cx="6167914" cy="208359"/>
          </a:xfrm>
          <a:prstGeom prst="rect">
            <a:avLst/>
          </a:prstGeom>
          <a:noFill/>
          <a:ln/>
        </p:spPr>
        <p:txBody>
          <a:bodyPr wrap="none" lIns="0" tIns="0" rIns="0" bIns="0" rtlCol="0" anchor="t"/>
          <a:lstStyle/>
          <a:p>
            <a:pPr algn="l" indent="0" marL="0">
              <a:lnSpc>
                <a:spcPts val="1600"/>
              </a:lnSpc>
              <a:buNone/>
            </a:pPr>
            <a:r>
              <a:rPr lang="en-US" sz="1150" dirty="0">
                <a:solidFill>
                  <a:srgbClr val="E5E0DF"/>
                </a:solidFill>
                <a:latin typeface="Inter" pitchFamily="34" charset="0"/>
                <a:ea typeface="Inter" pitchFamily="34" charset="-122"/>
                <a:cs typeface="Inter" pitchFamily="34" charset="-120"/>
              </a:rPr>
              <a:t>„Czy regulamin vendora jest OK?"</a:t>
            </a:r>
            <a:endParaRPr lang="en-US" sz="1150" dirty="0"/>
          </a:p>
        </p:txBody>
      </p:sp>
      <p:sp>
        <p:nvSpPr>
          <p:cNvPr id="24" name="Shape 22"/>
          <p:cNvSpPr/>
          <p:nvPr/>
        </p:nvSpPr>
        <p:spPr>
          <a:xfrm>
            <a:off x="7370921" y="5496878"/>
            <a:ext cx="6465689" cy="446484"/>
          </a:xfrm>
          <a:prstGeom prst="roundRect">
            <a:avLst>
              <a:gd name="adj" fmla="val 480091"/>
            </a:avLst>
          </a:prstGeom>
          <a:solidFill>
            <a:srgbClr val="110080"/>
          </a:solidFill>
          <a:ln w="7620">
            <a:solidFill>
              <a:srgbClr val="2A1999"/>
            </a:solidFill>
            <a:prstDash val="solid"/>
          </a:ln>
        </p:spPr>
      </p:sp>
      <p:sp>
        <p:nvSpPr>
          <p:cNvPr id="25" name="Text 23"/>
          <p:cNvSpPr/>
          <p:nvPr/>
        </p:nvSpPr>
        <p:spPr>
          <a:xfrm>
            <a:off x="10492145" y="5580578"/>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E5E0DF"/>
                </a:solidFill>
                <a:latin typeface="Inter Bold" pitchFamily="34" charset="0"/>
                <a:ea typeface="Inter Bold" pitchFamily="34" charset="-122"/>
                <a:cs typeface="Inter Bold" pitchFamily="34" charset="-120"/>
              </a:rPr>
              <a:t>6</a:t>
            </a:r>
            <a:endParaRPr lang="en-US" sz="1750" dirty="0"/>
          </a:p>
        </p:txBody>
      </p:sp>
      <p:sp>
        <p:nvSpPr>
          <p:cNvPr id="26" name="Text 24"/>
          <p:cNvSpPr/>
          <p:nvPr/>
        </p:nvSpPr>
        <p:spPr>
          <a:xfrm>
            <a:off x="7519749" y="6054923"/>
            <a:ext cx="1860590" cy="232529"/>
          </a:xfrm>
          <a:prstGeom prst="rect">
            <a:avLst/>
          </a:prstGeom>
          <a:noFill/>
          <a:ln/>
        </p:spPr>
        <p:txBody>
          <a:bodyPr wrap="none" lIns="0" tIns="0" rIns="0" bIns="0" rtlCol="0" anchor="t"/>
          <a:lstStyle/>
          <a:p>
            <a:pPr algn="l" indent="0" marL="0">
              <a:lnSpc>
                <a:spcPts val="1800"/>
              </a:lnSpc>
              <a:buNone/>
            </a:pPr>
            <a:r>
              <a:rPr lang="en-US" sz="1450" b="1" dirty="0">
                <a:solidFill>
                  <a:srgbClr val="E5E0DF"/>
                </a:solidFill>
                <a:latin typeface="Inter Bold" pitchFamily="34" charset="0"/>
                <a:ea typeface="Inter Bold" pitchFamily="34" charset="-122"/>
                <a:cs typeface="Inter Bold" pitchFamily="34" charset="-120"/>
              </a:rPr>
              <a:t>Dobre pytanie</a:t>
            </a:r>
            <a:endParaRPr lang="en-US" sz="1450" dirty="0"/>
          </a:p>
        </p:txBody>
      </p:sp>
      <p:sp>
        <p:nvSpPr>
          <p:cNvPr id="27" name="Text 25"/>
          <p:cNvSpPr/>
          <p:nvPr/>
        </p:nvSpPr>
        <p:spPr>
          <a:xfrm>
            <a:off x="7519749" y="6354366"/>
            <a:ext cx="6168033" cy="1041797"/>
          </a:xfrm>
          <a:prstGeom prst="rect">
            <a:avLst/>
          </a:prstGeom>
          <a:noFill/>
          <a:ln/>
        </p:spPr>
        <p:txBody>
          <a:bodyPr wrap="square" lIns="0" tIns="0" rIns="0" bIns="0" rtlCol="0" anchor="t"/>
          <a:lstStyle/>
          <a:p>
            <a:pPr algn="l" indent="0" marL="0">
              <a:lnSpc>
                <a:spcPts val="1600"/>
              </a:lnSpc>
              <a:buNone/>
            </a:pPr>
            <a:r>
              <a:rPr lang="en-US" sz="1150" dirty="0">
                <a:solidFill>
                  <a:srgbClr val="E5E0DF"/>
                </a:solidFill>
                <a:latin typeface="Inter" pitchFamily="34" charset="0"/>
                <a:ea typeface="Inter" pitchFamily="34" charset="-122"/>
                <a:cs typeface="Inter" pitchFamily="34" charset="-120"/>
              </a:rPr>
              <a:t>„Przeanalizuj regulamin i model card pod kątem pięciu obszarów ryzyka: dane treningowe, klasyfikacja, exit strategy, odpowiedzialność za błędy, zmiana modelu. Wskaż red flags. Przygotuj listę 5-10 punktów do negocjacji z vendorem, uporządkowaną według priorytetu. Dla każdego punktu podaj proponowane brzmienie klauzuli i uzasadnienie biznesowe."</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793790" y="624483"/>
            <a:ext cx="7008614" cy="496133"/>
          </a:xfrm>
          <a:prstGeom prst="rect">
            <a:avLst/>
          </a:prstGeom>
          <a:noFill/>
          <a:ln/>
        </p:spPr>
        <p:txBody>
          <a:bodyPr wrap="none" lIns="0" tIns="0" rIns="0" bIns="0" rtlCol="0" anchor="t"/>
          <a:lstStyle/>
          <a:p>
            <a:pPr algn="l" indent="0" marL="0">
              <a:lnSpc>
                <a:spcPts val="3900"/>
              </a:lnSpc>
              <a:buNone/>
            </a:pPr>
            <a:r>
              <a:rPr lang="en-US" sz="3100" b="1" dirty="0">
                <a:solidFill>
                  <a:srgbClr val="FFFFFF"/>
                </a:solidFill>
                <a:latin typeface="Inter Bold" pitchFamily="34" charset="0"/>
                <a:ea typeface="Inter Bold" pitchFamily="34" charset="-122"/>
                <a:cs typeface="Inter Bold" pitchFamily="34" charset="-120"/>
              </a:rPr>
              <a:t>Rekomendacje KIRP - kluczowe tezy</a:t>
            </a:r>
            <a:endParaRPr lang="en-US" sz="3100" dirty="0"/>
          </a:p>
        </p:txBody>
      </p:sp>
      <p:sp>
        <p:nvSpPr>
          <p:cNvPr id="3" name="Shape 1"/>
          <p:cNvSpPr/>
          <p:nvPr/>
        </p:nvSpPr>
        <p:spPr>
          <a:xfrm>
            <a:off x="793790" y="1374577"/>
            <a:ext cx="13042821" cy="1144548"/>
          </a:xfrm>
          <a:prstGeom prst="roundRect">
            <a:avLst>
              <a:gd name="adj" fmla="val 5827"/>
            </a:avLst>
          </a:prstGeom>
          <a:solidFill>
            <a:srgbClr val="272525"/>
          </a:solidFill>
          <a:ln w="22860">
            <a:solidFill>
              <a:srgbClr val="2A1999"/>
            </a:solidFill>
            <a:prstDash val="solid"/>
          </a:ln>
        </p:spPr>
      </p:sp>
      <p:sp>
        <p:nvSpPr>
          <p:cNvPr id="4" name="Shape 2"/>
          <p:cNvSpPr/>
          <p:nvPr/>
        </p:nvSpPr>
        <p:spPr>
          <a:xfrm>
            <a:off x="816650" y="1397437"/>
            <a:ext cx="635079" cy="1098828"/>
          </a:xfrm>
          <a:prstGeom prst="roundRect">
            <a:avLst>
              <a:gd name="adj" fmla="val 6181"/>
            </a:avLst>
          </a:prstGeom>
          <a:solidFill>
            <a:srgbClr val="110080"/>
          </a:solidFill>
          <a:ln/>
        </p:spPr>
      </p:sp>
      <p:sp>
        <p:nvSpPr>
          <p:cNvPr id="5" name="Text 3"/>
          <p:cNvSpPr/>
          <p:nvPr/>
        </p:nvSpPr>
        <p:spPr>
          <a:xfrm>
            <a:off x="1011317" y="1797963"/>
            <a:ext cx="238125" cy="297656"/>
          </a:xfrm>
          <a:prstGeom prst="rect">
            <a:avLst/>
          </a:prstGeom>
          <a:noFill/>
          <a:ln/>
        </p:spPr>
        <p:txBody>
          <a:bodyPr wrap="none" lIns="0" tIns="0" rIns="0" bIns="0" rtlCol="0" anchor="t"/>
          <a:lstStyle/>
          <a:p>
            <a:pPr algn="l" indent="0" marL="0">
              <a:lnSpc>
                <a:spcPts val="1850"/>
              </a:lnSpc>
              <a:buNone/>
            </a:pPr>
            <a:r>
              <a:rPr lang="en-US" sz="1850" b="1" dirty="0">
                <a:solidFill>
                  <a:srgbClr val="E5E0DF"/>
                </a:solidFill>
                <a:latin typeface="Inter Bold" pitchFamily="34" charset="0"/>
                <a:ea typeface="Inter Bold" pitchFamily="34" charset="-122"/>
                <a:cs typeface="Inter Bold" pitchFamily="34" charset="-120"/>
              </a:rPr>
              <a:t>1</a:t>
            </a:r>
            <a:endParaRPr lang="en-US" sz="1850" dirty="0"/>
          </a:p>
        </p:txBody>
      </p:sp>
      <p:sp>
        <p:nvSpPr>
          <p:cNvPr id="6" name="Text 4"/>
          <p:cNvSpPr/>
          <p:nvPr/>
        </p:nvSpPr>
        <p:spPr>
          <a:xfrm>
            <a:off x="1578650" y="1556147"/>
            <a:ext cx="2819400" cy="248007"/>
          </a:xfrm>
          <a:prstGeom prst="rect">
            <a:avLst/>
          </a:prstGeom>
          <a:noFill/>
          <a:ln/>
        </p:spPr>
        <p:txBody>
          <a:bodyPr wrap="none" lIns="0" tIns="0" rIns="0" bIns="0" rtlCol="0" anchor="t"/>
          <a:lstStyle/>
          <a:p>
            <a:pPr algn="l" indent="0" marL="0">
              <a:lnSpc>
                <a:spcPts val="1950"/>
              </a:lnSpc>
              <a:buNone/>
            </a:pPr>
            <a:r>
              <a:rPr lang="en-US" sz="1550" b="1" dirty="0">
                <a:solidFill>
                  <a:srgbClr val="E5E0DF"/>
                </a:solidFill>
                <a:latin typeface="Inter Bold" pitchFamily="34" charset="0"/>
                <a:ea typeface="Inter Bold" pitchFamily="34" charset="-122"/>
                <a:cs typeface="Inter Bold" pitchFamily="34" charset="-120"/>
              </a:rPr>
              <a:t>Kompetencja technologiczna</a:t>
            </a:r>
            <a:endParaRPr lang="en-US" sz="1550" dirty="0"/>
          </a:p>
        </p:txBody>
      </p:sp>
      <p:sp>
        <p:nvSpPr>
          <p:cNvPr id="7" name="Text 5"/>
          <p:cNvSpPr/>
          <p:nvPr/>
        </p:nvSpPr>
        <p:spPr>
          <a:xfrm>
            <a:off x="1578650" y="1880354"/>
            <a:ext cx="12076390"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Radca prawny korzystający z AI lub doradzający w sprawie AI powinien posiadać podstawową wiedzę o działaniu systemów AI, ich możliwościach i ograniczeniach. Nie musi być programistą - ale musi rozumieć technologię na tyle, by ocenić ryzyka prawne.</a:t>
            </a:r>
            <a:endParaRPr lang="en-US" sz="1250" dirty="0"/>
          </a:p>
        </p:txBody>
      </p:sp>
      <p:sp>
        <p:nvSpPr>
          <p:cNvPr id="8" name="Shape 6"/>
          <p:cNvSpPr/>
          <p:nvPr/>
        </p:nvSpPr>
        <p:spPr>
          <a:xfrm>
            <a:off x="793790" y="2646045"/>
            <a:ext cx="13042821" cy="1144548"/>
          </a:xfrm>
          <a:prstGeom prst="roundRect">
            <a:avLst>
              <a:gd name="adj" fmla="val 5827"/>
            </a:avLst>
          </a:prstGeom>
          <a:solidFill>
            <a:srgbClr val="272525"/>
          </a:solidFill>
          <a:ln w="22860">
            <a:solidFill>
              <a:srgbClr val="2A1999"/>
            </a:solidFill>
            <a:prstDash val="solid"/>
          </a:ln>
        </p:spPr>
      </p:sp>
      <p:sp>
        <p:nvSpPr>
          <p:cNvPr id="9" name="Shape 7"/>
          <p:cNvSpPr/>
          <p:nvPr/>
        </p:nvSpPr>
        <p:spPr>
          <a:xfrm>
            <a:off x="816650" y="2668905"/>
            <a:ext cx="635079" cy="1098828"/>
          </a:xfrm>
          <a:prstGeom prst="roundRect">
            <a:avLst>
              <a:gd name="adj" fmla="val 6181"/>
            </a:avLst>
          </a:prstGeom>
          <a:solidFill>
            <a:srgbClr val="110080"/>
          </a:solidFill>
          <a:ln/>
        </p:spPr>
      </p:sp>
      <p:sp>
        <p:nvSpPr>
          <p:cNvPr id="10" name="Text 8"/>
          <p:cNvSpPr/>
          <p:nvPr/>
        </p:nvSpPr>
        <p:spPr>
          <a:xfrm>
            <a:off x="1011317" y="3069431"/>
            <a:ext cx="238125" cy="297656"/>
          </a:xfrm>
          <a:prstGeom prst="rect">
            <a:avLst/>
          </a:prstGeom>
          <a:noFill/>
          <a:ln/>
        </p:spPr>
        <p:txBody>
          <a:bodyPr wrap="none" lIns="0" tIns="0" rIns="0" bIns="0" rtlCol="0" anchor="t"/>
          <a:lstStyle/>
          <a:p>
            <a:pPr algn="l" indent="0" marL="0">
              <a:lnSpc>
                <a:spcPts val="1850"/>
              </a:lnSpc>
              <a:buNone/>
            </a:pPr>
            <a:r>
              <a:rPr lang="en-US" sz="1850" b="1" dirty="0">
                <a:solidFill>
                  <a:srgbClr val="E5E0DF"/>
                </a:solidFill>
                <a:latin typeface="Inter Bold" pitchFamily="34" charset="0"/>
                <a:ea typeface="Inter Bold" pitchFamily="34" charset="-122"/>
                <a:cs typeface="Inter Bold" pitchFamily="34" charset="-120"/>
              </a:rPr>
              <a:t>2</a:t>
            </a:r>
            <a:endParaRPr lang="en-US" sz="1850" dirty="0"/>
          </a:p>
        </p:txBody>
      </p:sp>
      <p:sp>
        <p:nvSpPr>
          <p:cNvPr id="11" name="Text 9"/>
          <p:cNvSpPr/>
          <p:nvPr/>
        </p:nvSpPr>
        <p:spPr>
          <a:xfrm>
            <a:off x="1578650" y="2827615"/>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E5E0DF"/>
                </a:solidFill>
                <a:latin typeface="Inter Bold" pitchFamily="34" charset="0"/>
                <a:ea typeface="Inter Bold" pitchFamily="34" charset="-122"/>
                <a:cs typeface="Inter Bold" pitchFamily="34" charset="-120"/>
              </a:rPr>
              <a:t>Weryfikacja źródeł</a:t>
            </a:r>
            <a:endParaRPr lang="en-US" sz="1550" dirty="0"/>
          </a:p>
        </p:txBody>
      </p:sp>
      <p:sp>
        <p:nvSpPr>
          <p:cNvPr id="12" name="Text 10"/>
          <p:cNvSpPr/>
          <p:nvPr/>
        </p:nvSpPr>
        <p:spPr>
          <a:xfrm>
            <a:off x="1578650" y="3151823"/>
            <a:ext cx="12076390"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Radca prawny nie może ufać ślepo wynikom generowanym przez AI. Każda istotna informacja, precedens, interpretacja przepisu musi być zweryfikowana w źródle pierwotnym. AI jest narzędziem wspomagającym, nie zastępującym.</a:t>
            </a:r>
            <a:endParaRPr lang="en-US" sz="1250" dirty="0"/>
          </a:p>
        </p:txBody>
      </p:sp>
      <p:sp>
        <p:nvSpPr>
          <p:cNvPr id="13" name="Shape 11"/>
          <p:cNvSpPr/>
          <p:nvPr/>
        </p:nvSpPr>
        <p:spPr>
          <a:xfrm>
            <a:off x="793790" y="3917513"/>
            <a:ext cx="13042821" cy="1144548"/>
          </a:xfrm>
          <a:prstGeom prst="roundRect">
            <a:avLst>
              <a:gd name="adj" fmla="val 5827"/>
            </a:avLst>
          </a:prstGeom>
          <a:solidFill>
            <a:srgbClr val="272525"/>
          </a:solidFill>
          <a:ln w="22860">
            <a:solidFill>
              <a:srgbClr val="2A1999"/>
            </a:solidFill>
            <a:prstDash val="solid"/>
          </a:ln>
        </p:spPr>
      </p:sp>
      <p:sp>
        <p:nvSpPr>
          <p:cNvPr id="14" name="Shape 12"/>
          <p:cNvSpPr/>
          <p:nvPr/>
        </p:nvSpPr>
        <p:spPr>
          <a:xfrm>
            <a:off x="816650" y="3940373"/>
            <a:ext cx="635079" cy="1098828"/>
          </a:xfrm>
          <a:prstGeom prst="roundRect">
            <a:avLst>
              <a:gd name="adj" fmla="val 6181"/>
            </a:avLst>
          </a:prstGeom>
          <a:solidFill>
            <a:srgbClr val="110080"/>
          </a:solidFill>
          <a:ln/>
        </p:spPr>
      </p:sp>
      <p:sp>
        <p:nvSpPr>
          <p:cNvPr id="15" name="Text 13"/>
          <p:cNvSpPr/>
          <p:nvPr/>
        </p:nvSpPr>
        <p:spPr>
          <a:xfrm>
            <a:off x="1011317" y="4340900"/>
            <a:ext cx="238125" cy="297656"/>
          </a:xfrm>
          <a:prstGeom prst="rect">
            <a:avLst/>
          </a:prstGeom>
          <a:noFill/>
          <a:ln/>
        </p:spPr>
        <p:txBody>
          <a:bodyPr wrap="none" lIns="0" tIns="0" rIns="0" bIns="0" rtlCol="0" anchor="t"/>
          <a:lstStyle/>
          <a:p>
            <a:pPr algn="l" indent="0" marL="0">
              <a:lnSpc>
                <a:spcPts val="1850"/>
              </a:lnSpc>
              <a:buNone/>
            </a:pPr>
            <a:r>
              <a:rPr lang="en-US" sz="1850" b="1" dirty="0">
                <a:solidFill>
                  <a:srgbClr val="E5E0DF"/>
                </a:solidFill>
                <a:latin typeface="Inter Bold" pitchFamily="34" charset="0"/>
                <a:ea typeface="Inter Bold" pitchFamily="34" charset="-122"/>
                <a:cs typeface="Inter Bold" pitchFamily="34" charset="-120"/>
              </a:rPr>
              <a:t>3</a:t>
            </a:r>
            <a:endParaRPr lang="en-US" sz="1850" dirty="0"/>
          </a:p>
        </p:txBody>
      </p:sp>
      <p:sp>
        <p:nvSpPr>
          <p:cNvPr id="16" name="Text 14"/>
          <p:cNvSpPr/>
          <p:nvPr/>
        </p:nvSpPr>
        <p:spPr>
          <a:xfrm>
            <a:off x="1578650" y="4099084"/>
            <a:ext cx="3048714" cy="248007"/>
          </a:xfrm>
          <a:prstGeom prst="rect">
            <a:avLst/>
          </a:prstGeom>
          <a:noFill/>
          <a:ln/>
        </p:spPr>
        <p:txBody>
          <a:bodyPr wrap="none" lIns="0" tIns="0" rIns="0" bIns="0" rtlCol="0" anchor="t"/>
          <a:lstStyle/>
          <a:p>
            <a:pPr algn="l" indent="0" marL="0">
              <a:lnSpc>
                <a:spcPts val="1950"/>
              </a:lnSpc>
              <a:buNone/>
            </a:pPr>
            <a:r>
              <a:rPr lang="en-US" sz="1550" b="1" dirty="0">
                <a:solidFill>
                  <a:srgbClr val="E5E0DF"/>
                </a:solidFill>
                <a:latin typeface="Inter Bold" pitchFamily="34" charset="0"/>
                <a:ea typeface="Inter Bold" pitchFamily="34" charset="-122"/>
                <a:cs typeface="Inter Bold" pitchFamily="34" charset="-120"/>
              </a:rPr>
              <a:t>Transparentność wobec klienta</a:t>
            </a:r>
            <a:endParaRPr lang="en-US" sz="1550" dirty="0"/>
          </a:p>
        </p:txBody>
      </p:sp>
      <p:sp>
        <p:nvSpPr>
          <p:cNvPr id="17" name="Text 15"/>
          <p:cNvSpPr/>
          <p:nvPr/>
        </p:nvSpPr>
        <p:spPr>
          <a:xfrm>
            <a:off x="1578650" y="4423291"/>
            <a:ext cx="12076390"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Radca prawny powinien informować klienta o wykorzystaniu AI w świadczeniu usług prawnych, o ograniczeniach narzędzi AI oraz o procedurach weryfikacji wyników.</a:t>
            </a:r>
            <a:endParaRPr lang="en-US" sz="1250" dirty="0"/>
          </a:p>
        </p:txBody>
      </p:sp>
      <p:sp>
        <p:nvSpPr>
          <p:cNvPr id="18" name="Shape 16"/>
          <p:cNvSpPr/>
          <p:nvPr/>
        </p:nvSpPr>
        <p:spPr>
          <a:xfrm>
            <a:off x="793790" y="5188982"/>
            <a:ext cx="13042821" cy="1144548"/>
          </a:xfrm>
          <a:prstGeom prst="roundRect">
            <a:avLst>
              <a:gd name="adj" fmla="val 5827"/>
            </a:avLst>
          </a:prstGeom>
          <a:solidFill>
            <a:srgbClr val="272525"/>
          </a:solidFill>
          <a:ln w="22860">
            <a:solidFill>
              <a:srgbClr val="2A1999"/>
            </a:solidFill>
            <a:prstDash val="solid"/>
          </a:ln>
        </p:spPr>
      </p:sp>
      <p:sp>
        <p:nvSpPr>
          <p:cNvPr id="19" name="Shape 17"/>
          <p:cNvSpPr/>
          <p:nvPr/>
        </p:nvSpPr>
        <p:spPr>
          <a:xfrm>
            <a:off x="816650" y="5211842"/>
            <a:ext cx="635079" cy="1098828"/>
          </a:xfrm>
          <a:prstGeom prst="roundRect">
            <a:avLst>
              <a:gd name="adj" fmla="val 6181"/>
            </a:avLst>
          </a:prstGeom>
          <a:solidFill>
            <a:srgbClr val="110080"/>
          </a:solidFill>
          <a:ln/>
        </p:spPr>
      </p:sp>
      <p:sp>
        <p:nvSpPr>
          <p:cNvPr id="20" name="Text 18"/>
          <p:cNvSpPr/>
          <p:nvPr/>
        </p:nvSpPr>
        <p:spPr>
          <a:xfrm>
            <a:off x="1011317" y="5612368"/>
            <a:ext cx="238125" cy="297656"/>
          </a:xfrm>
          <a:prstGeom prst="rect">
            <a:avLst/>
          </a:prstGeom>
          <a:noFill/>
          <a:ln/>
        </p:spPr>
        <p:txBody>
          <a:bodyPr wrap="none" lIns="0" tIns="0" rIns="0" bIns="0" rtlCol="0" anchor="t"/>
          <a:lstStyle/>
          <a:p>
            <a:pPr algn="l" indent="0" marL="0">
              <a:lnSpc>
                <a:spcPts val="1850"/>
              </a:lnSpc>
              <a:buNone/>
            </a:pPr>
            <a:r>
              <a:rPr lang="en-US" sz="1850" b="1" dirty="0">
                <a:solidFill>
                  <a:srgbClr val="E5E0DF"/>
                </a:solidFill>
                <a:latin typeface="Inter Bold" pitchFamily="34" charset="0"/>
                <a:ea typeface="Inter Bold" pitchFamily="34" charset="-122"/>
                <a:cs typeface="Inter Bold" pitchFamily="34" charset="-120"/>
              </a:rPr>
              <a:t>4</a:t>
            </a:r>
            <a:endParaRPr lang="en-US" sz="1850" dirty="0"/>
          </a:p>
        </p:txBody>
      </p:sp>
      <p:sp>
        <p:nvSpPr>
          <p:cNvPr id="21" name="Text 19"/>
          <p:cNvSpPr/>
          <p:nvPr/>
        </p:nvSpPr>
        <p:spPr>
          <a:xfrm>
            <a:off x="1578650" y="5370552"/>
            <a:ext cx="1984653" cy="248007"/>
          </a:xfrm>
          <a:prstGeom prst="rect">
            <a:avLst/>
          </a:prstGeom>
          <a:noFill/>
          <a:ln/>
        </p:spPr>
        <p:txBody>
          <a:bodyPr wrap="none" lIns="0" tIns="0" rIns="0" bIns="0" rtlCol="0" anchor="t"/>
          <a:lstStyle/>
          <a:p>
            <a:pPr algn="l" indent="0" marL="0">
              <a:lnSpc>
                <a:spcPts val="1950"/>
              </a:lnSpc>
              <a:buNone/>
            </a:pPr>
            <a:r>
              <a:rPr lang="en-US" sz="1550" b="1" dirty="0">
                <a:solidFill>
                  <a:srgbClr val="E5E0DF"/>
                </a:solidFill>
                <a:latin typeface="Inter Bold" pitchFamily="34" charset="0"/>
                <a:ea typeface="Inter Bold" pitchFamily="34" charset="-122"/>
                <a:cs typeface="Inter Bold" pitchFamily="34" charset="-120"/>
              </a:rPr>
              <a:t>Ochrona poufności</a:t>
            </a:r>
            <a:endParaRPr lang="en-US" sz="1550" dirty="0"/>
          </a:p>
        </p:txBody>
      </p:sp>
      <p:sp>
        <p:nvSpPr>
          <p:cNvPr id="22" name="Text 20"/>
          <p:cNvSpPr/>
          <p:nvPr/>
        </p:nvSpPr>
        <p:spPr>
          <a:xfrm>
            <a:off x="1578650" y="5694759"/>
            <a:ext cx="12076390"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Radca prawny musi zapewnić, że dane klienta przekazane do systemu AI są odpowiednio chronione, nie trafiają do treningu modelu, nie są udostępniane osobom trzecim. Wymaga to starannego przeglądu regulaminów narzędzi AI.</a:t>
            </a:r>
            <a:endParaRPr lang="en-US" sz="1250" dirty="0"/>
          </a:p>
        </p:txBody>
      </p:sp>
      <p:sp>
        <p:nvSpPr>
          <p:cNvPr id="23" name="Shape 21"/>
          <p:cNvSpPr/>
          <p:nvPr/>
        </p:nvSpPr>
        <p:spPr>
          <a:xfrm>
            <a:off x="793790" y="6460450"/>
            <a:ext cx="13042821" cy="1144548"/>
          </a:xfrm>
          <a:prstGeom prst="roundRect">
            <a:avLst>
              <a:gd name="adj" fmla="val 5827"/>
            </a:avLst>
          </a:prstGeom>
          <a:solidFill>
            <a:srgbClr val="272525"/>
          </a:solidFill>
          <a:ln w="22860">
            <a:solidFill>
              <a:srgbClr val="2A1999"/>
            </a:solidFill>
            <a:prstDash val="solid"/>
          </a:ln>
        </p:spPr>
      </p:sp>
      <p:sp>
        <p:nvSpPr>
          <p:cNvPr id="24" name="Shape 22"/>
          <p:cNvSpPr/>
          <p:nvPr/>
        </p:nvSpPr>
        <p:spPr>
          <a:xfrm>
            <a:off x="816650" y="6483310"/>
            <a:ext cx="635079" cy="1098828"/>
          </a:xfrm>
          <a:prstGeom prst="roundRect">
            <a:avLst>
              <a:gd name="adj" fmla="val 6181"/>
            </a:avLst>
          </a:prstGeom>
          <a:solidFill>
            <a:srgbClr val="110080"/>
          </a:solidFill>
          <a:ln/>
        </p:spPr>
      </p:sp>
      <p:sp>
        <p:nvSpPr>
          <p:cNvPr id="25" name="Text 23"/>
          <p:cNvSpPr/>
          <p:nvPr/>
        </p:nvSpPr>
        <p:spPr>
          <a:xfrm>
            <a:off x="1011317" y="6883837"/>
            <a:ext cx="238125" cy="297656"/>
          </a:xfrm>
          <a:prstGeom prst="rect">
            <a:avLst/>
          </a:prstGeom>
          <a:noFill/>
          <a:ln/>
        </p:spPr>
        <p:txBody>
          <a:bodyPr wrap="none" lIns="0" tIns="0" rIns="0" bIns="0" rtlCol="0" anchor="t"/>
          <a:lstStyle/>
          <a:p>
            <a:pPr algn="l" indent="0" marL="0">
              <a:lnSpc>
                <a:spcPts val="1850"/>
              </a:lnSpc>
              <a:buNone/>
            </a:pPr>
            <a:r>
              <a:rPr lang="en-US" sz="1850" b="1" dirty="0">
                <a:solidFill>
                  <a:srgbClr val="E5E0DF"/>
                </a:solidFill>
                <a:latin typeface="Inter Bold" pitchFamily="34" charset="0"/>
                <a:ea typeface="Inter Bold" pitchFamily="34" charset="-122"/>
                <a:cs typeface="Inter Bold" pitchFamily="34" charset="-120"/>
              </a:rPr>
              <a:t>5</a:t>
            </a:r>
            <a:endParaRPr lang="en-US" sz="1850" dirty="0"/>
          </a:p>
        </p:txBody>
      </p:sp>
      <p:sp>
        <p:nvSpPr>
          <p:cNvPr id="26" name="Text 24"/>
          <p:cNvSpPr/>
          <p:nvPr/>
        </p:nvSpPr>
        <p:spPr>
          <a:xfrm>
            <a:off x="1578650" y="6642021"/>
            <a:ext cx="2887266" cy="248007"/>
          </a:xfrm>
          <a:prstGeom prst="rect">
            <a:avLst/>
          </a:prstGeom>
          <a:noFill/>
          <a:ln/>
        </p:spPr>
        <p:txBody>
          <a:bodyPr wrap="none" lIns="0" tIns="0" rIns="0" bIns="0" rtlCol="0" anchor="t"/>
          <a:lstStyle/>
          <a:p>
            <a:pPr algn="l" indent="0" marL="0">
              <a:lnSpc>
                <a:spcPts val="1950"/>
              </a:lnSpc>
              <a:buNone/>
            </a:pPr>
            <a:r>
              <a:rPr lang="en-US" sz="1550" b="1" dirty="0">
                <a:solidFill>
                  <a:srgbClr val="E5E0DF"/>
                </a:solidFill>
                <a:latin typeface="Inter Bold" pitchFamily="34" charset="0"/>
                <a:ea typeface="Inter Bold" pitchFamily="34" charset="-122"/>
                <a:cs typeface="Inter Bold" pitchFamily="34" charset="-120"/>
              </a:rPr>
              <a:t>Odpowiedzialność zawodowa</a:t>
            </a:r>
            <a:endParaRPr lang="en-US" sz="1550" dirty="0"/>
          </a:p>
        </p:txBody>
      </p:sp>
      <p:sp>
        <p:nvSpPr>
          <p:cNvPr id="27" name="Text 25"/>
          <p:cNvSpPr/>
          <p:nvPr/>
        </p:nvSpPr>
        <p:spPr>
          <a:xfrm>
            <a:off x="1578650" y="6966228"/>
            <a:ext cx="12076390" cy="457200"/>
          </a:xfrm>
          <a:prstGeom prst="rect">
            <a:avLst/>
          </a:prstGeom>
          <a:noFill/>
          <a:ln/>
        </p:spPr>
        <p:txBody>
          <a:bodyPr wrap="square" lIns="0" tIns="0" rIns="0" bIns="0" rtlCol="0" anchor="t"/>
          <a:lstStyle/>
          <a:p>
            <a:pPr algn="l" indent="0" marL="0">
              <a:lnSpc>
                <a:spcPts val="1800"/>
              </a:lnSpc>
              <a:buNone/>
            </a:pPr>
            <a:r>
              <a:rPr lang="en-US" sz="1250" dirty="0">
                <a:solidFill>
                  <a:srgbClr val="E5E0DF"/>
                </a:solidFill>
                <a:latin typeface="Inter" pitchFamily="34" charset="0"/>
                <a:ea typeface="Inter" pitchFamily="34" charset="-122"/>
                <a:cs typeface="Inter" pitchFamily="34" charset="-120"/>
              </a:rPr>
              <a:t>Radca prawny ponosi pełną odpowiedzialność zawodową za porady udzielone klientowi, niezależnie od tego, czy korzystał z AI. Nie może zasłaniać się tym, że „AI tak powiedziało".</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793790" y="950833"/>
            <a:ext cx="5364242"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Implikacje dla biznesu</a:t>
            </a:r>
            <a:endParaRPr lang="en-US" sz="3900" dirty="0"/>
          </a:p>
        </p:txBody>
      </p:sp>
      <p:sp>
        <p:nvSpPr>
          <p:cNvPr id="3" name="Text 1"/>
          <p:cNvSpPr/>
          <p:nvPr/>
        </p:nvSpPr>
        <p:spPr>
          <a:xfrm>
            <a:off x="793790" y="196774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Rekomendacje KIRP dotyczą radców prawnych - ale ich zasady mają uniwersalne zastosowanie dla każdego, kto używa AI w pracy profesjonalnej:</a:t>
            </a:r>
            <a:endParaRPr lang="en-US" sz="1550" dirty="0"/>
          </a:p>
        </p:txBody>
      </p:sp>
      <p:sp>
        <p:nvSpPr>
          <p:cNvPr id="4" name="Text 2"/>
          <p:cNvSpPr/>
          <p:nvPr/>
        </p:nvSpPr>
        <p:spPr>
          <a:xfrm>
            <a:off x="793790" y="3024426"/>
            <a:ext cx="4267081"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Manager produktowy używający AI</a:t>
            </a:r>
            <a:endParaRPr lang="en-US" sz="1950" dirty="0"/>
          </a:p>
        </p:txBody>
      </p:sp>
      <p:sp>
        <p:nvSpPr>
          <p:cNvPr id="5" name="Text 3"/>
          <p:cNvSpPr/>
          <p:nvPr/>
        </p:nvSpPr>
        <p:spPr>
          <a:xfrm>
            <a:off x="793790" y="3532942"/>
            <a:ext cx="6279356" cy="1905354"/>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Musisz rozumieć ograniczenia narzędzia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Musisz weryfikować kluczowe decyzje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Musisz być transparentny wobec klienta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Musisz chronić dane klienta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Ponosisz odpowiedzialność za decyzje, nawet jeśli AI ci doradzało</a:t>
            </a:r>
            <a:endParaRPr lang="en-US" sz="1550" dirty="0"/>
          </a:p>
        </p:txBody>
      </p:sp>
      <p:sp>
        <p:nvSpPr>
          <p:cNvPr id="6" name="Text 4"/>
          <p:cNvSpPr/>
          <p:nvPr/>
        </p:nvSpPr>
        <p:spPr>
          <a:xfrm>
            <a:off x="7564874" y="3024426"/>
            <a:ext cx="436054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Osoba odpowiedzialna za zakupy AI</a:t>
            </a:r>
            <a:endParaRPr lang="en-US" sz="1950" dirty="0"/>
          </a:p>
        </p:txBody>
      </p:sp>
      <p:sp>
        <p:nvSpPr>
          <p:cNvPr id="7" name="Text 5"/>
          <p:cNvSpPr/>
          <p:nvPr/>
        </p:nvSpPr>
        <p:spPr>
          <a:xfrm>
            <a:off x="7564874" y="3532942"/>
            <a:ext cx="6279356" cy="2858030"/>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Musisz zrozumieć technologię wystarczająco, by ocenić ryzyka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Musisz przeprowadzić due diligence wykraczające poza cenę i funkcje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Musisz negocjować umowy z vendorami AI inaczej niż tradycyjne SaaS</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Musisz zapewnić, że dane firmy są chronione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Ponosisz odpowiedzialność za wybór vendora i warunki umowy</a:t>
            </a:r>
            <a:endParaRPr lang="en-US" sz="1550" dirty="0"/>
          </a:p>
        </p:txBody>
      </p:sp>
      <p:sp>
        <p:nvSpPr>
          <p:cNvPr id="8" name="Text 6"/>
          <p:cNvSpPr/>
          <p:nvPr/>
        </p:nvSpPr>
        <p:spPr>
          <a:xfrm>
            <a:off x="793790" y="6406089"/>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nie jest delegowanie odpowiedzialności na AI. To jest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zachowanie odpowiedzialności przy używaniu AI jako narzędzia</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a:t>
            </a:r>
            <a:endParaRPr lang="en-US" sz="15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793790" y="1310878"/>
            <a:ext cx="7723108"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Zamknięcie części drugiej zajęć</a:t>
            </a:r>
            <a:endParaRPr lang="en-US" sz="3900" dirty="0"/>
          </a:p>
        </p:txBody>
      </p:sp>
      <p:sp>
        <p:nvSpPr>
          <p:cNvPr id="3" name="Text 1"/>
          <p:cNvSpPr/>
          <p:nvPr/>
        </p:nvSpPr>
        <p:spPr>
          <a:xfrm>
            <a:off x="793790" y="2010251"/>
            <a:ext cx="3478292"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Trzy rzeczy do zapamiętania</a:t>
            </a:r>
            <a:endParaRPr lang="en-US" sz="1950" dirty="0"/>
          </a:p>
        </p:txBody>
      </p:sp>
      <p:sp>
        <p:nvSpPr>
          <p:cNvPr id="4" name="Shape 2"/>
          <p:cNvSpPr/>
          <p:nvPr/>
        </p:nvSpPr>
        <p:spPr>
          <a:xfrm>
            <a:off x="793790" y="2618065"/>
            <a:ext cx="446484" cy="446484"/>
          </a:xfrm>
          <a:prstGeom prst="roundRect">
            <a:avLst>
              <a:gd name="adj" fmla="val 18670"/>
            </a:avLst>
          </a:prstGeom>
          <a:solidFill>
            <a:srgbClr val="110080"/>
          </a:solidFill>
          <a:ln w="7620">
            <a:solidFill>
              <a:srgbClr val="2A1999"/>
            </a:solidFill>
            <a:prstDash val="solid"/>
          </a:ln>
        </p:spPr>
      </p:sp>
      <p:sp>
        <p:nvSpPr>
          <p:cNvPr id="5" name="Text 3"/>
          <p:cNvSpPr/>
          <p:nvPr/>
        </p:nvSpPr>
        <p:spPr>
          <a:xfrm>
            <a:off x="868204" y="2655272"/>
            <a:ext cx="297656" cy="372070"/>
          </a:xfrm>
          <a:prstGeom prst="rect">
            <a:avLst/>
          </a:prstGeom>
          <a:noFill/>
          <a:ln/>
        </p:spPr>
        <p:txBody>
          <a:bodyPr wrap="none" lIns="0" tIns="0" rIns="0" bIns="0" rtlCol="0" anchor="t"/>
          <a:lstStyle/>
          <a:p>
            <a:pPr algn="ctr" indent="0" marL="0">
              <a:lnSpc>
                <a:spcPts val="2300"/>
              </a:lnSpc>
              <a:buNone/>
            </a:pPr>
            <a:r>
              <a:rPr lang="en-US" sz="2300" b="1" dirty="0">
                <a:solidFill>
                  <a:srgbClr val="E5E0DF"/>
                </a:solidFill>
                <a:latin typeface="Inter Bold" pitchFamily="34" charset="0"/>
                <a:ea typeface="Inter Bold" pitchFamily="34" charset="-122"/>
                <a:cs typeface="Inter Bold" pitchFamily="34" charset="-120"/>
              </a:rPr>
              <a:t>1</a:t>
            </a:r>
            <a:endParaRPr lang="en-US" sz="2300" dirty="0"/>
          </a:p>
        </p:txBody>
      </p:sp>
      <p:sp>
        <p:nvSpPr>
          <p:cNvPr id="6" name="Text 4"/>
          <p:cNvSpPr/>
          <p:nvPr/>
        </p:nvSpPr>
        <p:spPr>
          <a:xfrm>
            <a:off x="1438632" y="2686288"/>
            <a:ext cx="3537347"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Deployer odpowiada za siebie</a:t>
            </a:r>
            <a:endParaRPr lang="en-US" sz="1950" dirty="0"/>
          </a:p>
        </p:txBody>
      </p:sp>
      <p:sp>
        <p:nvSpPr>
          <p:cNvPr id="7" name="Text 5"/>
          <p:cNvSpPr/>
          <p:nvPr/>
        </p:nvSpPr>
        <p:spPr>
          <a:xfrm>
            <a:off x="1438632" y="3425666"/>
            <a:ext cx="3537347" cy="3492937"/>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Opinia prawna vendora, certyfikat vendora, zapewnienie vendora - nic z tego was nie chroni. AI Act nakłada na deployera odrębne obowiązki: klasyfikacja w swoim kontekście użycia, monitoring, human oversight, logowanie, informowanie pracowników, współpraca z organem nadzoru. To jest wasza odpowiedzialność - niezależna od tego, co robi vendor.</a:t>
            </a:r>
            <a:endParaRPr lang="en-US" sz="1550" dirty="0"/>
          </a:p>
        </p:txBody>
      </p:sp>
      <p:sp>
        <p:nvSpPr>
          <p:cNvPr id="8" name="Shape 6"/>
          <p:cNvSpPr/>
          <p:nvPr/>
        </p:nvSpPr>
        <p:spPr>
          <a:xfrm>
            <a:off x="5223986" y="2618065"/>
            <a:ext cx="446484" cy="446484"/>
          </a:xfrm>
          <a:prstGeom prst="roundRect">
            <a:avLst>
              <a:gd name="adj" fmla="val 18670"/>
            </a:avLst>
          </a:prstGeom>
          <a:solidFill>
            <a:srgbClr val="110080"/>
          </a:solidFill>
          <a:ln w="7620">
            <a:solidFill>
              <a:srgbClr val="2A1999"/>
            </a:solidFill>
            <a:prstDash val="solid"/>
          </a:ln>
        </p:spPr>
      </p:sp>
      <p:sp>
        <p:nvSpPr>
          <p:cNvPr id="9" name="Text 7"/>
          <p:cNvSpPr/>
          <p:nvPr/>
        </p:nvSpPr>
        <p:spPr>
          <a:xfrm>
            <a:off x="5298400" y="2655272"/>
            <a:ext cx="297656" cy="372070"/>
          </a:xfrm>
          <a:prstGeom prst="rect">
            <a:avLst/>
          </a:prstGeom>
          <a:noFill/>
          <a:ln/>
        </p:spPr>
        <p:txBody>
          <a:bodyPr wrap="none" lIns="0" tIns="0" rIns="0" bIns="0" rtlCol="0" anchor="t"/>
          <a:lstStyle/>
          <a:p>
            <a:pPr algn="ctr" indent="0" marL="0">
              <a:lnSpc>
                <a:spcPts val="2300"/>
              </a:lnSpc>
              <a:buNone/>
            </a:pPr>
            <a:r>
              <a:rPr lang="en-US" sz="2300" b="1" dirty="0">
                <a:solidFill>
                  <a:srgbClr val="E5E0DF"/>
                </a:solidFill>
                <a:latin typeface="Inter Bold" pitchFamily="34" charset="0"/>
                <a:ea typeface="Inter Bold" pitchFamily="34" charset="-122"/>
                <a:cs typeface="Inter Bold" pitchFamily="34" charset="-120"/>
              </a:rPr>
              <a:t>2</a:t>
            </a:r>
            <a:endParaRPr lang="en-US" sz="2300" dirty="0"/>
          </a:p>
        </p:txBody>
      </p:sp>
      <p:sp>
        <p:nvSpPr>
          <p:cNvPr id="10" name="Text 8"/>
          <p:cNvSpPr/>
          <p:nvPr/>
        </p:nvSpPr>
        <p:spPr>
          <a:xfrm>
            <a:off x="5868829" y="2686288"/>
            <a:ext cx="3537466"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Due diligence AI to nie jest przegląd regulaminu</a:t>
            </a:r>
            <a:endParaRPr lang="en-US" sz="1950" dirty="0"/>
          </a:p>
        </p:txBody>
      </p:sp>
      <p:sp>
        <p:nvSpPr>
          <p:cNvPr id="11" name="Text 9"/>
          <p:cNvSpPr/>
          <p:nvPr/>
        </p:nvSpPr>
        <p:spPr>
          <a:xfrm>
            <a:off x="5868829" y="3425666"/>
            <a:ext cx="3537466" cy="3175397"/>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To jest analiza pięciu warstw: dane (czy trafiają do treningu), model (model card, ograniczenia, stopy błędów), klasyfikacja (high-risk czy nie, kto za nią odpowiada), exit (co się stanie z danymi po zakończeniu współpracy), odpowiedzialność (kto płaci za halucynacje). Jeśli wasz dział prawny nie umie tego zrobić - potrzebujecie kogoś, kto umie.</a:t>
            </a:r>
            <a:endParaRPr lang="en-US" sz="1550" dirty="0"/>
          </a:p>
        </p:txBody>
      </p:sp>
      <p:sp>
        <p:nvSpPr>
          <p:cNvPr id="12" name="Shape 10"/>
          <p:cNvSpPr/>
          <p:nvPr/>
        </p:nvSpPr>
        <p:spPr>
          <a:xfrm>
            <a:off x="9654302" y="2618065"/>
            <a:ext cx="446484" cy="446484"/>
          </a:xfrm>
          <a:prstGeom prst="roundRect">
            <a:avLst>
              <a:gd name="adj" fmla="val 18670"/>
            </a:avLst>
          </a:prstGeom>
          <a:solidFill>
            <a:srgbClr val="110080"/>
          </a:solidFill>
          <a:ln w="7620">
            <a:solidFill>
              <a:srgbClr val="2A1999"/>
            </a:solidFill>
            <a:prstDash val="solid"/>
          </a:ln>
        </p:spPr>
      </p:sp>
      <p:sp>
        <p:nvSpPr>
          <p:cNvPr id="13" name="Text 11"/>
          <p:cNvSpPr/>
          <p:nvPr/>
        </p:nvSpPr>
        <p:spPr>
          <a:xfrm>
            <a:off x="9728716" y="2655272"/>
            <a:ext cx="297656" cy="372070"/>
          </a:xfrm>
          <a:prstGeom prst="rect">
            <a:avLst/>
          </a:prstGeom>
          <a:noFill/>
          <a:ln/>
        </p:spPr>
        <p:txBody>
          <a:bodyPr wrap="none" lIns="0" tIns="0" rIns="0" bIns="0" rtlCol="0" anchor="t"/>
          <a:lstStyle/>
          <a:p>
            <a:pPr algn="ctr" indent="0" marL="0">
              <a:lnSpc>
                <a:spcPts val="2300"/>
              </a:lnSpc>
              <a:buNone/>
            </a:pPr>
            <a:r>
              <a:rPr lang="en-US" sz="2300" b="1" dirty="0">
                <a:solidFill>
                  <a:srgbClr val="E5E0DF"/>
                </a:solidFill>
                <a:latin typeface="Inter Bold" pitchFamily="34" charset="0"/>
                <a:ea typeface="Inter Bold" pitchFamily="34" charset="-122"/>
                <a:cs typeface="Inter Bold" pitchFamily="34" charset="-120"/>
              </a:rPr>
              <a:t>3</a:t>
            </a:r>
            <a:endParaRPr lang="en-US" sz="2300" dirty="0"/>
          </a:p>
        </p:txBody>
      </p:sp>
      <p:sp>
        <p:nvSpPr>
          <p:cNvPr id="14" name="Text 12"/>
          <p:cNvSpPr/>
          <p:nvPr/>
        </p:nvSpPr>
        <p:spPr>
          <a:xfrm>
            <a:off x="10299144" y="2686288"/>
            <a:ext cx="3537466" cy="620316"/>
          </a:xfrm>
          <a:prstGeom prst="rect">
            <a:avLst/>
          </a:prstGeom>
          <a:noFill/>
          <a:ln/>
        </p:spPr>
        <p:txBody>
          <a:bodyPr wrap="squar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Negocjujcie - albo odchodźcie</a:t>
            </a:r>
            <a:endParaRPr lang="en-US" sz="1950" dirty="0"/>
          </a:p>
        </p:txBody>
      </p:sp>
      <p:sp>
        <p:nvSpPr>
          <p:cNvPr id="15" name="Text 13"/>
          <p:cNvSpPr/>
          <p:nvPr/>
        </p:nvSpPr>
        <p:spPr>
          <a:xfrm>
            <a:off x="10299144" y="3425666"/>
            <a:ext cx="3537466" cy="3175397"/>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Większość regulaminów narzędzi AI to nie jest Pismo Święte. To są umowy adhezyjne, które można negocjować - szczególnie w wersji enterprise. Ale negocjować trzeba wiedzieć co. Dlatego lista 10 pytań i lista red flags to nie jest ciekawostka - to jest narzędzie pracy. Jeśli vendor odmawia negocjacji kluczowych punktów - szukajcie innego vendora.</a:t>
            </a:r>
            <a:endParaRPr lang="en-US" sz="15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793790" y="649486"/>
            <a:ext cx="11147822" cy="589121"/>
          </a:xfrm>
          <a:prstGeom prst="rect">
            <a:avLst/>
          </a:prstGeom>
          <a:noFill/>
          <a:ln/>
        </p:spPr>
        <p:txBody>
          <a:bodyPr wrap="none" lIns="0" tIns="0" rIns="0" bIns="0" rtlCol="0" anchor="t"/>
          <a:lstStyle/>
          <a:p>
            <a:pPr algn="l" indent="0" marL="0">
              <a:lnSpc>
                <a:spcPts val="4600"/>
              </a:lnSpc>
              <a:buNone/>
            </a:pPr>
            <a:r>
              <a:rPr lang="en-US" sz="3700" b="1" dirty="0">
                <a:solidFill>
                  <a:srgbClr val="FFFFFF"/>
                </a:solidFill>
                <a:latin typeface="Inter Bold" pitchFamily="34" charset="0"/>
                <a:ea typeface="Inter Bold" pitchFamily="34" charset="-122"/>
                <a:cs typeface="Inter Bold" pitchFamily="34" charset="-120"/>
              </a:rPr>
              <a:t>Case study: Kiedy due diligence uratowało firmę</a:t>
            </a:r>
            <a:endParaRPr lang="en-US" sz="3700" dirty="0"/>
          </a:p>
        </p:txBody>
      </p:sp>
      <p:sp>
        <p:nvSpPr>
          <p:cNvPr id="3" name="Text 1"/>
          <p:cNvSpPr/>
          <p:nvPr/>
        </p:nvSpPr>
        <p:spPr>
          <a:xfrm>
            <a:off x="793790" y="1596747"/>
            <a:ext cx="13042821" cy="58840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Przykład z mojej praktyki (szczegóły zanonimizowane): duża polska firma e-commerce planowała wdrożenie systemu AI do personalizacji ofert i dynamicznej wyceny. Vendor oferował „gotowe rozwiązanie" używane przez 50+ firm w Europie. Cena bardzo atrakcyjna. Wdrożenie w 6 tygodni.</a:t>
            </a:r>
            <a:endParaRPr lang="en-US" sz="1450" dirty="0"/>
          </a:p>
        </p:txBody>
      </p:sp>
      <p:sp>
        <p:nvSpPr>
          <p:cNvPr id="4" name="Text 2"/>
          <p:cNvSpPr/>
          <p:nvPr/>
        </p:nvSpPr>
        <p:spPr>
          <a:xfrm>
            <a:off x="793790" y="2386608"/>
            <a:ext cx="13042821" cy="58840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Dział zakupów był gotowy podpisać umowę. Ale dział prawny - który przeszedł szkolenie z AI Act - poprosił o due diligence zgodne z pięcioma obszarami.</a:t>
            </a:r>
            <a:endParaRPr lang="en-US" sz="1450" dirty="0"/>
          </a:p>
        </p:txBody>
      </p:sp>
      <p:sp>
        <p:nvSpPr>
          <p:cNvPr id="5" name="Text 3"/>
          <p:cNvSpPr/>
          <p:nvPr/>
        </p:nvSpPr>
        <p:spPr>
          <a:xfrm>
            <a:off x="793790" y="3355538"/>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Inter Bold" pitchFamily="34" charset="0"/>
                <a:ea typeface="Inter Bold" pitchFamily="34" charset="-122"/>
                <a:cs typeface="Inter Bold" pitchFamily="34" charset="-120"/>
              </a:rPr>
              <a:t>Co znaleźli</a:t>
            </a:r>
            <a:endParaRPr lang="en-US" sz="1850" dirty="0"/>
          </a:p>
        </p:txBody>
      </p:sp>
      <p:sp>
        <p:nvSpPr>
          <p:cNvPr id="6" name="Text 4"/>
          <p:cNvSpPr/>
          <p:nvPr/>
        </p:nvSpPr>
        <p:spPr>
          <a:xfrm>
            <a:off x="793790" y="3829288"/>
            <a:ext cx="6291382" cy="2647250"/>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E5E0DF"/>
                </a:solidFill>
                <a:latin typeface="Inter" pitchFamily="34" charset="0"/>
                <a:ea typeface="Inter" pitchFamily="34" charset="-122"/>
                <a:cs typeface="Inter" pitchFamily="34" charset="-120"/>
              </a:rPr>
              <a:t>Model trenowany głównie na danych z UK i Skandynawii - nie walidowany na polskim rynku</a:t>
            </a:r>
            <a:endParaRPr lang="en-US" sz="1450" dirty="0"/>
          </a:p>
          <a:p>
            <a:pPr algn="l" marL="342900" indent="-342900">
              <a:lnSpc>
                <a:spcPts val="2300"/>
              </a:lnSpc>
              <a:buSzPct val="100000"/>
              <a:buChar char="•"/>
            </a:pPr>
            <a:r>
              <a:rPr lang="en-US" sz="1450" dirty="0">
                <a:solidFill>
                  <a:srgbClr val="E5E0DF"/>
                </a:solidFill>
                <a:latin typeface="Inter" pitchFamily="34" charset="0"/>
                <a:ea typeface="Inter" pitchFamily="34" charset="-122"/>
                <a:cs typeface="Inter" pitchFamily="34" charset="-120"/>
              </a:rPr>
              <a:t>Regulamin pozwalał vendorowi używać danych klienta do „ulepszania produktu" - co obejmowało trening</a:t>
            </a:r>
            <a:endParaRPr lang="en-US" sz="1450" dirty="0"/>
          </a:p>
          <a:p>
            <a:pPr algn="l" marL="342900" indent="-342900">
              <a:lnSpc>
                <a:spcPts val="2300"/>
              </a:lnSpc>
              <a:buSzPct val="100000"/>
              <a:buChar char="•"/>
            </a:pPr>
            <a:r>
              <a:rPr lang="en-US" sz="1450" dirty="0">
                <a:solidFill>
                  <a:srgbClr val="E5E0DF"/>
                </a:solidFill>
                <a:latin typeface="Inter" pitchFamily="34" charset="0"/>
                <a:ea typeface="Inter" pitchFamily="34" charset="-122"/>
                <a:cs typeface="Inter" pitchFamily="34" charset="-120"/>
              </a:rPr>
              <a:t>Brak model card - vendor odmówił pokazania dokumentacji technicznej</a:t>
            </a:r>
            <a:endParaRPr lang="en-US" sz="1450" dirty="0"/>
          </a:p>
          <a:p>
            <a:pPr algn="l" marL="342900" indent="-342900">
              <a:lnSpc>
                <a:spcPts val="2300"/>
              </a:lnSpc>
              <a:buSzPct val="100000"/>
              <a:buChar char="•"/>
            </a:pPr>
            <a:r>
              <a:rPr lang="en-US" sz="1450" dirty="0">
                <a:solidFill>
                  <a:srgbClr val="E5E0DF"/>
                </a:solidFill>
                <a:latin typeface="Inter" pitchFamily="34" charset="0"/>
                <a:ea typeface="Inter" pitchFamily="34" charset="-122"/>
                <a:cs typeface="Inter" pitchFamily="34" charset="-120"/>
              </a:rPr>
              <a:t>Transfer danych do sub-processorów w USA bez szczegółów</a:t>
            </a:r>
            <a:endParaRPr lang="en-US" sz="1450" dirty="0"/>
          </a:p>
          <a:p>
            <a:pPr algn="l" marL="342900" indent="-342900">
              <a:lnSpc>
                <a:spcPts val="2300"/>
              </a:lnSpc>
              <a:buSzPct val="100000"/>
              <a:buChar char="•"/>
            </a:pPr>
            <a:r>
              <a:rPr lang="en-US" sz="1450" dirty="0">
                <a:solidFill>
                  <a:srgbClr val="E5E0DF"/>
                </a:solidFill>
                <a:latin typeface="Inter" pitchFamily="34" charset="0"/>
                <a:ea typeface="Inter" pitchFamily="34" charset="-122"/>
                <a:cs typeface="Inter" pitchFamily="34" charset="-120"/>
              </a:rPr>
              <a:t>Klauzula pozwalająca vendorowi zmieniać model bez powiadomienia</a:t>
            </a:r>
            <a:endParaRPr lang="en-US" sz="1450" dirty="0"/>
          </a:p>
        </p:txBody>
      </p:sp>
      <p:sp>
        <p:nvSpPr>
          <p:cNvPr id="7" name="Text 5"/>
          <p:cNvSpPr/>
          <p:nvPr/>
        </p:nvSpPr>
        <p:spPr>
          <a:xfrm>
            <a:off x="7552849" y="3355538"/>
            <a:ext cx="2356842" cy="294680"/>
          </a:xfrm>
          <a:prstGeom prst="rect">
            <a:avLst/>
          </a:prstGeom>
          <a:noFill/>
          <a:ln/>
        </p:spPr>
        <p:txBody>
          <a:bodyPr wrap="none" lIns="0" tIns="0" rIns="0" bIns="0" rtlCol="0" anchor="t"/>
          <a:lstStyle/>
          <a:p>
            <a:pPr algn="l" indent="0" marL="0">
              <a:lnSpc>
                <a:spcPts val="2300"/>
              </a:lnSpc>
              <a:buNone/>
            </a:pPr>
            <a:r>
              <a:rPr lang="en-US" sz="1850" b="1" dirty="0">
                <a:solidFill>
                  <a:srgbClr val="FFFFFF"/>
                </a:solidFill>
                <a:latin typeface="Inter Bold" pitchFamily="34" charset="0"/>
                <a:ea typeface="Inter Bold" pitchFamily="34" charset="-122"/>
                <a:cs typeface="Inter Bold" pitchFamily="34" charset="-120"/>
              </a:rPr>
              <a:t>Co zrobili</a:t>
            </a:r>
            <a:endParaRPr lang="en-US" sz="1850" dirty="0"/>
          </a:p>
        </p:txBody>
      </p:sp>
      <p:sp>
        <p:nvSpPr>
          <p:cNvPr id="8" name="Text 6"/>
          <p:cNvSpPr/>
          <p:nvPr/>
        </p:nvSpPr>
        <p:spPr>
          <a:xfrm>
            <a:off x="7552849" y="3829288"/>
            <a:ext cx="6291382" cy="1176814"/>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Dział prawny przedstawił zarządowi raport ryzyka: potencjalne naruszenie RODO (transfer, brak podstawy prawnej dla treningu), ryzyko AI Act (brak dokumentacji), ryzyko biznesowe (model nieadekwatny dla Polski).</a:t>
            </a:r>
            <a:endParaRPr lang="en-US" sz="1450" dirty="0"/>
          </a:p>
        </p:txBody>
      </p:sp>
      <p:sp>
        <p:nvSpPr>
          <p:cNvPr id="9" name="Text 7"/>
          <p:cNvSpPr/>
          <p:nvPr/>
        </p:nvSpPr>
        <p:spPr>
          <a:xfrm>
            <a:off x="7552849" y="5167313"/>
            <a:ext cx="6291382" cy="58840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Zarząd zdecydował: negocjacje lub rezygnacja. Vendor odmówił negocjacji kluczowych punktów („to nasz standardowy regulamin").</a:t>
            </a:r>
            <a:endParaRPr lang="en-US" sz="1450" dirty="0"/>
          </a:p>
        </p:txBody>
      </p:sp>
      <p:sp>
        <p:nvSpPr>
          <p:cNvPr id="10" name="Text 8"/>
          <p:cNvSpPr/>
          <p:nvPr/>
        </p:nvSpPr>
        <p:spPr>
          <a:xfrm>
            <a:off x="7552849" y="5916930"/>
            <a:ext cx="6291382" cy="588407"/>
          </a:xfrm>
          <a:prstGeom prst="rect">
            <a:avLst/>
          </a:prstGeom>
          <a:noFill/>
          <a:ln/>
        </p:spPr>
        <p:txBody>
          <a:bodyPr wrap="square" lIns="0" tIns="0" rIns="0" bIns="0" rtlCol="0" anchor="t"/>
          <a:lstStyle/>
          <a:p>
            <a:pPr algn="l" indent="0" marL="0">
              <a:lnSpc>
                <a:spcPts val="2300"/>
              </a:lnSpc>
              <a:buNone/>
            </a:pPr>
            <a:r>
              <a:rPr lang="en-US" sz="1450" dirty="0">
                <a:solidFill>
                  <a:srgbClr val="E5E0DF"/>
                </a:solidFill>
                <a:latin typeface="Inter" pitchFamily="34" charset="0"/>
                <a:ea typeface="Inter" pitchFamily="34" charset="-122"/>
                <a:cs typeface="Inter" pitchFamily="34" charset="-120"/>
              </a:rPr>
              <a:t>Firma wycofała się z transakcji. Znalazła innego vendora — droższy, ale z pełną dokumentacją i gotowością do negocjacji.</a:t>
            </a:r>
            <a:endParaRPr lang="en-US" sz="1450" dirty="0"/>
          </a:p>
        </p:txBody>
      </p:sp>
      <p:sp>
        <p:nvSpPr>
          <p:cNvPr id="11" name="Text 9"/>
          <p:cNvSpPr/>
          <p:nvPr/>
        </p:nvSpPr>
        <p:spPr>
          <a:xfrm>
            <a:off x="793790" y="6740618"/>
            <a:ext cx="13042821" cy="588407"/>
          </a:xfrm>
          <a:prstGeom prst="rect">
            <a:avLst/>
          </a:prstGeom>
          <a:noFill/>
          <a:ln/>
        </p:spPr>
        <p:txBody>
          <a:bodyPr wrap="square" lIns="0" tIns="0" rIns="0" bIns="0" rtlCol="0" anchor="t"/>
          <a:lstStyle/>
          <a:p>
            <a:pPr algn="l" indent="0" marL="0">
              <a:lnSpc>
                <a:spcPts val="2300"/>
              </a:lnSpc>
              <a:buNone/>
            </a:pPr>
            <a:r>
              <a:rPr lang="en-US" sz="1450" b="1" dirty="0">
                <a:solidFill>
                  <a:srgbClr val="E5E0DF"/>
                </a:solidFill>
                <a:latin typeface="Inter" pitchFamily="34" charset="0"/>
                <a:ea typeface="Inter" pitchFamily="34" charset="-122"/>
                <a:cs typeface="Inter" pitchFamily="34" charset="-120"/>
              </a:rPr>
              <a:t>Epilog:</a:t>
            </a:r>
            <a:pPr algn="l" indent="0" marL="0">
              <a:lnSpc>
                <a:spcPts val="2300"/>
              </a:lnSpc>
              <a:buNone/>
            </a:pPr>
            <a:r>
              <a:rPr lang="en-US" sz="1450" dirty="0">
                <a:solidFill>
                  <a:srgbClr val="E5E0DF"/>
                </a:solidFill>
                <a:latin typeface="Inter" pitchFamily="34" charset="0"/>
                <a:ea typeface="Inter" pitchFamily="34" charset="-122"/>
                <a:cs typeface="Inter" pitchFamily="34" charset="-120"/>
              </a:rPr>
              <a:t> 6 miesięcy później pierwszy vendor miał poważny incydent bezpieczeństwa - wyciek danych klientów. Kilka firm pozwało vendora. Firma, która wycofała się, uniknęła problemu.</a:t>
            </a:r>
            <a:endParaRPr lang="en-US" sz="14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793790" y="873681"/>
            <a:ext cx="9087326" cy="434102"/>
          </a:xfrm>
          <a:prstGeom prst="rect">
            <a:avLst/>
          </a:prstGeom>
          <a:noFill/>
          <a:ln/>
        </p:spPr>
        <p:txBody>
          <a:bodyPr wrap="none" lIns="0" tIns="0" rIns="0" bIns="0" rtlCol="0" anchor="t"/>
          <a:lstStyle/>
          <a:p>
            <a:pPr algn="l" indent="0" marL="0">
              <a:lnSpc>
                <a:spcPts val="3400"/>
              </a:lnSpc>
              <a:buNone/>
            </a:pPr>
            <a:r>
              <a:rPr lang="en-US" sz="2700" b="1" dirty="0">
                <a:solidFill>
                  <a:srgbClr val="FFFFFF"/>
                </a:solidFill>
                <a:latin typeface="Inter Bold" pitchFamily="34" charset="0"/>
                <a:ea typeface="Inter Bold" pitchFamily="34" charset="-122"/>
                <a:cs typeface="Inter Bold" pitchFamily="34" charset="-120"/>
              </a:rPr>
              <a:t>Case study: Kiedy brak due diligence kosztował firmę</a:t>
            </a:r>
            <a:endParaRPr lang="en-US" sz="2700" dirty="0"/>
          </a:p>
        </p:txBody>
      </p:sp>
      <p:sp>
        <p:nvSpPr>
          <p:cNvPr id="3" name="Text 1"/>
          <p:cNvSpPr/>
          <p:nvPr/>
        </p:nvSpPr>
        <p:spPr>
          <a:xfrm>
            <a:off x="793790" y="1502212"/>
            <a:ext cx="13042821" cy="472440"/>
          </a:xfrm>
          <a:prstGeom prst="rect">
            <a:avLst/>
          </a:prstGeom>
          <a:noFill/>
          <a:ln/>
        </p:spPr>
        <p:txBody>
          <a:bodyPr wrap="squar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Drugi przykład (również zanonimizowany): niemiecka firma rekrutacyjna wdrożyła AI do preselekcji CV. Nie przeprowadzili due diligence. Vendor zapewniał, że system jest „state-of-the-art" i używany przez firmy z listy Fortune 500.</a:t>
            </a:r>
            <a:endParaRPr lang="en-US" sz="1350" dirty="0"/>
          </a:p>
        </p:txBody>
      </p:sp>
      <p:sp>
        <p:nvSpPr>
          <p:cNvPr id="4" name="Text 2"/>
          <p:cNvSpPr/>
          <p:nvPr/>
        </p:nvSpPr>
        <p:spPr>
          <a:xfrm>
            <a:off x="793790" y="2083951"/>
            <a:ext cx="13042821" cy="472440"/>
          </a:xfrm>
          <a:prstGeom prst="rect">
            <a:avLst/>
          </a:prstGeom>
          <a:noFill/>
          <a:ln/>
        </p:spPr>
        <p:txBody>
          <a:bodyPr wrap="squar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Firma używała systemu przez 8 miesięcy. Nikt nie przeczytał model card - bo nikt nie wiedział, że powinien o niego zapytać. Nikt nie sprawdził klasyfikacji pod AI Act - bo myśleli, że to odpowiedzialność vendora.</a:t>
            </a:r>
            <a:endParaRPr lang="en-US" sz="1350" dirty="0"/>
          </a:p>
        </p:txBody>
      </p:sp>
      <p:pic>
        <p:nvPicPr>
          <p:cNvPr id="5" name="Image 0" descr="preencoded.png">    </p:cNvPr>
          <p:cNvPicPr>
            <a:picLocks noChangeAspect="1"/>
          </p:cNvPicPr>
          <p:nvPr/>
        </p:nvPicPr>
        <p:blipFill>
          <a:blip r:embed="rId1"/>
          <a:stretch>
            <a:fillRect/>
          </a:stretch>
        </p:blipFill>
        <p:spPr>
          <a:xfrm>
            <a:off x="2750225" y="2665690"/>
            <a:ext cx="9129951" cy="4108371"/>
          </a:xfrm>
          <a:prstGeom prst="rect">
            <a:avLst/>
          </a:prstGeom>
        </p:spPr>
      </p:pic>
      <p:sp>
        <p:nvSpPr>
          <p:cNvPr id="6" name="Text 3"/>
          <p:cNvSpPr/>
          <p:nvPr/>
        </p:nvSpPr>
        <p:spPr>
          <a:xfrm>
            <a:off x="4125562" y="2782006"/>
            <a:ext cx="1597700" cy="246897"/>
          </a:xfrm>
          <a:prstGeom prst="rect">
            <a:avLst/>
          </a:prstGeom>
          <a:noFill/>
          <a:ln/>
        </p:spPr>
        <p:txBody>
          <a:bodyPr wrap="none" lIns="0" tIns="0" rIns="0" bIns="0" rtlCol="0" anchor="t"/>
          <a:lstStyle/>
          <a:p>
            <a:pPr algn="ctr" indent="0" marL="0">
              <a:lnSpc>
                <a:spcPts val="1900"/>
              </a:lnSpc>
              <a:buNone/>
            </a:pPr>
            <a:r>
              <a:rPr lang="en-US" sz="1550" b="1" dirty="0">
                <a:solidFill>
                  <a:srgbClr val="E5E0DF"/>
                </a:solidFill>
                <a:latin typeface="Inter Bold" pitchFamily="34" charset="0"/>
                <a:ea typeface="Inter Bold" pitchFamily="34" charset="-122"/>
                <a:cs typeface="Inter Bold" pitchFamily="34" charset="-120"/>
              </a:rPr>
              <a:t>Wdrożenie</a:t>
            </a:r>
            <a:endParaRPr lang="en-US" sz="1550" dirty="0"/>
          </a:p>
        </p:txBody>
      </p:sp>
      <p:sp>
        <p:nvSpPr>
          <p:cNvPr id="7" name="Text 4"/>
          <p:cNvSpPr/>
          <p:nvPr/>
        </p:nvSpPr>
        <p:spPr>
          <a:xfrm>
            <a:off x="4125562" y="3099132"/>
            <a:ext cx="1597700" cy="503670"/>
          </a:xfrm>
          <a:prstGeom prst="rect">
            <a:avLst/>
          </a:prstGeom>
          <a:noFill/>
          <a:ln/>
        </p:spPr>
        <p:txBody>
          <a:bodyPr wrap="square" lIns="0" tIns="0" rIns="0" bIns="0" rtlCol="0" anchor="t"/>
          <a:lstStyle/>
          <a:p>
            <a:pPr algn="ctr" indent="0" marL="0">
              <a:lnSpc>
                <a:spcPts val="1300"/>
              </a:lnSpc>
              <a:buNone/>
            </a:pPr>
            <a:r>
              <a:rPr lang="en-US" sz="1200" dirty="0">
                <a:solidFill>
                  <a:srgbClr val="E5E0DF"/>
                </a:solidFill>
                <a:latin typeface="Inter" pitchFamily="34" charset="0"/>
                <a:ea typeface="Inter" pitchFamily="34" charset="-122"/>
                <a:cs typeface="Inter" pitchFamily="34" charset="-120"/>
              </a:rPr>
              <a:t>System preselekcji CV uruchomiony bez audytu</a:t>
            </a:r>
            <a:endParaRPr lang="en-US" sz="1200" dirty="0"/>
          </a:p>
        </p:txBody>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51858" y="3955591"/>
            <a:ext cx="353886" cy="353886"/>
          </a:xfrm>
          <a:prstGeom prst="rect">
            <a:avLst/>
          </a:prstGeom>
        </p:spPr>
      </p:pic>
      <p:sp>
        <p:nvSpPr>
          <p:cNvPr id="9" name="Text 5"/>
          <p:cNvSpPr/>
          <p:nvPr/>
        </p:nvSpPr>
        <p:spPr>
          <a:xfrm>
            <a:off x="5705704" y="5863284"/>
            <a:ext cx="1606479" cy="246897"/>
          </a:xfrm>
          <a:prstGeom prst="rect">
            <a:avLst/>
          </a:prstGeom>
          <a:noFill/>
          <a:ln/>
        </p:spPr>
        <p:txBody>
          <a:bodyPr wrap="none" lIns="0" tIns="0" rIns="0" bIns="0" rtlCol="0" anchor="t"/>
          <a:lstStyle/>
          <a:p>
            <a:pPr algn="ctr" indent="0" marL="0">
              <a:lnSpc>
                <a:spcPts val="1900"/>
              </a:lnSpc>
              <a:buNone/>
            </a:pPr>
            <a:r>
              <a:rPr lang="en-US" sz="1550" b="1" dirty="0">
                <a:solidFill>
                  <a:srgbClr val="E5E0DF"/>
                </a:solidFill>
                <a:latin typeface="Inter Bold" pitchFamily="34" charset="0"/>
                <a:ea typeface="Inter Bold" pitchFamily="34" charset="-122"/>
                <a:cs typeface="Inter Bold" pitchFamily="34" charset="-120"/>
              </a:rPr>
              <a:t>Incydent</a:t>
            </a:r>
            <a:endParaRPr lang="en-US" sz="1550" dirty="0"/>
          </a:p>
        </p:txBody>
      </p:sp>
      <p:sp>
        <p:nvSpPr>
          <p:cNvPr id="10" name="Text 6"/>
          <p:cNvSpPr/>
          <p:nvPr/>
        </p:nvSpPr>
        <p:spPr>
          <a:xfrm>
            <a:off x="5705704" y="6180410"/>
            <a:ext cx="1606479" cy="503670"/>
          </a:xfrm>
          <a:prstGeom prst="rect">
            <a:avLst/>
          </a:prstGeom>
          <a:noFill/>
          <a:ln/>
        </p:spPr>
        <p:txBody>
          <a:bodyPr wrap="square" lIns="0" tIns="0" rIns="0" bIns="0" rtlCol="0" anchor="t"/>
          <a:lstStyle/>
          <a:p>
            <a:pPr algn="ctr" indent="0" marL="0">
              <a:lnSpc>
                <a:spcPts val="1300"/>
              </a:lnSpc>
              <a:buNone/>
            </a:pPr>
            <a:r>
              <a:rPr lang="en-US" sz="1200" dirty="0">
                <a:solidFill>
                  <a:srgbClr val="E5E0DF"/>
                </a:solidFill>
                <a:latin typeface="Inter" pitchFamily="34" charset="0"/>
                <a:ea typeface="Inter" pitchFamily="34" charset="-122"/>
                <a:cs typeface="Inter" pitchFamily="34" charset="-120"/>
              </a:rPr>
              <a:t>Zgłoszenia dyskryminacji kandydatów</a:t>
            </a:r>
            <a:endParaRPr lang="en-US" sz="1200" dirty="0"/>
          </a:p>
        </p:txBody>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2000" y="5246041"/>
            <a:ext cx="353886" cy="353886"/>
          </a:xfrm>
          <a:prstGeom prst="rect">
            <a:avLst/>
          </a:prstGeom>
        </p:spPr>
      </p:pic>
      <p:sp>
        <p:nvSpPr>
          <p:cNvPr id="12" name="Text 7"/>
          <p:cNvSpPr/>
          <p:nvPr/>
        </p:nvSpPr>
        <p:spPr>
          <a:xfrm>
            <a:off x="7268289" y="2751281"/>
            <a:ext cx="1597700" cy="246897"/>
          </a:xfrm>
          <a:prstGeom prst="rect">
            <a:avLst/>
          </a:prstGeom>
          <a:noFill/>
          <a:ln/>
        </p:spPr>
        <p:txBody>
          <a:bodyPr wrap="none" lIns="0" tIns="0" rIns="0" bIns="0" rtlCol="0" anchor="t"/>
          <a:lstStyle/>
          <a:p>
            <a:pPr algn="ctr" indent="0" marL="0">
              <a:lnSpc>
                <a:spcPts val="1900"/>
              </a:lnSpc>
              <a:buNone/>
            </a:pPr>
            <a:r>
              <a:rPr lang="en-US" sz="1550" b="1" dirty="0">
                <a:solidFill>
                  <a:srgbClr val="E5E0DF"/>
                </a:solidFill>
                <a:latin typeface="Inter Bold" pitchFamily="34" charset="0"/>
                <a:ea typeface="Inter Bold" pitchFamily="34" charset="-122"/>
                <a:cs typeface="Inter Bold" pitchFamily="34" charset="-120"/>
              </a:rPr>
              <a:t>Śledztwo</a:t>
            </a:r>
            <a:endParaRPr lang="en-US" sz="1550" dirty="0"/>
          </a:p>
        </p:txBody>
      </p:sp>
      <p:sp>
        <p:nvSpPr>
          <p:cNvPr id="13" name="Text 8"/>
          <p:cNvSpPr/>
          <p:nvPr/>
        </p:nvSpPr>
        <p:spPr>
          <a:xfrm>
            <a:off x="7268289" y="3068407"/>
            <a:ext cx="1597700" cy="503671"/>
          </a:xfrm>
          <a:prstGeom prst="rect">
            <a:avLst/>
          </a:prstGeom>
          <a:noFill/>
          <a:ln/>
        </p:spPr>
        <p:txBody>
          <a:bodyPr wrap="square" lIns="0" tIns="0" rIns="0" bIns="0" rtlCol="0" anchor="t"/>
          <a:lstStyle/>
          <a:p>
            <a:pPr algn="ctr" indent="0" marL="0">
              <a:lnSpc>
                <a:spcPts val="1300"/>
              </a:lnSpc>
              <a:buNone/>
            </a:pPr>
            <a:r>
              <a:rPr lang="en-US" sz="1200" dirty="0">
                <a:solidFill>
                  <a:srgbClr val="E5E0DF"/>
                </a:solidFill>
                <a:latin typeface="Inter" pitchFamily="34" charset="0"/>
                <a:ea typeface="Inter" pitchFamily="34" charset="-122"/>
                <a:cs typeface="Inter" pitchFamily="34" charset="-120"/>
              </a:rPr>
              <a:t>Wezwanie do wyjaśnień i audyt algorytmu</a:t>
            </a:r>
            <a:endParaRPr lang="en-US" sz="1200" dirty="0"/>
          </a:p>
        </p:txBody>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20921" y="3920477"/>
            <a:ext cx="353886" cy="353886"/>
          </a:xfrm>
          <a:prstGeom prst="rect">
            <a:avLst/>
          </a:prstGeom>
        </p:spPr>
      </p:pic>
      <p:sp>
        <p:nvSpPr>
          <p:cNvPr id="15" name="Text 9"/>
          <p:cNvSpPr/>
          <p:nvPr/>
        </p:nvSpPr>
        <p:spPr>
          <a:xfrm>
            <a:off x="8848432" y="5947230"/>
            <a:ext cx="1597700" cy="246897"/>
          </a:xfrm>
          <a:prstGeom prst="rect">
            <a:avLst/>
          </a:prstGeom>
          <a:noFill/>
          <a:ln/>
        </p:spPr>
        <p:txBody>
          <a:bodyPr wrap="none" lIns="0" tIns="0" rIns="0" bIns="0" rtlCol="0" anchor="t"/>
          <a:lstStyle/>
          <a:p>
            <a:pPr algn="ctr" indent="0" marL="0">
              <a:lnSpc>
                <a:spcPts val="1900"/>
              </a:lnSpc>
              <a:buNone/>
            </a:pPr>
            <a:r>
              <a:rPr lang="en-US" sz="1550" b="1" dirty="0">
                <a:solidFill>
                  <a:srgbClr val="E5E0DF"/>
                </a:solidFill>
                <a:latin typeface="Inter Bold" pitchFamily="34" charset="0"/>
                <a:ea typeface="Inter Bold" pitchFamily="34" charset="-122"/>
                <a:cs typeface="Inter Bold" pitchFamily="34" charset="-120"/>
              </a:rPr>
              <a:t>Kara i szkoda</a:t>
            </a:r>
            <a:endParaRPr lang="en-US" sz="1550" dirty="0"/>
          </a:p>
        </p:txBody>
      </p:sp>
      <p:sp>
        <p:nvSpPr>
          <p:cNvPr id="16" name="Text 10"/>
          <p:cNvSpPr/>
          <p:nvPr/>
        </p:nvSpPr>
        <p:spPr>
          <a:xfrm>
            <a:off x="8848432" y="6264355"/>
            <a:ext cx="1597700" cy="335780"/>
          </a:xfrm>
          <a:prstGeom prst="rect">
            <a:avLst/>
          </a:prstGeom>
          <a:noFill/>
          <a:ln/>
        </p:spPr>
        <p:txBody>
          <a:bodyPr wrap="square" lIns="0" tIns="0" rIns="0" bIns="0" rtlCol="0" anchor="t"/>
          <a:lstStyle/>
          <a:p>
            <a:pPr algn="ctr" indent="0" marL="0">
              <a:lnSpc>
                <a:spcPts val="1300"/>
              </a:lnSpc>
              <a:buNone/>
            </a:pPr>
            <a:r>
              <a:rPr lang="en-US" sz="1200" dirty="0">
                <a:solidFill>
                  <a:srgbClr val="E5E0DF"/>
                </a:solidFill>
                <a:latin typeface="Inter" pitchFamily="34" charset="0"/>
                <a:ea typeface="Inter" pitchFamily="34" charset="-122"/>
                <a:cs typeface="Inter" pitchFamily="34" charset="-120"/>
              </a:rPr>
              <a:t>Grzywna i utrata zaufania rynkowego</a:t>
            </a:r>
            <a:endParaRPr lang="en-US" sz="1200" dirty="0"/>
          </a:p>
        </p:txBody>
      </p:sp>
      <p:pic>
        <p:nvPicPr>
          <p:cNvPr id="17"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74728" y="5246041"/>
            <a:ext cx="353886" cy="353886"/>
          </a:xfrm>
          <a:prstGeom prst="rect">
            <a:avLst/>
          </a:prstGeom>
        </p:spPr>
      </p:pic>
      <p:sp>
        <p:nvSpPr>
          <p:cNvPr id="18" name="Text 11"/>
          <p:cNvSpPr/>
          <p:nvPr/>
        </p:nvSpPr>
        <p:spPr>
          <a:xfrm>
            <a:off x="793790" y="6883360"/>
            <a:ext cx="13042821" cy="472440"/>
          </a:xfrm>
          <a:prstGeom prst="rect">
            <a:avLst/>
          </a:prstGeom>
          <a:noFill/>
          <a:ln/>
        </p:spPr>
        <p:txBody>
          <a:bodyPr wrap="squar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Po 8 miesiącach kandydat złożył skargę do organów państwowych: system konsekwentnie odrzucał jego CV, mimo że miał kwalifikacje odpowiadające opisowi stanowiska. Kandydat podejrzewał dyskryminację ze względu na wiek (miał 52 lata) i pochodzenie (nazwisko wskazywało na pochodzenie polskie).</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793790" y="911185"/>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Co się stało dalej</a:t>
            </a:r>
            <a:endParaRPr lang="en-US" sz="3900" dirty="0"/>
          </a:p>
        </p:txBody>
      </p:sp>
      <p:sp>
        <p:nvSpPr>
          <p:cNvPr id="3" name="Text 1"/>
          <p:cNvSpPr/>
          <p:nvPr/>
        </p:nvSpPr>
        <p:spPr>
          <a:xfrm>
            <a:off x="793790" y="202727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Kontrola </a:t>
            </a:r>
            <a:endParaRPr lang="en-US" sz="1950" dirty="0"/>
          </a:p>
        </p:txBody>
      </p:sp>
      <p:sp>
        <p:nvSpPr>
          <p:cNvPr id="4" name="Text 2"/>
          <p:cNvSpPr/>
          <p:nvPr/>
        </p:nvSpPr>
        <p:spPr>
          <a:xfrm>
            <a:off x="793790" y="2535793"/>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Urząd przeprowadziło kontrolę. Okazało się, że:</a:t>
            </a:r>
            <a:endParaRPr lang="en-US" sz="1550" dirty="0"/>
          </a:p>
        </p:txBody>
      </p:sp>
      <p:sp>
        <p:nvSpPr>
          <p:cNvPr id="5" name="Text 3"/>
          <p:cNvSpPr/>
          <p:nvPr/>
        </p:nvSpPr>
        <p:spPr>
          <a:xfrm>
            <a:off x="793790" y="3031927"/>
            <a:ext cx="6279356" cy="2540471"/>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System był high-risk pod AI Act (Aneks III punkt 4a — rekrutacja)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Firma jako deployer nie przeprowadziła DPIA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Firma nie miała procedur human oversight</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Firma nie wiedziała na jakich danych model był trenowany</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Model faktycznie miał bias - był trenowany głównie na CV z rynku amerykańskiego, preferował anglojęzyczne CV, młodszy wiek, amerykańskie wzorce kariery</a:t>
            </a:r>
            <a:endParaRPr lang="en-US" sz="1550" dirty="0"/>
          </a:p>
        </p:txBody>
      </p:sp>
      <p:sp>
        <p:nvSpPr>
          <p:cNvPr id="6" name="Text 4"/>
          <p:cNvSpPr/>
          <p:nvPr/>
        </p:nvSpPr>
        <p:spPr>
          <a:xfrm>
            <a:off x="7564874" y="2027277"/>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Konsekwencje</a:t>
            </a:r>
            <a:endParaRPr lang="en-US" sz="1950" dirty="0"/>
          </a:p>
        </p:txBody>
      </p:sp>
      <p:sp>
        <p:nvSpPr>
          <p:cNvPr id="7" name="Text 5"/>
          <p:cNvSpPr/>
          <p:nvPr/>
        </p:nvSpPr>
        <p:spPr>
          <a:xfrm>
            <a:off x="7564874" y="2535793"/>
            <a:ext cx="6279356" cy="2540471"/>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Kara : 150 000 EURO (mogła być wyższa, ale uwzględniono współpracę firmy)</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Konieczność ponownej weryfikacji wszystkich decyzji rekrutacyjnych z 8 miesięcy ok. 20 000 EUR</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Ugoda z kandydatem: 10 000 EUR</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Vendor odmówił odpowiedzialności („używaliście systemu niezgodnie z instrukcjami")</a:t>
            </a:r>
            <a:endParaRPr lang="en-US" sz="1550" dirty="0"/>
          </a:p>
          <a:p>
            <a:pPr algn="l" marL="342900" indent="-342900">
              <a:lnSpc>
                <a:spcPts val="2500"/>
              </a:lnSpc>
              <a:buSzPct val="100000"/>
              <a:buChar char="•"/>
            </a:pPr>
            <a:r>
              <a:rPr lang="en-US" sz="1550" b="1" dirty="0">
                <a:solidFill>
                  <a:srgbClr val="E5E0DF"/>
                </a:solidFill>
                <a:latin typeface="Inter" pitchFamily="34" charset="0"/>
                <a:ea typeface="Inter" pitchFamily="34" charset="-122"/>
                <a:cs typeface="Inter" pitchFamily="34" charset="-120"/>
              </a:rPr>
              <a:t>Łączny koszt: ok. 180 000 EUR + reputacja</a:t>
            </a:r>
            <a:endParaRPr lang="en-US" sz="1550" dirty="0"/>
          </a:p>
        </p:txBody>
      </p:sp>
      <p:sp>
        <p:nvSpPr>
          <p:cNvPr id="8" name="Text 6"/>
          <p:cNvSpPr/>
          <p:nvPr/>
        </p:nvSpPr>
        <p:spPr>
          <a:xfrm>
            <a:off x="793790" y="558755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Gdyby firma przeprowadziła due diligence przed wdrożeniem - wydałaby może 5 000 EUR na ekspertyzę prawno-techniczną, odkryłaby problemy, wynegocjowała fine-tuning na polskich danych lub wybrała innego vendora. Zaoszczędziłaby 175 000 zł i reputację.</a:t>
            </a:r>
            <a:endParaRPr lang="en-US" sz="1550" dirty="0"/>
          </a:p>
        </p:txBody>
      </p:sp>
      <p:sp>
        <p:nvSpPr>
          <p:cNvPr id="9" name="Text 7"/>
          <p:cNvSpPr/>
          <p:nvPr/>
        </p:nvSpPr>
        <p:spPr>
          <a:xfrm>
            <a:off x="793790" y="6445875"/>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To jest koszt niewiedzy.</a:t>
            </a:r>
            <a:endParaRPr lang="en-US" sz="15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793790" y="549950"/>
            <a:ext cx="10165913" cy="558165"/>
          </a:xfrm>
          <a:prstGeom prst="rect">
            <a:avLst/>
          </a:prstGeom>
          <a:noFill/>
          <a:ln/>
        </p:spPr>
        <p:txBody>
          <a:bodyPr wrap="none" lIns="0" tIns="0" rIns="0" bIns="0" rtlCol="0" anchor="t"/>
          <a:lstStyle/>
          <a:p>
            <a:pPr algn="l" indent="0" marL="0">
              <a:lnSpc>
                <a:spcPts val="4350"/>
              </a:lnSpc>
              <a:buNone/>
            </a:pPr>
            <a:r>
              <a:rPr lang="en-US" sz="3500" b="1" dirty="0">
                <a:solidFill>
                  <a:srgbClr val="FFFFFF"/>
                </a:solidFill>
                <a:latin typeface="Inter Bold" pitchFamily="34" charset="0"/>
                <a:ea typeface="Inter Bold" pitchFamily="34" charset="-122"/>
                <a:cs typeface="Inter Bold" pitchFamily="34" charset="-120"/>
              </a:rPr>
              <a:t>Praktyczne narzędzia - checklist due diligence</a:t>
            </a:r>
            <a:endParaRPr lang="en-US" sz="3500" dirty="0"/>
          </a:p>
        </p:txBody>
      </p:sp>
      <p:sp>
        <p:nvSpPr>
          <p:cNvPr id="3" name="Text 1"/>
          <p:cNvSpPr/>
          <p:nvPr/>
        </p:nvSpPr>
        <p:spPr>
          <a:xfrm>
            <a:off x="793790" y="1172408"/>
            <a:ext cx="4615458" cy="278963"/>
          </a:xfrm>
          <a:prstGeom prst="rect">
            <a:avLst/>
          </a:prstGeom>
          <a:noFill/>
          <a:ln/>
        </p:spPr>
        <p:txBody>
          <a:bodyPr wrap="none" lIns="0" tIns="0" rIns="0" bIns="0" rtlCol="0" anchor="t"/>
          <a:lstStyle/>
          <a:p>
            <a:pPr algn="l" indent="0" marL="0">
              <a:lnSpc>
                <a:spcPts val="2150"/>
              </a:lnSpc>
              <a:buNone/>
            </a:pPr>
            <a:r>
              <a:rPr lang="en-US" sz="1750" b="1" dirty="0">
                <a:solidFill>
                  <a:srgbClr val="FFFFFF"/>
                </a:solidFill>
                <a:latin typeface="Inter Bold" pitchFamily="34" charset="0"/>
                <a:ea typeface="Inter Bold" pitchFamily="34" charset="-122"/>
                <a:cs typeface="Inter Bold" pitchFamily="34" charset="-120"/>
              </a:rPr>
              <a:t>Do wykorzystania przy każdym zakupie AI</a:t>
            </a:r>
            <a:endParaRPr lang="en-US" sz="1750" dirty="0"/>
          </a:p>
        </p:txBody>
      </p:sp>
      <p:sp>
        <p:nvSpPr>
          <p:cNvPr id="4" name="Text 2"/>
          <p:cNvSpPr/>
          <p:nvPr/>
        </p:nvSpPr>
        <p:spPr>
          <a:xfrm>
            <a:off x="793790" y="1692473"/>
            <a:ext cx="13042821" cy="271463"/>
          </a:xfrm>
          <a:prstGeom prst="rect">
            <a:avLst/>
          </a:prstGeom>
          <a:noFill/>
          <a:ln/>
        </p:spPr>
        <p:txBody>
          <a:bodyPr wrap="non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To jest narzędzie do wewnętrznego użytku - szablon, który możecie dostosować do swojej firmy.</a:t>
            </a:r>
            <a:endParaRPr lang="en-US" sz="1400" dirty="0"/>
          </a:p>
        </p:txBody>
      </p:sp>
      <p:sp>
        <p:nvSpPr>
          <p:cNvPr id="5" name="Shape 3"/>
          <p:cNvSpPr/>
          <p:nvPr/>
        </p:nvSpPr>
        <p:spPr>
          <a:xfrm>
            <a:off x="793790" y="2144792"/>
            <a:ext cx="3140154" cy="3341370"/>
          </a:xfrm>
          <a:prstGeom prst="roundRect">
            <a:avLst>
              <a:gd name="adj" fmla="val 2389"/>
            </a:avLst>
          </a:prstGeom>
          <a:solidFill>
            <a:srgbClr val="272525"/>
          </a:solidFill>
          <a:ln w="22860">
            <a:solidFill>
              <a:srgbClr val="2A1999"/>
            </a:solidFill>
            <a:prstDash val="solid"/>
          </a:ln>
        </p:spPr>
      </p:sp>
      <p:sp>
        <p:nvSpPr>
          <p:cNvPr id="6" name="Text 4"/>
          <p:cNvSpPr/>
          <p:nvPr/>
        </p:nvSpPr>
        <p:spPr>
          <a:xfrm>
            <a:off x="995243" y="2346246"/>
            <a:ext cx="2345888"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1: Pre-screening</a:t>
            </a:r>
            <a:endParaRPr lang="en-US" sz="1750" dirty="0"/>
          </a:p>
        </p:txBody>
      </p:sp>
      <p:sp>
        <p:nvSpPr>
          <p:cNvPr id="7" name="Text 5"/>
          <p:cNvSpPr/>
          <p:nvPr/>
        </p:nvSpPr>
        <p:spPr>
          <a:xfrm>
            <a:off x="995243" y="2721650"/>
            <a:ext cx="2737247" cy="2172102"/>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Czy vendor ma model card? Jeśli nie - STOP</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Czy vendor potrafi wyjaśnić, jak działa model? Jeśli nie - STOP</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Czy vendor jest gotowy negocjować umowę? Jeśli nie - STOP</a:t>
            </a:r>
            <a:endParaRPr lang="en-US" sz="1400" dirty="0"/>
          </a:p>
        </p:txBody>
      </p:sp>
      <p:sp>
        <p:nvSpPr>
          <p:cNvPr id="8" name="Shape 6"/>
          <p:cNvSpPr/>
          <p:nvPr/>
        </p:nvSpPr>
        <p:spPr>
          <a:xfrm>
            <a:off x="4094678" y="2144792"/>
            <a:ext cx="3140154" cy="3341370"/>
          </a:xfrm>
          <a:prstGeom prst="roundRect">
            <a:avLst>
              <a:gd name="adj" fmla="val 2389"/>
            </a:avLst>
          </a:prstGeom>
          <a:solidFill>
            <a:srgbClr val="272525"/>
          </a:solidFill>
          <a:ln w="22860">
            <a:solidFill>
              <a:srgbClr val="2A1999"/>
            </a:solidFill>
            <a:prstDash val="solid"/>
          </a:ln>
        </p:spPr>
      </p:sp>
      <p:sp>
        <p:nvSpPr>
          <p:cNvPr id="9" name="Text 7"/>
          <p:cNvSpPr/>
          <p:nvPr/>
        </p:nvSpPr>
        <p:spPr>
          <a:xfrm>
            <a:off x="4296132" y="2346246"/>
            <a:ext cx="2737247" cy="557927"/>
          </a:xfrm>
          <a:prstGeom prst="rect">
            <a:avLst/>
          </a:prstGeom>
          <a:noFill/>
          <a:ln/>
        </p:spPr>
        <p:txBody>
          <a:bodyPr wrap="squar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2: Analiza techniczna</a:t>
            </a:r>
            <a:endParaRPr lang="en-US" sz="1750" dirty="0"/>
          </a:p>
        </p:txBody>
      </p:sp>
      <p:sp>
        <p:nvSpPr>
          <p:cNvPr id="10" name="Text 8"/>
          <p:cNvSpPr/>
          <p:nvPr/>
        </p:nvSpPr>
        <p:spPr>
          <a:xfrm>
            <a:off x="4296132" y="3000613"/>
            <a:ext cx="2737247" cy="2172102"/>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Przegląd model card: dane treningowe, metryki, ograniczenia</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Walidacja na waszych danych (pilotaż minimum 1000 przypadków)</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Analiza bias: czy model dyskryminuje któreś grupy?</a:t>
            </a:r>
            <a:endParaRPr lang="en-US" sz="1400" dirty="0"/>
          </a:p>
        </p:txBody>
      </p:sp>
      <p:sp>
        <p:nvSpPr>
          <p:cNvPr id="11" name="Shape 9"/>
          <p:cNvSpPr/>
          <p:nvPr/>
        </p:nvSpPr>
        <p:spPr>
          <a:xfrm>
            <a:off x="7395567" y="2144792"/>
            <a:ext cx="3140154" cy="3341370"/>
          </a:xfrm>
          <a:prstGeom prst="roundRect">
            <a:avLst>
              <a:gd name="adj" fmla="val 2389"/>
            </a:avLst>
          </a:prstGeom>
          <a:solidFill>
            <a:srgbClr val="272525"/>
          </a:solidFill>
          <a:ln w="22860">
            <a:solidFill>
              <a:srgbClr val="2A1999"/>
            </a:solidFill>
            <a:prstDash val="solid"/>
          </a:ln>
        </p:spPr>
      </p:sp>
      <p:sp>
        <p:nvSpPr>
          <p:cNvPr id="12" name="Text 10"/>
          <p:cNvSpPr/>
          <p:nvPr/>
        </p:nvSpPr>
        <p:spPr>
          <a:xfrm>
            <a:off x="7597021" y="2346246"/>
            <a:ext cx="2521982"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3: Analiza prawna</a:t>
            </a:r>
            <a:endParaRPr lang="en-US" sz="1750" dirty="0"/>
          </a:p>
        </p:txBody>
      </p:sp>
      <p:sp>
        <p:nvSpPr>
          <p:cNvPr id="13" name="Text 11"/>
          <p:cNvSpPr/>
          <p:nvPr/>
        </p:nvSpPr>
        <p:spPr>
          <a:xfrm>
            <a:off x="7597021" y="2721650"/>
            <a:ext cx="2737247" cy="2172102"/>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Klasyfikacja pod AI Act w waszym kontekście</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Przegląd regulaminu: 5 obszarów ryzyka</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Identyfikacja red flags i punktów do negocjacji</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DPIA jeśli high-risk lub RODO wymaga</a:t>
            </a:r>
            <a:endParaRPr lang="en-US" sz="1400" dirty="0"/>
          </a:p>
        </p:txBody>
      </p:sp>
      <p:sp>
        <p:nvSpPr>
          <p:cNvPr id="14" name="Shape 12"/>
          <p:cNvSpPr/>
          <p:nvPr/>
        </p:nvSpPr>
        <p:spPr>
          <a:xfrm>
            <a:off x="10696456" y="2144792"/>
            <a:ext cx="3140154" cy="3341370"/>
          </a:xfrm>
          <a:prstGeom prst="roundRect">
            <a:avLst>
              <a:gd name="adj" fmla="val 2389"/>
            </a:avLst>
          </a:prstGeom>
          <a:solidFill>
            <a:srgbClr val="272525"/>
          </a:solidFill>
          <a:ln w="22860">
            <a:solidFill>
              <a:srgbClr val="2A1999"/>
            </a:solidFill>
            <a:prstDash val="solid"/>
          </a:ln>
        </p:spPr>
      </p:sp>
      <p:sp>
        <p:nvSpPr>
          <p:cNvPr id="15" name="Text 13"/>
          <p:cNvSpPr/>
          <p:nvPr/>
        </p:nvSpPr>
        <p:spPr>
          <a:xfrm>
            <a:off x="10897910" y="2346246"/>
            <a:ext cx="2232779"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4: Negocjacje</a:t>
            </a:r>
            <a:endParaRPr lang="en-US" sz="1750" dirty="0"/>
          </a:p>
        </p:txBody>
      </p:sp>
      <p:sp>
        <p:nvSpPr>
          <p:cNvPr id="16" name="Text 14"/>
          <p:cNvSpPr/>
          <p:nvPr/>
        </p:nvSpPr>
        <p:spPr>
          <a:xfrm>
            <a:off x="10897910" y="2721650"/>
            <a:ext cx="2737247" cy="1629077"/>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Wynegocjowanie zmian w umowie (lista priorytetowa)</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Ustalenie SLA z metrykami jakości</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Procedury monitoring, incident response, exit</a:t>
            </a:r>
            <a:endParaRPr lang="en-US" sz="1400" dirty="0"/>
          </a:p>
        </p:txBody>
      </p:sp>
      <p:sp>
        <p:nvSpPr>
          <p:cNvPr id="17" name="Shape 15"/>
          <p:cNvSpPr/>
          <p:nvPr/>
        </p:nvSpPr>
        <p:spPr>
          <a:xfrm>
            <a:off x="793790" y="5142628"/>
            <a:ext cx="13042821" cy="2032754"/>
          </a:xfrm>
          <a:prstGeom prst="roundRect">
            <a:avLst>
              <a:gd name="adj" fmla="val 3691"/>
            </a:avLst>
          </a:prstGeom>
          <a:solidFill>
            <a:srgbClr val="272525"/>
          </a:solidFill>
          <a:ln w="22860">
            <a:solidFill>
              <a:srgbClr val="2A1999"/>
            </a:solidFill>
            <a:prstDash val="solid"/>
          </a:ln>
        </p:spPr>
      </p:sp>
      <p:sp>
        <p:nvSpPr>
          <p:cNvPr id="18" name="Text 16"/>
          <p:cNvSpPr/>
          <p:nvPr/>
        </p:nvSpPr>
        <p:spPr>
          <a:xfrm>
            <a:off x="995243" y="5344081"/>
            <a:ext cx="2232779"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5: Wdrożenie</a:t>
            </a:r>
            <a:endParaRPr lang="en-US" sz="1750" dirty="0"/>
          </a:p>
        </p:txBody>
      </p:sp>
      <p:sp>
        <p:nvSpPr>
          <p:cNvPr id="19" name="Text 17"/>
          <p:cNvSpPr/>
          <p:nvPr/>
        </p:nvSpPr>
        <p:spPr>
          <a:xfrm>
            <a:off x="995243" y="5719485"/>
            <a:ext cx="12639913" cy="1086051"/>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Human oversight: procedury, szkolenia, narzędzia</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Logowanie decyzji AI (wymóg art. 12 AI Act dla high-risk)</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Monitoring jakości modelu (dryft, accuracy w czasie)</a:t>
            </a:r>
            <a:endParaRPr lang="en-US" sz="1400" dirty="0"/>
          </a:p>
          <a:p>
            <a:pPr algn="l" marL="342900" indent="-342900">
              <a:lnSpc>
                <a:spcPts val="2100"/>
              </a:lnSpc>
              <a:buSzPct val="100000"/>
              <a:buChar char="•"/>
            </a:pPr>
            <a:r>
              <a:rPr lang="en-US" sz="1400" dirty="0">
                <a:solidFill>
                  <a:srgbClr val="E5E0DF"/>
                </a:solidFill>
                <a:latin typeface="Inter" pitchFamily="34" charset="0"/>
                <a:ea typeface="Inter" pitchFamily="34" charset="-122"/>
                <a:cs typeface="Inter" pitchFamily="34" charset="-120"/>
              </a:rPr>
              <a:t>Komunikacja do użytkowników i klientów</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793790" y="560784"/>
            <a:ext cx="5752624" cy="434102"/>
          </a:xfrm>
          <a:prstGeom prst="rect">
            <a:avLst/>
          </a:prstGeom>
          <a:noFill/>
          <a:ln/>
        </p:spPr>
        <p:txBody>
          <a:bodyPr wrap="none" lIns="0" tIns="0" rIns="0" bIns="0" rtlCol="0" anchor="t"/>
          <a:lstStyle/>
          <a:p>
            <a:pPr algn="l" indent="0" marL="0">
              <a:lnSpc>
                <a:spcPts val="3400"/>
              </a:lnSpc>
              <a:buNone/>
            </a:pPr>
            <a:r>
              <a:rPr lang="en-US" sz="2700" b="1" dirty="0">
                <a:solidFill>
                  <a:srgbClr val="FFFFFF"/>
                </a:solidFill>
                <a:latin typeface="Inter Bold" pitchFamily="34" charset="0"/>
                <a:ea typeface="Inter Bold" pitchFamily="34" charset="-122"/>
                <a:cs typeface="Inter Bold" pitchFamily="34" charset="-120"/>
              </a:rPr>
              <a:t>Kto powinien być zaangażowany?</a:t>
            </a:r>
            <a:endParaRPr lang="en-US" sz="2700" dirty="0"/>
          </a:p>
        </p:txBody>
      </p:sp>
      <p:sp>
        <p:nvSpPr>
          <p:cNvPr id="3" name="Text 1"/>
          <p:cNvSpPr/>
          <p:nvPr/>
        </p:nvSpPr>
        <p:spPr>
          <a:xfrm>
            <a:off x="793790" y="1033701"/>
            <a:ext cx="3061097" cy="217051"/>
          </a:xfrm>
          <a:prstGeom prst="rect">
            <a:avLst/>
          </a:prstGeom>
          <a:noFill/>
          <a:ln/>
        </p:spPr>
        <p:txBody>
          <a:bodyPr wrap="none" lIns="0" tIns="0" rIns="0" bIns="0" rtlCol="0" anchor="t"/>
          <a:lstStyle/>
          <a:p>
            <a:pPr algn="l" indent="0" marL="0">
              <a:lnSpc>
                <a:spcPts val="1700"/>
              </a:lnSpc>
              <a:buNone/>
            </a:pPr>
            <a:r>
              <a:rPr lang="en-US" sz="1350" b="1" dirty="0">
                <a:solidFill>
                  <a:srgbClr val="FFFFFF"/>
                </a:solidFill>
                <a:latin typeface="Inter Bold" pitchFamily="34" charset="0"/>
                <a:ea typeface="Inter Bold" pitchFamily="34" charset="-122"/>
                <a:cs typeface="Inter Bold" pitchFamily="34" charset="-120"/>
              </a:rPr>
              <a:t>Due diligence AI to praca zespołowa</a:t>
            </a:r>
            <a:endParaRPr lang="en-US" sz="1350" dirty="0"/>
          </a:p>
        </p:txBody>
      </p:sp>
      <p:sp>
        <p:nvSpPr>
          <p:cNvPr id="4" name="Text 2"/>
          <p:cNvSpPr/>
          <p:nvPr/>
        </p:nvSpPr>
        <p:spPr>
          <a:xfrm>
            <a:off x="793790" y="1396603"/>
            <a:ext cx="13042821" cy="236220"/>
          </a:xfrm>
          <a:prstGeom prst="rect">
            <a:avLst/>
          </a:prstGeom>
          <a:noFill/>
          <a:ln/>
        </p:spPr>
        <p:txBody>
          <a:bodyPr wrap="non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Due diligence AI nie może być tylko w dziale prawnym. To wymaga współpracy wielu funkcji:</a:t>
            </a:r>
            <a:endParaRPr lang="en-US" sz="1350" dirty="0"/>
          </a:p>
        </p:txBody>
      </p:sp>
      <p:pic>
        <p:nvPicPr>
          <p:cNvPr id="5" name="Image 0" descr="preencoded.png">    </p:cNvPr>
          <p:cNvPicPr>
            <a:picLocks noChangeAspect="1"/>
          </p:cNvPicPr>
          <p:nvPr/>
        </p:nvPicPr>
        <p:blipFill>
          <a:blip r:embed="rId1"/>
          <a:stretch>
            <a:fillRect/>
          </a:stretch>
        </p:blipFill>
        <p:spPr>
          <a:xfrm>
            <a:off x="793790" y="1742123"/>
            <a:ext cx="8536067" cy="4763095"/>
          </a:xfrm>
          <a:prstGeom prst="rect">
            <a:avLst/>
          </a:prstGeom>
        </p:spPr>
      </p:pic>
      <p:pic>
        <p:nvPicPr>
          <p:cNvPr id="6" name="Image 1" descr="preencoded.png">    </p:cNvPr>
          <p:cNvPicPr>
            <a:picLocks noChangeAspect="1"/>
          </p:cNvPicPr>
          <p:nvPr/>
        </p:nvPicPr>
        <p:blipFill>
          <a:blip r:embed="rId2"/>
          <a:stretch>
            <a:fillRect/>
          </a:stretch>
        </p:blipFill>
        <p:spPr>
          <a:xfrm>
            <a:off x="793790" y="1742123"/>
            <a:ext cx="8536067" cy="4763095"/>
          </a:xfrm>
          <a:prstGeom prst="rect">
            <a:avLst/>
          </a:prstGeom>
        </p:spPr>
      </p:pic>
      <p:sp>
        <p:nvSpPr>
          <p:cNvPr id="7" name="Text 3"/>
          <p:cNvSpPr/>
          <p:nvPr/>
        </p:nvSpPr>
        <p:spPr>
          <a:xfrm>
            <a:off x="793790" y="6614517"/>
            <a:ext cx="13042821" cy="472440"/>
          </a:xfrm>
          <a:prstGeom prst="rect">
            <a:avLst/>
          </a:prstGeom>
          <a:noFill/>
          <a:ln/>
        </p:spPr>
        <p:txBody>
          <a:bodyPr wrap="square" lIns="0" tIns="0" rIns="0" bIns="0" rtlCol="0" anchor="t"/>
          <a:lstStyle/>
          <a:p>
            <a:pPr algn="l" indent="0" marL="0">
              <a:lnSpc>
                <a:spcPts val="1850"/>
              </a:lnSpc>
              <a:buNone/>
            </a:pPr>
            <a:r>
              <a:rPr lang="en-US" sz="1350" dirty="0">
                <a:solidFill>
                  <a:srgbClr val="E5E0DF"/>
                </a:solidFill>
                <a:latin typeface="Inter" pitchFamily="34" charset="0"/>
                <a:ea typeface="Inter" pitchFamily="34" charset="-122"/>
                <a:cs typeface="Inter" pitchFamily="34" charset="-120"/>
              </a:rPr>
              <a:t>Każda funkcja wnosi unikalne kompetencje. Prawnik zna przepisy, ale nie oceni czy accuracy 92% jest dobra czy zła dla waszego przypadku użycia. IT zna technologię, ale nie oceni czy umowa chroni was prawnie. Biznes zna proces, ale nie oceni czy model ma bias.</a:t>
            </a:r>
            <a:endParaRPr lang="en-US" sz="1350" dirty="0"/>
          </a:p>
        </p:txBody>
      </p:sp>
      <p:sp>
        <p:nvSpPr>
          <p:cNvPr id="8" name="Text 4"/>
          <p:cNvSpPr/>
          <p:nvPr/>
        </p:nvSpPr>
        <p:spPr>
          <a:xfrm>
            <a:off x="793790" y="7196257"/>
            <a:ext cx="13042821" cy="472440"/>
          </a:xfrm>
          <a:prstGeom prst="rect">
            <a:avLst/>
          </a:prstGeom>
          <a:noFill/>
          <a:ln/>
        </p:spPr>
        <p:txBody>
          <a:bodyPr wrap="square" lIns="0" tIns="0" rIns="0" bIns="0" rtlCol="0" anchor="t"/>
          <a:lstStyle/>
          <a:p>
            <a:pPr algn="l" indent="0" marL="0">
              <a:lnSpc>
                <a:spcPts val="1850"/>
              </a:lnSpc>
              <a:buNone/>
            </a:pPr>
            <a:r>
              <a:rPr lang="en-US" sz="1350" b="1" dirty="0">
                <a:solidFill>
                  <a:srgbClr val="E5E0DF"/>
                </a:solidFill>
                <a:latin typeface="Inter" pitchFamily="34" charset="0"/>
                <a:ea typeface="Inter" pitchFamily="34" charset="-122"/>
                <a:cs typeface="Inter" pitchFamily="34" charset="-120"/>
              </a:rPr>
              <a:t>Potrzebujecie multidyscyplinarnego zespołu.</a:t>
            </a:r>
            <a:pPr algn="l" indent="0" marL="0">
              <a:lnSpc>
                <a:spcPts val="1850"/>
              </a:lnSpc>
              <a:buNone/>
            </a:pPr>
            <a:r>
              <a:rPr lang="en-US" sz="1350" dirty="0">
                <a:solidFill>
                  <a:srgbClr val="E5E0DF"/>
                </a:solidFill>
                <a:latin typeface="Inter" pitchFamily="34" charset="0"/>
                <a:ea typeface="Inter" pitchFamily="34" charset="-122"/>
                <a:cs typeface="Inter" pitchFamily="34" charset="-120"/>
              </a:rPr>
              <a:t> I potrzebujecie kogoś, kto tym zespołem pokieruje — najczęściej to jest osoba z działu prawnego lub compliance, ale z zrozumieniem technologii.</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787956" y="556498"/>
            <a:ext cx="4679037" cy="584835"/>
          </a:xfrm>
          <a:prstGeom prst="rect">
            <a:avLst/>
          </a:prstGeom>
          <a:noFill/>
          <a:ln/>
        </p:spPr>
        <p:txBody>
          <a:bodyPr wrap="none" lIns="0" tIns="0" rIns="0" bIns="0" rtlCol="0" anchor="t"/>
          <a:lstStyle/>
          <a:p>
            <a:pPr algn="l" indent="0" marL="0">
              <a:lnSpc>
                <a:spcPts val="4600"/>
              </a:lnSpc>
              <a:buNone/>
            </a:pPr>
            <a:r>
              <a:rPr lang="en-US" sz="3650" b="1" dirty="0">
                <a:solidFill>
                  <a:srgbClr val="FFFFFF"/>
                </a:solidFill>
                <a:latin typeface="Inter Bold" pitchFamily="34" charset="0"/>
                <a:ea typeface="Inter Bold" pitchFamily="34" charset="-122"/>
                <a:cs typeface="Inter Bold" pitchFamily="34" charset="-120"/>
              </a:rPr>
              <a:t>Ile to kosztuje?</a:t>
            </a:r>
            <a:endParaRPr lang="en-US" sz="3650" dirty="0"/>
          </a:p>
        </p:txBody>
      </p:sp>
      <p:sp>
        <p:nvSpPr>
          <p:cNvPr id="3" name="Text 1"/>
          <p:cNvSpPr/>
          <p:nvPr/>
        </p:nvSpPr>
        <p:spPr>
          <a:xfrm>
            <a:off x="787956" y="1211818"/>
            <a:ext cx="3024307" cy="292418"/>
          </a:xfrm>
          <a:prstGeom prst="rect">
            <a:avLst/>
          </a:prstGeom>
          <a:noFill/>
          <a:ln/>
        </p:spPr>
        <p:txBody>
          <a:bodyPr wrap="none" lIns="0" tIns="0" rIns="0" bIns="0" rtlCol="0" anchor="t"/>
          <a:lstStyle/>
          <a:p>
            <a:pPr algn="l" indent="0" marL="0">
              <a:lnSpc>
                <a:spcPts val="2300"/>
              </a:lnSpc>
              <a:buNone/>
            </a:pPr>
            <a:r>
              <a:rPr lang="en-US" sz="1800" b="1" dirty="0">
                <a:solidFill>
                  <a:srgbClr val="FFFFFF"/>
                </a:solidFill>
                <a:latin typeface="Inter Bold" pitchFamily="34" charset="0"/>
                <a:ea typeface="Inter Bold" pitchFamily="34" charset="-122"/>
                <a:cs typeface="Inter Bold" pitchFamily="34" charset="-120"/>
              </a:rPr>
              <a:t>Budżet na due diligence AI</a:t>
            </a:r>
            <a:endParaRPr lang="en-US" sz="1800" dirty="0"/>
          </a:p>
        </p:txBody>
      </p:sp>
      <p:sp>
        <p:nvSpPr>
          <p:cNvPr id="4" name="Text 2"/>
          <p:cNvSpPr/>
          <p:nvPr/>
        </p:nvSpPr>
        <p:spPr>
          <a:xfrm>
            <a:off x="787956" y="1768912"/>
            <a:ext cx="13054489" cy="29087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Często słyszę: „Due diligence brzmi drogo. Czy naprawdę musimy to robić dla każdego narzędzia AI?"</a:t>
            </a:r>
            <a:endParaRPr lang="en-US" sz="1450" dirty="0"/>
          </a:p>
        </p:txBody>
      </p:sp>
      <p:sp>
        <p:nvSpPr>
          <p:cNvPr id="5" name="Text 3"/>
          <p:cNvSpPr/>
          <p:nvPr/>
        </p:nvSpPr>
        <p:spPr>
          <a:xfrm>
            <a:off x="787956" y="2258258"/>
            <a:ext cx="13054489" cy="29087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Odpowiedź zależy od ryzyka. Ale zobaczmy rzeczywiste liczby:</a:t>
            </a:r>
            <a:endParaRPr lang="en-US" sz="1450" dirty="0"/>
          </a:p>
        </p:txBody>
      </p:sp>
      <p:sp>
        <p:nvSpPr>
          <p:cNvPr id="6" name="Text 4"/>
          <p:cNvSpPr/>
          <p:nvPr/>
        </p:nvSpPr>
        <p:spPr>
          <a:xfrm>
            <a:off x="787956" y="2924056"/>
            <a:ext cx="2339459" cy="292418"/>
          </a:xfrm>
          <a:prstGeom prst="rect">
            <a:avLst/>
          </a:prstGeom>
          <a:noFill/>
          <a:ln/>
        </p:spPr>
        <p:txBody>
          <a:bodyPr wrap="none" lIns="0" tIns="0" rIns="0" bIns="0" rtlCol="0" anchor="t"/>
          <a:lstStyle/>
          <a:p>
            <a:pPr algn="l" indent="0" marL="0">
              <a:lnSpc>
                <a:spcPts val="2300"/>
              </a:lnSpc>
              <a:buNone/>
            </a:pPr>
            <a:r>
              <a:rPr lang="en-US" sz="1800" b="1" dirty="0">
                <a:solidFill>
                  <a:srgbClr val="FFFFFF"/>
                </a:solidFill>
                <a:latin typeface="Inter Bold" pitchFamily="34" charset="0"/>
                <a:ea typeface="Inter Bold" pitchFamily="34" charset="-122"/>
                <a:cs typeface="Inter Bold" pitchFamily="34" charset="-120"/>
              </a:rPr>
              <a:t>Koszt due diligence</a:t>
            </a:r>
            <a:endParaRPr lang="en-US" sz="1800" dirty="0"/>
          </a:p>
        </p:txBody>
      </p:sp>
      <p:sp>
        <p:nvSpPr>
          <p:cNvPr id="7" name="Text 5"/>
          <p:cNvSpPr/>
          <p:nvPr/>
        </p:nvSpPr>
        <p:spPr>
          <a:xfrm>
            <a:off x="787956" y="3392924"/>
            <a:ext cx="6299002" cy="2327441"/>
          </a:xfrm>
          <a:prstGeom prst="rect">
            <a:avLst/>
          </a:prstGeom>
          <a:noFill/>
          <a:ln/>
        </p:spPr>
        <p:txBody>
          <a:bodyPr wrap="square" lIns="0" tIns="0" rIns="0" bIns="0" rtlCol="0" anchor="t"/>
          <a:lstStyle/>
          <a:p>
            <a:pPr algn="l" marL="342900" indent="-342900">
              <a:lnSpc>
                <a:spcPts val="2250"/>
              </a:lnSpc>
              <a:buSzPct val="100000"/>
              <a:buChar char="•"/>
            </a:pPr>
            <a:r>
              <a:rPr lang="en-US" sz="1450" dirty="0">
                <a:solidFill>
                  <a:srgbClr val="E5E0DF"/>
                </a:solidFill>
                <a:latin typeface="Inter" pitchFamily="34" charset="0"/>
                <a:ea typeface="Inter" pitchFamily="34" charset="-122"/>
                <a:cs typeface="Inter" pitchFamily="34" charset="-120"/>
              </a:rPr>
              <a:t>Przegląd prawny regulaminu i model card: 15-30h prawnika = 15 000 - 30 000 zł</a:t>
            </a:r>
            <a:endParaRPr lang="en-US" sz="1450" dirty="0"/>
          </a:p>
          <a:p>
            <a:pPr algn="l" marL="342900" indent="-342900">
              <a:lnSpc>
                <a:spcPts val="2250"/>
              </a:lnSpc>
              <a:buSzPct val="100000"/>
              <a:buChar char="•"/>
            </a:pPr>
            <a:r>
              <a:rPr lang="en-US" sz="1450" dirty="0">
                <a:solidFill>
                  <a:srgbClr val="E5E0DF"/>
                </a:solidFill>
                <a:latin typeface="Inter" pitchFamily="34" charset="0"/>
                <a:ea typeface="Inter" pitchFamily="34" charset="-122"/>
                <a:cs typeface="Inter" pitchFamily="34" charset="-120"/>
              </a:rPr>
              <a:t>Walidacja techniczna (pilotaż): 20-40h IT + data scientist = 20 000 - 40 000 zł</a:t>
            </a:r>
            <a:endParaRPr lang="en-US" sz="1450" dirty="0"/>
          </a:p>
          <a:p>
            <a:pPr algn="l" marL="342900" indent="-342900">
              <a:lnSpc>
                <a:spcPts val="2250"/>
              </a:lnSpc>
              <a:buSzPct val="100000"/>
              <a:buChar char="•"/>
            </a:pPr>
            <a:r>
              <a:rPr lang="en-US" sz="1450" dirty="0">
                <a:solidFill>
                  <a:srgbClr val="E5E0DF"/>
                </a:solidFill>
                <a:latin typeface="Inter" pitchFamily="34" charset="0"/>
                <a:ea typeface="Inter" pitchFamily="34" charset="-122"/>
                <a:cs typeface="Inter" pitchFamily="34" charset="-120"/>
              </a:rPr>
              <a:t>Analiza bias (jeśli wysokie ryzyko): ekspert zewnętrzny = 10 000 - 25 000 zł</a:t>
            </a:r>
            <a:endParaRPr lang="en-US" sz="1450" dirty="0"/>
          </a:p>
          <a:p>
            <a:pPr algn="l" marL="342900" indent="-342900">
              <a:lnSpc>
                <a:spcPts val="2250"/>
              </a:lnSpc>
              <a:buSzPct val="100000"/>
              <a:buChar char="•"/>
            </a:pPr>
            <a:r>
              <a:rPr lang="en-US" sz="1450" dirty="0">
                <a:solidFill>
                  <a:srgbClr val="E5E0DF"/>
                </a:solidFill>
                <a:latin typeface="Inter" pitchFamily="34" charset="0"/>
                <a:ea typeface="Inter" pitchFamily="34" charset="-122"/>
                <a:cs typeface="Inter" pitchFamily="34" charset="-120"/>
              </a:rPr>
              <a:t>DPIA (jeśli wymagana): 10-20h + konsultacje = 10 000 - 20 000 zł</a:t>
            </a:r>
            <a:endParaRPr lang="en-US" sz="1450" dirty="0"/>
          </a:p>
          <a:p>
            <a:pPr algn="l" marL="342900" indent="-342900">
              <a:lnSpc>
                <a:spcPts val="2250"/>
              </a:lnSpc>
              <a:buSzPct val="100000"/>
              <a:buChar char="•"/>
            </a:pPr>
            <a:r>
              <a:rPr lang="en-US" sz="1450" b="1" dirty="0">
                <a:solidFill>
                  <a:srgbClr val="E5E0DF"/>
                </a:solidFill>
                <a:latin typeface="Inter" pitchFamily="34" charset="0"/>
                <a:ea typeface="Inter" pitchFamily="34" charset="-122"/>
                <a:cs typeface="Inter" pitchFamily="34" charset="-120"/>
              </a:rPr>
              <a:t>Razem: 55 000 - 115 000 zł</a:t>
            </a:r>
            <a:endParaRPr lang="en-US" sz="1450" dirty="0"/>
          </a:p>
        </p:txBody>
      </p:sp>
      <p:sp>
        <p:nvSpPr>
          <p:cNvPr id="8" name="Text 6"/>
          <p:cNvSpPr/>
          <p:nvPr/>
        </p:nvSpPr>
        <p:spPr>
          <a:xfrm>
            <a:off x="7551063" y="2924056"/>
            <a:ext cx="2954774" cy="292418"/>
          </a:xfrm>
          <a:prstGeom prst="rect">
            <a:avLst/>
          </a:prstGeom>
          <a:noFill/>
          <a:ln/>
        </p:spPr>
        <p:txBody>
          <a:bodyPr wrap="none" lIns="0" tIns="0" rIns="0" bIns="0" rtlCol="0" anchor="t"/>
          <a:lstStyle/>
          <a:p>
            <a:pPr algn="l" indent="0" marL="0">
              <a:lnSpc>
                <a:spcPts val="2300"/>
              </a:lnSpc>
              <a:buNone/>
            </a:pPr>
            <a:r>
              <a:rPr lang="en-US" sz="1800" b="1" dirty="0">
                <a:solidFill>
                  <a:srgbClr val="FFFFFF"/>
                </a:solidFill>
                <a:latin typeface="Inter Bold" pitchFamily="34" charset="0"/>
                <a:ea typeface="Inter Bold" pitchFamily="34" charset="-122"/>
                <a:cs typeface="Inter Bold" pitchFamily="34" charset="-120"/>
              </a:rPr>
              <a:t>Koszt braku due diligence</a:t>
            </a:r>
            <a:endParaRPr lang="en-US" sz="1800" dirty="0"/>
          </a:p>
        </p:txBody>
      </p:sp>
      <p:sp>
        <p:nvSpPr>
          <p:cNvPr id="9" name="Text 7"/>
          <p:cNvSpPr/>
          <p:nvPr/>
        </p:nvSpPr>
        <p:spPr>
          <a:xfrm>
            <a:off x="7551063" y="3392924"/>
            <a:ext cx="6299002" cy="29087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Przykład z poprzedniego case study:</a:t>
            </a:r>
            <a:endParaRPr lang="en-US" sz="1450" dirty="0"/>
          </a:p>
        </p:txBody>
      </p:sp>
      <p:sp>
        <p:nvSpPr>
          <p:cNvPr id="10" name="Text 8"/>
          <p:cNvSpPr/>
          <p:nvPr/>
        </p:nvSpPr>
        <p:spPr>
          <a:xfrm>
            <a:off x="7551063" y="3842623"/>
            <a:ext cx="6299002" cy="1454650"/>
          </a:xfrm>
          <a:prstGeom prst="rect">
            <a:avLst/>
          </a:prstGeom>
          <a:noFill/>
          <a:ln/>
        </p:spPr>
        <p:txBody>
          <a:bodyPr wrap="square" lIns="0" tIns="0" rIns="0" bIns="0" rtlCol="0" anchor="t"/>
          <a:lstStyle/>
          <a:p>
            <a:pPr algn="l" marL="342900" indent="-342900">
              <a:lnSpc>
                <a:spcPts val="2250"/>
              </a:lnSpc>
              <a:buSzPct val="100000"/>
              <a:buChar char="•"/>
            </a:pPr>
            <a:r>
              <a:rPr lang="en-US" sz="1450" dirty="0">
                <a:solidFill>
                  <a:srgbClr val="E5E0DF"/>
                </a:solidFill>
                <a:latin typeface="Inter" pitchFamily="34" charset="0"/>
                <a:ea typeface="Inter" pitchFamily="34" charset="-122"/>
                <a:cs typeface="Inter" pitchFamily="34" charset="-120"/>
              </a:rPr>
              <a:t>Kara UODO: 150 000 EUR</a:t>
            </a:r>
            <a:endParaRPr lang="en-US" sz="1450" dirty="0"/>
          </a:p>
          <a:p>
            <a:pPr algn="l" marL="342900" indent="-342900">
              <a:lnSpc>
                <a:spcPts val="2250"/>
              </a:lnSpc>
              <a:buSzPct val="100000"/>
              <a:buChar char="•"/>
            </a:pPr>
            <a:r>
              <a:rPr lang="en-US" sz="1450" dirty="0">
                <a:solidFill>
                  <a:srgbClr val="E5E0DF"/>
                </a:solidFill>
                <a:latin typeface="Inter" pitchFamily="34" charset="0"/>
                <a:ea typeface="Inter" pitchFamily="34" charset="-122"/>
                <a:cs typeface="Inter" pitchFamily="34" charset="-120"/>
              </a:rPr>
              <a:t>Koszty naprawy: 20 000 EUR</a:t>
            </a:r>
            <a:endParaRPr lang="en-US" sz="1450" dirty="0"/>
          </a:p>
          <a:p>
            <a:pPr algn="l" marL="342900" indent="-342900">
              <a:lnSpc>
                <a:spcPts val="2250"/>
              </a:lnSpc>
              <a:buSzPct val="100000"/>
              <a:buChar char="•"/>
            </a:pPr>
            <a:r>
              <a:rPr lang="en-US" sz="1450" dirty="0">
                <a:solidFill>
                  <a:srgbClr val="E5E0DF"/>
                </a:solidFill>
                <a:latin typeface="Inter" pitchFamily="34" charset="0"/>
                <a:ea typeface="Inter" pitchFamily="34" charset="-122"/>
                <a:cs typeface="Inter" pitchFamily="34" charset="-120"/>
              </a:rPr>
              <a:t>Ugoda: 10 000 EUR</a:t>
            </a:r>
            <a:endParaRPr lang="en-US" sz="1450" dirty="0"/>
          </a:p>
          <a:p>
            <a:pPr algn="l" marL="342900" indent="-342900">
              <a:lnSpc>
                <a:spcPts val="2250"/>
              </a:lnSpc>
              <a:buSzPct val="100000"/>
              <a:buChar char="•"/>
            </a:pPr>
            <a:r>
              <a:rPr lang="en-US" sz="1450" dirty="0">
                <a:solidFill>
                  <a:srgbClr val="E5E0DF"/>
                </a:solidFill>
                <a:latin typeface="Inter" pitchFamily="34" charset="0"/>
                <a:ea typeface="Inter" pitchFamily="34" charset="-122"/>
                <a:cs typeface="Inter" pitchFamily="34" charset="-120"/>
              </a:rPr>
              <a:t>Reputacja: bezcenne</a:t>
            </a:r>
            <a:endParaRPr lang="en-US" sz="1450" dirty="0"/>
          </a:p>
          <a:p>
            <a:pPr algn="l" marL="342900" indent="-342900">
              <a:lnSpc>
                <a:spcPts val="2250"/>
              </a:lnSpc>
              <a:buSzPct val="100000"/>
              <a:buChar char="•"/>
            </a:pPr>
            <a:r>
              <a:rPr lang="en-US" sz="1450" b="1" dirty="0">
                <a:solidFill>
                  <a:srgbClr val="E5E0DF"/>
                </a:solidFill>
                <a:latin typeface="Inter" pitchFamily="34" charset="0"/>
                <a:ea typeface="Inter" pitchFamily="34" charset="-122"/>
                <a:cs typeface="Inter" pitchFamily="34" charset="-120"/>
              </a:rPr>
              <a:t>Razem: 180 000 EUR+</a:t>
            </a:r>
            <a:endParaRPr lang="en-US" sz="1450" dirty="0"/>
          </a:p>
        </p:txBody>
      </p:sp>
      <p:sp>
        <p:nvSpPr>
          <p:cNvPr id="11" name="Text 9"/>
          <p:cNvSpPr/>
          <p:nvPr/>
        </p:nvSpPr>
        <p:spPr>
          <a:xfrm>
            <a:off x="7551063" y="5456103"/>
            <a:ext cx="6299002" cy="290870"/>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Różnica: </a:t>
            </a:r>
            <a:pPr algn="l" indent="0" marL="0">
              <a:lnSpc>
                <a:spcPts val="2250"/>
              </a:lnSpc>
              <a:buNone/>
            </a:pPr>
            <a:r>
              <a:rPr lang="en-US" sz="1450" dirty="0">
                <a:solidFill>
                  <a:srgbClr val="000000"/>
                </a:solidFill>
                <a:highlight>
                  <a:srgbClr val="FFFF00"/>
                </a:highlight>
                <a:latin typeface="Inter" pitchFamily="34" charset="0"/>
                <a:ea typeface="Inter" pitchFamily="34" charset="-122"/>
                <a:cs typeface="Inter" pitchFamily="34" charset="-120"/>
              </a:rPr>
              <a:t>500 000 - 600 000 zł</a:t>
            </a:r>
            <a:endParaRPr lang="en-US" sz="1450" dirty="0"/>
          </a:p>
        </p:txBody>
      </p:sp>
      <p:sp>
        <p:nvSpPr>
          <p:cNvPr id="12" name="Text 10"/>
          <p:cNvSpPr/>
          <p:nvPr/>
        </p:nvSpPr>
        <p:spPr>
          <a:xfrm>
            <a:off x="7551063" y="5659588"/>
            <a:ext cx="6299002" cy="581739"/>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To jest ROI z due diligence: 4-6x zwrot inwestycji przez uniknięcie jednego incydentu.</a:t>
            </a:r>
            <a:endParaRPr lang="en-US" sz="1450" dirty="0"/>
          </a:p>
        </p:txBody>
      </p:sp>
      <p:sp>
        <p:nvSpPr>
          <p:cNvPr id="13" name="Text 11"/>
          <p:cNvSpPr/>
          <p:nvPr/>
        </p:nvSpPr>
        <p:spPr>
          <a:xfrm>
            <a:off x="787956" y="6598633"/>
            <a:ext cx="13054489" cy="581739"/>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Dla małych wdrożeń (narzędzia low-risk, niski budżet) możecie uprościć proces. Ale dla high-risk i dużych wdrożeń - due diligence nie jest kosztem, jest </a:t>
            </a:r>
            <a:pPr algn="l" indent="0" marL="0">
              <a:lnSpc>
                <a:spcPts val="2250"/>
              </a:lnSpc>
              <a:buNone/>
            </a:pPr>
            <a:r>
              <a:rPr lang="en-US" sz="1450" b="1" dirty="0">
                <a:solidFill>
                  <a:srgbClr val="E5E0DF"/>
                </a:solidFill>
                <a:latin typeface="Inter" pitchFamily="34" charset="0"/>
                <a:ea typeface="Inter" pitchFamily="34" charset="-122"/>
                <a:cs typeface="Inter" pitchFamily="34" charset="-120"/>
              </a:rPr>
              <a:t>inwestycją w mitygację ryzyka</a:t>
            </a:r>
            <a:pPr algn="l" indent="0" marL="0">
              <a:lnSpc>
                <a:spcPts val="2250"/>
              </a:lnSpc>
              <a:buNone/>
            </a:pPr>
            <a:r>
              <a:rPr lang="en-US" sz="1450" dirty="0">
                <a:solidFill>
                  <a:srgbClr val="E5E0DF"/>
                </a:solidFill>
                <a:latin typeface="Inter" pitchFamily="34" charset="0"/>
                <a:ea typeface="Inter" pitchFamily="34" charset="-122"/>
                <a:cs typeface="Inter" pitchFamily="34" charset="-120"/>
              </a:rPr>
              <a:t>.</a:t>
            </a:r>
            <a:endParaRPr lang="en-US" sz="14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793790" y="684967"/>
            <a:ext cx="5720953" cy="527090"/>
          </a:xfrm>
          <a:prstGeom prst="rect">
            <a:avLst/>
          </a:prstGeom>
          <a:noFill/>
          <a:ln/>
        </p:spPr>
        <p:txBody>
          <a:bodyPr wrap="none" lIns="0" tIns="0" rIns="0" bIns="0" rtlCol="0" anchor="t"/>
          <a:lstStyle/>
          <a:p>
            <a:pPr algn="l" indent="0" marL="0">
              <a:lnSpc>
                <a:spcPts val="4150"/>
              </a:lnSpc>
              <a:buNone/>
            </a:pPr>
            <a:r>
              <a:rPr lang="en-US" sz="3300" b="1" dirty="0">
                <a:solidFill>
                  <a:srgbClr val="FFFFFF"/>
                </a:solidFill>
                <a:latin typeface="Inter Bold" pitchFamily="34" charset="0"/>
                <a:ea typeface="Inter Bold" pitchFamily="34" charset="-122"/>
                <a:cs typeface="Inter Bold" pitchFamily="34" charset="-120"/>
              </a:rPr>
              <a:t>Skalowalność due diligence</a:t>
            </a:r>
            <a:endParaRPr lang="en-US" sz="3300" dirty="0"/>
          </a:p>
        </p:txBody>
      </p:sp>
      <p:sp>
        <p:nvSpPr>
          <p:cNvPr id="3" name="Text 1"/>
          <p:cNvSpPr/>
          <p:nvPr/>
        </p:nvSpPr>
        <p:spPr>
          <a:xfrm>
            <a:off x="793790" y="1269325"/>
            <a:ext cx="4424958" cy="263485"/>
          </a:xfrm>
          <a:prstGeom prst="rect">
            <a:avLst/>
          </a:prstGeom>
          <a:noFill/>
          <a:ln/>
        </p:spPr>
        <p:txBody>
          <a:bodyPr wrap="none" lIns="0" tIns="0" rIns="0" bIns="0" rtlCol="0" anchor="t"/>
          <a:lstStyle/>
          <a:p>
            <a:pPr algn="l" indent="0" marL="0">
              <a:lnSpc>
                <a:spcPts val="2050"/>
              </a:lnSpc>
              <a:buNone/>
            </a:pPr>
            <a:r>
              <a:rPr lang="en-US" sz="1650" b="1" dirty="0">
                <a:solidFill>
                  <a:srgbClr val="FFFFFF"/>
                </a:solidFill>
                <a:latin typeface="Inter Bold" pitchFamily="34" charset="0"/>
                <a:ea typeface="Inter Bold" pitchFamily="34" charset="-122"/>
                <a:cs typeface="Inter Bold" pitchFamily="34" charset="-120"/>
              </a:rPr>
              <a:t>Jak zrobić to efektywnie dla wielu narzędzi</a:t>
            </a:r>
            <a:endParaRPr lang="en-US" sz="1650" dirty="0"/>
          </a:p>
        </p:txBody>
      </p:sp>
      <p:sp>
        <p:nvSpPr>
          <p:cNvPr id="4" name="Text 2"/>
          <p:cNvSpPr/>
          <p:nvPr/>
        </p:nvSpPr>
        <p:spPr>
          <a:xfrm>
            <a:off x="793790" y="1747838"/>
            <a:ext cx="13042821" cy="499348"/>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Jeśli wasza firma kupuje dziesiątki narzędzi AI rocznie - nie możecie robić pełnego due diligence dla każdego. Potrzebujecie podejścia skalowanego według ryzyka:</a:t>
            </a:r>
            <a:endParaRPr lang="en-US" sz="1300" dirty="0"/>
          </a:p>
        </p:txBody>
      </p:sp>
      <p:sp>
        <p:nvSpPr>
          <p:cNvPr id="5" name="Shape 3"/>
          <p:cNvSpPr/>
          <p:nvPr/>
        </p:nvSpPr>
        <p:spPr>
          <a:xfrm>
            <a:off x="793790" y="2408396"/>
            <a:ext cx="2173724" cy="1435656"/>
          </a:xfrm>
          <a:prstGeom prst="roundRect">
            <a:avLst>
              <a:gd name="adj" fmla="val 4935"/>
            </a:avLst>
          </a:prstGeom>
          <a:solidFill>
            <a:srgbClr val="110080"/>
          </a:solidFill>
          <a:ln w="7620">
            <a:solidFill>
              <a:srgbClr val="2A1999"/>
            </a:solidFill>
            <a:prstDash val="solid"/>
          </a:ln>
        </p:spPr>
      </p:sp>
      <p:sp>
        <p:nvSpPr>
          <p:cNvPr id="6" name="Text 4"/>
          <p:cNvSpPr/>
          <p:nvPr/>
        </p:nvSpPr>
        <p:spPr>
          <a:xfrm>
            <a:off x="1762006" y="2977991"/>
            <a:ext cx="237173" cy="296466"/>
          </a:xfrm>
          <a:prstGeom prst="rect">
            <a:avLst/>
          </a:prstGeom>
          <a:noFill/>
          <a:ln/>
        </p:spPr>
        <p:txBody>
          <a:bodyPr wrap="none" lIns="0" tIns="0" rIns="0" bIns="0" rtlCol="0" anchor="t"/>
          <a:lstStyle/>
          <a:p>
            <a:pPr algn="ctr" indent="0" marL="0">
              <a:lnSpc>
                <a:spcPts val="2750"/>
              </a:lnSpc>
              <a:buNone/>
            </a:pPr>
            <a:r>
              <a:rPr lang="en-US" sz="1850" b="1" dirty="0">
                <a:solidFill>
                  <a:srgbClr val="E5E0DF"/>
                </a:solidFill>
                <a:latin typeface="Inter Bold" pitchFamily="34" charset="0"/>
                <a:ea typeface="Inter Bold" pitchFamily="34" charset="-122"/>
                <a:cs typeface="Inter Bold" pitchFamily="34" charset="-120"/>
              </a:rPr>
              <a:t>1</a:t>
            </a:r>
            <a:endParaRPr lang="en-US" sz="1850" dirty="0"/>
          </a:p>
        </p:txBody>
      </p:sp>
      <p:sp>
        <p:nvSpPr>
          <p:cNvPr id="7" name="Text 5"/>
          <p:cNvSpPr/>
          <p:nvPr/>
        </p:nvSpPr>
        <p:spPr>
          <a:xfrm>
            <a:off x="3136106" y="2576989"/>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Tier 1: Minimal risk</a:t>
            </a:r>
            <a:endParaRPr lang="en-US" sz="1650" dirty="0"/>
          </a:p>
        </p:txBody>
      </p:sp>
      <p:sp>
        <p:nvSpPr>
          <p:cNvPr id="8" name="Text 6"/>
          <p:cNvSpPr/>
          <p:nvPr/>
        </p:nvSpPr>
        <p:spPr>
          <a:xfrm>
            <a:off x="3136106" y="2926437"/>
            <a:ext cx="10531912" cy="749022"/>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Narzędzia AI, które nie przetwarzają danych osobowych, nie wpływają na decyzje biznesowe, używane wewnętrznie do zadań pomocniczych (np. generowanie obrazków do prezentacji). </a:t>
            </a:r>
            <a:pPr algn="l" indent="0" marL="0">
              <a:lnSpc>
                <a:spcPts val="1950"/>
              </a:lnSpc>
              <a:buNone/>
            </a:pPr>
            <a:r>
              <a:rPr lang="en-US" sz="1300" b="1" dirty="0">
                <a:solidFill>
                  <a:srgbClr val="E5E0DF"/>
                </a:solidFill>
                <a:latin typeface="Inter" pitchFamily="34" charset="0"/>
                <a:ea typeface="Inter" pitchFamily="34" charset="-122"/>
                <a:cs typeface="Inter" pitchFamily="34" charset="-120"/>
              </a:rPr>
              <a:t>Due diligence:</a:t>
            </a:r>
            <a:pPr algn="l" indent="0" marL="0">
              <a:lnSpc>
                <a:spcPts val="1950"/>
              </a:lnSpc>
              <a:buNone/>
            </a:pPr>
            <a:r>
              <a:rPr lang="en-US" sz="1300" dirty="0">
                <a:solidFill>
                  <a:srgbClr val="E5E0DF"/>
                </a:solidFill>
                <a:latin typeface="Inter" pitchFamily="34" charset="0"/>
                <a:ea typeface="Inter" pitchFamily="34" charset="-122"/>
                <a:cs typeface="Inter" pitchFamily="34" charset="-120"/>
              </a:rPr>
              <a:t> przegląd regulaminu (3-5h), checklist bezpieczeństwa danych.</a:t>
            </a:r>
            <a:endParaRPr lang="en-US" sz="1300" dirty="0"/>
          </a:p>
        </p:txBody>
      </p:sp>
      <p:sp>
        <p:nvSpPr>
          <p:cNvPr id="9" name="Shape 7"/>
          <p:cNvSpPr/>
          <p:nvPr/>
        </p:nvSpPr>
        <p:spPr>
          <a:xfrm>
            <a:off x="3051810" y="3834527"/>
            <a:ext cx="10700504" cy="11430"/>
          </a:xfrm>
          <a:prstGeom prst="roundRect">
            <a:avLst>
              <a:gd name="adj" fmla="val 619907"/>
            </a:avLst>
          </a:prstGeom>
          <a:solidFill>
            <a:srgbClr val="2A1999"/>
          </a:solidFill>
          <a:ln/>
        </p:spPr>
      </p:sp>
      <p:sp>
        <p:nvSpPr>
          <p:cNvPr id="10" name="Shape 8"/>
          <p:cNvSpPr/>
          <p:nvPr/>
        </p:nvSpPr>
        <p:spPr>
          <a:xfrm>
            <a:off x="793790" y="3928348"/>
            <a:ext cx="4347567" cy="1435656"/>
          </a:xfrm>
          <a:prstGeom prst="roundRect">
            <a:avLst>
              <a:gd name="adj" fmla="val 4935"/>
            </a:avLst>
          </a:prstGeom>
          <a:solidFill>
            <a:srgbClr val="110080"/>
          </a:solidFill>
          <a:ln w="7620">
            <a:solidFill>
              <a:srgbClr val="2A1999"/>
            </a:solidFill>
            <a:prstDash val="solid"/>
          </a:ln>
        </p:spPr>
      </p:sp>
      <p:sp>
        <p:nvSpPr>
          <p:cNvPr id="11" name="Text 9"/>
          <p:cNvSpPr/>
          <p:nvPr/>
        </p:nvSpPr>
        <p:spPr>
          <a:xfrm>
            <a:off x="2848928" y="4497943"/>
            <a:ext cx="237173" cy="296466"/>
          </a:xfrm>
          <a:prstGeom prst="rect">
            <a:avLst/>
          </a:prstGeom>
          <a:noFill/>
          <a:ln/>
        </p:spPr>
        <p:txBody>
          <a:bodyPr wrap="none" lIns="0" tIns="0" rIns="0" bIns="0" rtlCol="0" anchor="t"/>
          <a:lstStyle/>
          <a:p>
            <a:pPr algn="ctr" indent="0" marL="0">
              <a:lnSpc>
                <a:spcPts val="2750"/>
              </a:lnSpc>
              <a:buNone/>
            </a:pPr>
            <a:r>
              <a:rPr lang="en-US" sz="1850" b="1" dirty="0">
                <a:solidFill>
                  <a:srgbClr val="E5E0DF"/>
                </a:solidFill>
                <a:latin typeface="Inter Bold" pitchFamily="34" charset="0"/>
                <a:ea typeface="Inter Bold" pitchFamily="34" charset="-122"/>
                <a:cs typeface="Inter Bold" pitchFamily="34" charset="-120"/>
              </a:rPr>
              <a:t>2</a:t>
            </a:r>
            <a:endParaRPr lang="en-US" sz="1850" dirty="0"/>
          </a:p>
        </p:txBody>
      </p:sp>
      <p:sp>
        <p:nvSpPr>
          <p:cNvPr id="12" name="Text 10"/>
          <p:cNvSpPr/>
          <p:nvPr/>
        </p:nvSpPr>
        <p:spPr>
          <a:xfrm>
            <a:off x="5309949" y="4096941"/>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Tier 2: Limited risk</a:t>
            </a:r>
            <a:endParaRPr lang="en-US" sz="1650" dirty="0"/>
          </a:p>
        </p:txBody>
      </p:sp>
      <p:sp>
        <p:nvSpPr>
          <p:cNvPr id="13" name="Text 11"/>
          <p:cNvSpPr/>
          <p:nvPr/>
        </p:nvSpPr>
        <p:spPr>
          <a:xfrm>
            <a:off x="5309949" y="4446389"/>
            <a:ext cx="8358068" cy="749022"/>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Narzędzia AI do automatyzacji procesów, analityki, wsparcia decyzji - ale decyzje weryfikowane przez człowieka. </a:t>
            </a:r>
            <a:pPr algn="l" indent="0" marL="0">
              <a:lnSpc>
                <a:spcPts val="1950"/>
              </a:lnSpc>
              <a:buNone/>
            </a:pPr>
            <a:r>
              <a:rPr lang="en-US" sz="1300" b="1" dirty="0">
                <a:solidFill>
                  <a:srgbClr val="E5E0DF"/>
                </a:solidFill>
                <a:latin typeface="Inter" pitchFamily="34" charset="0"/>
                <a:ea typeface="Inter" pitchFamily="34" charset="-122"/>
                <a:cs typeface="Inter" pitchFamily="34" charset="-120"/>
              </a:rPr>
              <a:t>Due diligence:</a:t>
            </a:r>
            <a:pPr algn="l" indent="0" marL="0">
              <a:lnSpc>
                <a:spcPts val="1950"/>
              </a:lnSpc>
              <a:buNone/>
            </a:pPr>
            <a:r>
              <a:rPr lang="en-US" sz="1300" dirty="0">
                <a:solidFill>
                  <a:srgbClr val="E5E0DF"/>
                </a:solidFill>
                <a:latin typeface="Inter" pitchFamily="34" charset="0"/>
                <a:ea typeface="Inter" pitchFamily="34" charset="-122"/>
                <a:cs typeface="Inter" pitchFamily="34" charset="-120"/>
              </a:rPr>
              <a:t> przegląd prawny (10-15h), walidacja techniczna (10h), negocjacja kluczowych punktów.</a:t>
            </a:r>
            <a:endParaRPr lang="en-US" sz="1300" dirty="0"/>
          </a:p>
        </p:txBody>
      </p:sp>
      <p:sp>
        <p:nvSpPr>
          <p:cNvPr id="14" name="Shape 12"/>
          <p:cNvSpPr/>
          <p:nvPr/>
        </p:nvSpPr>
        <p:spPr>
          <a:xfrm>
            <a:off x="5225653" y="5354479"/>
            <a:ext cx="8526661" cy="11430"/>
          </a:xfrm>
          <a:prstGeom prst="roundRect">
            <a:avLst>
              <a:gd name="adj" fmla="val 619907"/>
            </a:avLst>
          </a:prstGeom>
          <a:solidFill>
            <a:srgbClr val="2A1999"/>
          </a:solidFill>
          <a:ln/>
        </p:spPr>
      </p:sp>
      <p:sp>
        <p:nvSpPr>
          <p:cNvPr id="15" name="Shape 13"/>
          <p:cNvSpPr/>
          <p:nvPr/>
        </p:nvSpPr>
        <p:spPr>
          <a:xfrm>
            <a:off x="793790" y="5448300"/>
            <a:ext cx="6521410" cy="1685330"/>
          </a:xfrm>
          <a:prstGeom prst="roundRect">
            <a:avLst>
              <a:gd name="adj" fmla="val 4204"/>
            </a:avLst>
          </a:prstGeom>
          <a:solidFill>
            <a:srgbClr val="110080"/>
          </a:solidFill>
          <a:ln w="7620">
            <a:solidFill>
              <a:srgbClr val="2A1999"/>
            </a:solidFill>
            <a:prstDash val="solid"/>
          </a:ln>
        </p:spPr>
      </p:sp>
      <p:sp>
        <p:nvSpPr>
          <p:cNvPr id="16" name="Text 14"/>
          <p:cNvSpPr/>
          <p:nvPr/>
        </p:nvSpPr>
        <p:spPr>
          <a:xfrm>
            <a:off x="3935849" y="6142673"/>
            <a:ext cx="237173" cy="296466"/>
          </a:xfrm>
          <a:prstGeom prst="rect">
            <a:avLst/>
          </a:prstGeom>
          <a:noFill/>
          <a:ln/>
        </p:spPr>
        <p:txBody>
          <a:bodyPr wrap="none" lIns="0" tIns="0" rIns="0" bIns="0" rtlCol="0" anchor="t"/>
          <a:lstStyle/>
          <a:p>
            <a:pPr algn="ctr" indent="0" marL="0">
              <a:lnSpc>
                <a:spcPts val="2750"/>
              </a:lnSpc>
              <a:buNone/>
            </a:pPr>
            <a:r>
              <a:rPr lang="en-US" sz="1850" b="1" dirty="0">
                <a:solidFill>
                  <a:srgbClr val="E5E0DF"/>
                </a:solidFill>
                <a:latin typeface="Inter Bold" pitchFamily="34" charset="0"/>
                <a:ea typeface="Inter Bold" pitchFamily="34" charset="-122"/>
                <a:cs typeface="Inter Bold" pitchFamily="34" charset="-120"/>
              </a:rPr>
              <a:t>3</a:t>
            </a:r>
            <a:endParaRPr lang="en-US" sz="1850" dirty="0"/>
          </a:p>
        </p:txBody>
      </p:sp>
      <p:sp>
        <p:nvSpPr>
          <p:cNvPr id="17" name="Text 15"/>
          <p:cNvSpPr/>
          <p:nvPr/>
        </p:nvSpPr>
        <p:spPr>
          <a:xfrm>
            <a:off x="7483792" y="5616892"/>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E5E0DF"/>
                </a:solidFill>
                <a:latin typeface="Inter Bold" pitchFamily="34" charset="0"/>
                <a:ea typeface="Inter Bold" pitchFamily="34" charset="-122"/>
                <a:cs typeface="Inter Bold" pitchFamily="34" charset="-120"/>
              </a:rPr>
              <a:t>Tier 3: High risk</a:t>
            </a:r>
            <a:endParaRPr lang="en-US" sz="1650" dirty="0"/>
          </a:p>
        </p:txBody>
      </p:sp>
      <p:sp>
        <p:nvSpPr>
          <p:cNvPr id="18" name="Text 16"/>
          <p:cNvSpPr/>
          <p:nvPr/>
        </p:nvSpPr>
        <p:spPr>
          <a:xfrm>
            <a:off x="7483792" y="5966341"/>
            <a:ext cx="6184225" cy="998696"/>
          </a:xfrm>
          <a:prstGeom prst="rect">
            <a:avLst/>
          </a:prstGeom>
          <a:noFill/>
          <a:ln/>
        </p:spPr>
        <p:txBody>
          <a:bodyPr wrap="squar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Systemy z Aneksu III AI Act: rekrutacja, scoring kredytowy, medycyna, egzekucja prawa itp. </a:t>
            </a:r>
            <a:pPr algn="l" indent="0" marL="0">
              <a:lnSpc>
                <a:spcPts val="1950"/>
              </a:lnSpc>
              <a:buNone/>
            </a:pPr>
            <a:r>
              <a:rPr lang="en-US" sz="1300" b="1" dirty="0">
                <a:solidFill>
                  <a:srgbClr val="E5E0DF"/>
                </a:solidFill>
                <a:latin typeface="Inter" pitchFamily="34" charset="0"/>
                <a:ea typeface="Inter" pitchFamily="34" charset="-122"/>
                <a:cs typeface="Inter" pitchFamily="34" charset="-120"/>
              </a:rPr>
              <a:t>Due diligence:</a:t>
            </a:r>
            <a:pPr algn="l" indent="0" marL="0">
              <a:lnSpc>
                <a:spcPts val="1950"/>
              </a:lnSpc>
              <a:buNone/>
            </a:pPr>
            <a:r>
              <a:rPr lang="en-US" sz="1300" dirty="0">
                <a:solidFill>
                  <a:srgbClr val="E5E0DF"/>
                </a:solidFill>
                <a:latin typeface="Inter" pitchFamily="34" charset="0"/>
                <a:ea typeface="Inter" pitchFamily="34" charset="-122"/>
                <a:cs typeface="Inter" pitchFamily="34" charset="-120"/>
              </a:rPr>
              <a:t> pełny proces (prawny + techniczny + bias + DPIA), eksperci zewnętrzni, negocjacje szczegółowe, pilotaż, monitoring post-deployment.</a:t>
            </a:r>
            <a:endParaRPr lang="en-US" sz="1300" dirty="0"/>
          </a:p>
        </p:txBody>
      </p:sp>
      <p:sp>
        <p:nvSpPr>
          <p:cNvPr id="19" name="Text 17"/>
          <p:cNvSpPr/>
          <p:nvPr/>
        </p:nvSpPr>
        <p:spPr>
          <a:xfrm>
            <a:off x="793790" y="7294840"/>
            <a:ext cx="13042821" cy="249674"/>
          </a:xfrm>
          <a:prstGeom prst="rect">
            <a:avLst/>
          </a:prstGeom>
          <a:noFill/>
          <a:ln/>
        </p:spPr>
        <p:txBody>
          <a:bodyPr wrap="none" lIns="0" tIns="0" rIns="0" bIns="0" rtlCol="0" anchor="t"/>
          <a:lstStyle/>
          <a:p>
            <a:pPr algn="l" indent="0" marL="0">
              <a:lnSpc>
                <a:spcPts val="1950"/>
              </a:lnSpc>
              <a:buNone/>
            </a:pPr>
            <a:r>
              <a:rPr lang="en-US" sz="1300" dirty="0">
                <a:solidFill>
                  <a:srgbClr val="E5E0DF"/>
                </a:solidFill>
                <a:latin typeface="Inter" pitchFamily="34" charset="0"/>
                <a:ea typeface="Inter" pitchFamily="34" charset="-122"/>
                <a:cs typeface="Inter" pitchFamily="34" charset="-120"/>
              </a:rPr>
              <a:t>Dla każdego tier możecie mieć standardowe szablony dokumentów, checklists, procedury. To pozwala skalować compliance bez zwielokrotniania kosztów.</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785098" y="558998"/>
            <a:ext cx="6460808" cy="582811"/>
          </a:xfrm>
          <a:prstGeom prst="rect">
            <a:avLst/>
          </a:prstGeom>
          <a:noFill/>
          <a:ln/>
        </p:spPr>
        <p:txBody>
          <a:bodyPr wrap="none" lIns="0" tIns="0" rIns="0" bIns="0" rtlCol="0" anchor="t"/>
          <a:lstStyle/>
          <a:p>
            <a:pPr algn="l" indent="0" marL="0">
              <a:lnSpc>
                <a:spcPts val="4550"/>
              </a:lnSpc>
              <a:buNone/>
            </a:pPr>
            <a:r>
              <a:rPr lang="en-US" sz="3650" b="1" dirty="0">
                <a:solidFill>
                  <a:srgbClr val="FFFFFF"/>
                </a:solidFill>
                <a:latin typeface="Inter Bold" pitchFamily="34" charset="0"/>
                <a:ea typeface="Inter Bold" pitchFamily="34" charset="-122"/>
                <a:cs typeface="Inter Bold" pitchFamily="34" charset="-120"/>
              </a:rPr>
              <a:t>Dokumentacja due diligence</a:t>
            </a:r>
            <a:endParaRPr lang="en-US" sz="3650" dirty="0"/>
          </a:p>
        </p:txBody>
      </p:sp>
      <p:sp>
        <p:nvSpPr>
          <p:cNvPr id="3" name="Text 1"/>
          <p:cNvSpPr/>
          <p:nvPr/>
        </p:nvSpPr>
        <p:spPr>
          <a:xfrm>
            <a:off x="785098" y="1211818"/>
            <a:ext cx="3862983" cy="291346"/>
          </a:xfrm>
          <a:prstGeom prst="rect">
            <a:avLst/>
          </a:prstGeom>
          <a:noFill/>
          <a:ln/>
        </p:spPr>
        <p:txBody>
          <a:bodyPr wrap="none" lIns="0" tIns="0" rIns="0" bIns="0" rtlCol="0" anchor="t"/>
          <a:lstStyle/>
          <a:p>
            <a:pPr algn="l" indent="0" marL="0">
              <a:lnSpc>
                <a:spcPts val="2250"/>
              </a:lnSpc>
              <a:buNone/>
            </a:pPr>
            <a:r>
              <a:rPr lang="en-US" sz="1800" b="1" dirty="0">
                <a:solidFill>
                  <a:srgbClr val="FFFFFF"/>
                </a:solidFill>
                <a:latin typeface="Inter Bold" pitchFamily="34" charset="0"/>
                <a:ea typeface="Inter Bold" pitchFamily="34" charset="-122"/>
                <a:cs typeface="Inter Bold" pitchFamily="34" charset="-120"/>
              </a:rPr>
              <a:t>Co musicie zachować na papierze</a:t>
            </a:r>
            <a:endParaRPr lang="en-US" sz="1800" dirty="0"/>
          </a:p>
        </p:txBody>
      </p:sp>
      <p:sp>
        <p:nvSpPr>
          <p:cNvPr id="4" name="Text 2"/>
          <p:cNvSpPr/>
          <p:nvPr/>
        </p:nvSpPr>
        <p:spPr>
          <a:xfrm>
            <a:off x="785098" y="1765935"/>
            <a:ext cx="13060204" cy="578406"/>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Due diligence to nie tylko decyzja „kupujemy/nie kupujemy". To jest proces, który musi być </a:t>
            </a:r>
            <a:pPr algn="l" indent="0" marL="0">
              <a:lnSpc>
                <a:spcPts val="2250"/>
              </a:lnSpc>
              <a:buNone/>
            </a:pPr>
            <a:r>
              <a:rPr lang="en-US" sz="1450" b="1" dirty="0">
                <a:solidFill>
                  <a:srgbClr val="E5E0DF"/>
                </a:solidFill>
                <a:latin typeface="Inter" pitchFamily="34" charset="0"/>
                <a:ea typeface="Inter" pitchFamily="34" charset="-122"/>
                <a:cs typeface="Inter" pitchFamily="34" charset="-120"/>
              </a:rPr>
              <a:t>udokumentowany</a:t>
            </a:r>
            <a:pPr algn="l" indent="0" marL="0">
              <a:lnSpc>
                <a:spcPts val="2250"/>
              </a:lnSpc>
              <a:buNone/>
            </a:pPr>
            <a:r>
              <a:rPr lang="en-US" sz="1450" dirty="0">
                <a:solidFill>
                  <a:srgbClr val="E5E0DF"/>
                </a:solidFill>
                <a:latin typeface="Inter" pitchFamily="34" charset="0"/>
                <a:ea typeface="Inter" pitchFamily="34" charset="-122"/>
                <a:cs typeface="Inter" pitchFamily="34" charset="-120"/>
              </a:rPr>
              <a:t> - dla celów compliance, audytu wewnętrznego, ewentualnej kontroli UODO.</a:t>
            </a:r>
            <a:endParaRPr lang="en-US" sz="1450" dirty="0"/>
          </a:p>
        </p:txBody>
      </p:sp>
      <p:sp>
        <p:nvSpPr>
          <p:cNvPr id="5" name="Text 3"/>
          <p:cNvSpPr/>
          <p:nvPr/>
        </p:nvSpPr>
        <p:spPr>
          <a:xfrm>
            <a:off x="785098" y="2541389"/>
            <a:ext cx="13060204" cy="289203"/>
          </a:xfrm>
          <a:prstGeom prst="rect">
            <a:avLst/>
          </a:prstGeom>
          <a:noFill/>
          <a:ln/>
        </p:spPr>
        <p:txBody>
          <a:bodyPr wrap="non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Co powinno znaleźć się w dokumentacji due diligence AI:</a:t>
            </a:r>
            <a:endParaRPr lang="en-US" sz="1450" dirty="0"/>
          </a:p>
        </p:txBody>
      </p:sp>
      <p:sp>
        <p:nvSpPr>
          <p:cNvPr id="6" name="Shape 4"/>
          <p:cNvSpPr/>
          <p:nvPr/>
        </p:nvSpPr>
        <p:spPr>
          <a:xfrm>
            <a:off x="785098" y="3027640"/>
            <a:ext cx="13060204" cy="3867388"/>
          </a:xfrm>
          <a:prstGeom prst="roundRect">
            <a:avLst>
              <a:gd name="adj" fmla="val 2025"/>
            </a:avLst>
          </a:prstGeom>
          <a:solidFill>
            <a:srgbClr val="110080"/>
          </a:solidFill>
          <a:ln w="7620">
            <a:solidFill>
              <a:srgbClr val="2A1999"/>
            </a:solidFill>
            <a:prstDash val="solid"/>
          </a:ln>
        </p:spPr>
      </p:sp>
      <p:sp>
        <p:nvSpPr>
          <p:cNvPr id="7" name="Shape 5"/>
          <p:cNvSpPr/>
          <p:nvPr/>
        </p:nvSpPr>
        <p:spPr>
          <a:xfrm>
            <a:off x="792718" y="3035260"/>
            <a:ext cx="3261241" cy="2504480"/>
          </a:xfrm>
          <a:prstGeom prst="roundRect">
            <a:avLst>
              <a:gd name="adj" fmla="val 3127"/>
            </a:avLst>
          </a:prstGeom>
          <a:solidFill>
            <a:srgbClr val="110080"/>
          </a:solidFill>
          <a:ln/>
        </p:spPr>
      </p:sp>
      <p:sp>
        <p:nvSpPr>
          <p:cNvPr id="8" name="Text 6"/>
          <p:cNvSpPr/>
          <p:nvPr/>
        </p:nvSpPr>
        <p:spPr>
          <a:xfrm>
            <a:off x="979170" y="3221712"/>
            <a:ext cx="2607588" cy="291346"/>
          </a:xfrm>
          <a:prstGeom prst="rect">
            <a:avLst/>
          </a:prstGeom>
          <a:noFill/>
          <a:ln/>
        </p:spPr>
        <p:txBody>
          <a:bodyPr wrap="none" lIns="0" tIns="0" rIns="0" bIns="0" rtlCol="0" anchor="t"/>
          <a:lstStyle/>
          <a:p>
            <a:pPr algn="l" indent="0" marL="0">
              <a:lnSpc>
                <a:spcPts val="2250"/>
              </a:lnSpc>
              <a:buNone/>
            </a:pPr>
            <a:r>
              <a:rPr lang="en-US" sz="1800" b="1" dirty="0">
                <a:solidFill>
                  <a:srgbClr val="E5E0DF"/>
                </a:solidFill>
                <a:latin typeface="Inter Bold" pitchFamily="34" charset="0"/>
                <a:ea typeface="Inter Bold" pitchFamily="34" charset="-122"/>
                <a:cs typeface="Inter Bold" pitchFamily="34" charset="-120"/>
              </a:rPr>
              <a:t>Opis przypadku użycia</a:t>
            </a:r>
            <a:endParaRPr lang="en-US" sz="1800" dirty="0"/>
          </a:p>
        </p:txBody>
      </p:sp>
      <p:sp>
        <p:nvSpPr>
          <p:cNvPr id="9" name="Text 7"/>
          <p:cNvSpPr/>
          <p:nvPr/>
        </p:nvSpPr>
        <p:spPr>
          <a:xfrm>
            <a:off x="979170" y="3618071"/>
            <a:ext cx="2888337" cy="1446014"/>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Do czego będziemy używać systemu AI? Kto będzie użytkownikiem? Jakie dane będą przetwarzane? Jakie decyzje będą podejmowane?</a:t>
            </a:r>
            <a:endParaRPr lang="en-US" sz="1450" dirty="0"/>
          </a:p>
        </p:txBody>
      </p:sp>
      <p:sp>
        <p:nvSpPr>
          <p:cNvPr id="10" name="Shape 8"/>
          <p:cNvSpPr/>
          <p:nvPr/>
        </p:nvSpPr>
        <p:spPr>
          <a:xfrm>
            <a:off x="4053959" y="3035260"/>
            <a:ext cx="3261241" cy="2504480"/>
          </a:xfrm>
          <a:prstGeom prst="rect">
            <a:avLst/>
          </a:prstGeom>
          <a:solidFill>
            <a:srgbClr val="110080"/>
          </a:solidFill>
          <a:ln/>
        </p:spPr>
      </p:sp>
      <p:sp>
        <p:nvSpPr>
          <p:cNvPr id="11" name="Shape 9"/>
          <p:cNvSpPr/>
          <p:nvPr/>
        </p:nvSpPr>
        <p:spPr>
          <a:xfrm>
            <a:off x="4053959" y="3035260"/>
            <a:ext cx="22860" cy="2504480"/>
          </a:xfrm>
          <a:prstGeom prst="roundRect">
            <a:avLst>
              <a:gd name="adj" fmla="val 342612"/>
            </a:avLst>
          </a:prstGeom>
          <a:solidFill>
            <a:srgbClr val="2A1999"/>
          </a:solidFill>
          <a:ln/>
        </p:spPr>
      </p:sp>
      <p:sp>
        <p:nvSpPr>
          <p:cNvPr id="12" name="Text 10"/>
          <p:cNvSpPr/>
          <p:nvPr/>
        </p:nvSpPr>
        <p:spPr>
          <a:xfrm>
            <a:off x="4240411" y="3221712"/>
            <a:ext cx="2330887" cy="291346"/>
          </a:xfrm>
          <a:prstGeom prst="rect">
            <a:avLst/>
          </a:prstGeom>
          <a:noFill/>
          <a:ln/>
        </p:spPr>
        <p:txBody>
          <a:bodyPr wrap="none" lIns="0" tIns="0" rIns="0" bIns="0" rtlCol="0" anchor="t"/>
          <a:lstStyle/>
          <a:p>
            <a:pPr algn="l" indent="0" marL="0">
              <a:lnSpc>
                <a:spcPts val="2250"/>
              </a:lnSpc>
              <a:buNone/>
            </a:pPr>
            <a:r>
              <a:rPr lang="en-US" sz="1800" b="1" dirty="0">
                <a:solidFill>
                  <a:srgbClr val="E5E0DF"/>
                </a:solidFill>
                <a:latin typeface="Inter Bold" pitchFamily="34" charset="0"/>
                <a:ea typeface="Inter Bold" pitchFamily="34" charset="-122"/>
                <a:cs typeface="Inter Bold" pitchFamily="34" charset="-120"/>
              </a:rPr>
              <a:t>Klasyfikacja ryzyka</a:t>
            </a:r>
            <a:endParaRPr lang="en-US" sz="1800" dirty="0"/>
          </a:p>
        </p:txBody>
      </p:sp>
      <p:sp>
        <p:nvSpPr>
          <p:cNvPr id="13" name="Text 11"/>
          <p:cNvSpPr/>
          <p:nvPr/>
        </p:nvSpPr>
        <p:spPr>
          <a:xfrm>
            <a:off x="4240411" y="3618071"/>
            <a:ext cx="2888337" cy="1156811"/>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Czy system jest high-risk pod AI Act? Na jakiej podstawie? Jakie przepisy się stosują? Kto jest providerem, kto deployerem?</a:t>
            </a:r>
            <a:endParaRPr lang="en-US" sz="1450" dirty="0"/>
          </a:p>
        </p:txBody>
      </p:sp>
      <p:sp>
        <p:nvSpPr>
          <p:cNvPr id="14" name="Shape 12"/>
          <p:cNvSpPr/>
          <p:nvPr/>
        </p:nvSpPr>
        <p:spPr>
          <a:xfrm>
            <a:off x="7315200" y="3035260"/>
            <a:ext cx="3261241" cy="2504480"/>
          </a:xfrm>
          <a:prstGeom prst="rect">
            <a:avLst/>
          </a:prstGeom>
          <a:solidFill>
            <a:srgbClr val="110080"/>
          </a:solidFill>
          <a:ln/>
        </p:spPr>
      </p:sp>
      <p:sp>
        <p:nvSpPr>
          <p:cNvPr id="15" name="Shape 13"/>
          <p:cNvSpPr/>
          <p:nvPr/>
        </p:nvSpPr>
        <p:spPr>
          <a:xfrm>
            <a:off x="7315200" y="3035260"/>
            <a:ext cx="22860" cy="2504480"/>
          </a:xfrm>
          <a:prstGeom prst="roundRect">
            <a:avLst>
              <a:gd name="adj" fmla="val 342612"/>
            </a:avLst>
          </a:prstGeom>
          <a:solidFill>
            <a:srgbClr val="2A1999"/>
          </a:solidFill>
          <a:ln/>
        </p:spPr>
      </p:sp>
      <p:sp>
        <p:nvSpPr>
          <p:cNvPr id="16" name="Text 14"/>
          <p:cNvSpPr/>
          <p:nvPr/>
        </p:nvSpPr>
        <p:spPr>
          <a:xfrm>
            <a:off x="7501652" y="3221712"/>
            <a:ext cx="2330887" cy="291346"/>
          </a:xfrm>
          <a:prstGeom prst="rect">
            <a:avLst/>
          </a:prstGeom>
          <a:noFill/>
          <a:ln/>
        </p:spPr>
        <p:txBody>
          <a:bodyPr wrap="none" lIns="0" tIns="0" rIns="0" bIns="0" rtlCol="0" anchor="t"/>
          <a:lstStyle/>
          <a:p>
            <a:pPr algn="l" indent="0" marL="0">
              <a:lnSpc>
                <a:spcPts val="2250"/>
              </a:lnSpc>
              <a:buNone/>
            </a:pPr>
            <a:r>
              <a:rPr lang="en-US" sz="1800" b="1" dirty="0">
                <a:solidFill>
                  <a:srgbClr val="E5E0DF"/>
                </a:solidFill>
                <a:latin typeface="Inter Bold" pitchFamily="34" charset="0"/>
                <a:ea typeface="Inter Bold" pitchFamily="34" charset="-122"/>
                <a:cs typeface="Inter Bold" pitchFamily="34" charset="-120"/>
              </a:rPr>
              <a:t>Analiza vendora</a:t>
            </a:r>
            <a:endParaRPr lang="en-US" sz="1800" dirty="0"/>
          </a:p>
        </p:txBody>
      </p:sp>
      <p:sp>
        <p:nvSpPr>
          <p:cNvPr id="17" name="Text 15"/>
          <p:cNvSpPr/>
          <p:nvPr/>
        </p:nvSpPr>
        <p:spPr>
          <a:xfrm>
            <a:off x="7501652" y="3618071"/>
            <a:ext cx="2888337" cy="1735217"/>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Model card, dokumentacja techniczna, dane treningowe, metryki jakości, znane ograniczenia. Wyniki pilotażu/walidacji na waszych danych.</a:t>
            </a:r>
            <a:endParaRPr lang="en-US" sz="1450" dirty="0"/>
          </a:p>
        </p:txBody>
      </p:sp>
      <p:sp>
        <p:nvSpPr>
          <p:cNvPr id="18" name="Shape 16"/>
          <p:cNvSpPr/>
          <p:nvPr/>
        </p:nvSpPr>
        <p:spPr>
          <a:xfrm>
            <a:off x="10576441" y="3035260"/>
            <a:ext cx="3261241" cy="2504480"/>
          </a:xfrm>
          <a:prstGeom prst="rect">
            <a:avLst/>
          </a:prstGeom>
          <a:solidFill>
            <a:srgbClr val="110080"/>
          </a:solidFill>
          <a:ln/>
        </p:spPr>
      </p:sp>
      <p:sp>
        <p:nvSpPr>
          <p:cNvPr id="19" name="Shape 17"/>
          <p:cNvSpPr/>
          <p:nvPr/>
        </p:nvSpPr>
        <p:spPr>
          <a:xfrm>
            <a:off x="10576441" y="3035260"/>
            <a:ext cx="22860" cy="2504480"/>
          </a:xfrm>
          <a:prstGeom prst="roundRect">
            <a:avLst>
              <a:gd name="adj" fmla="val 342612"/>
            </a:avLst>
          </a:prstGeom>
          <a:solidFill>
            <a:srgbClr val="2A1999"/>
          </a:solidFill>
          <a:ln/>
        </p:spPr>
      </p:sp>
      <p:sp>
        <p:nvSpPr>
          <p:cNvPr id="20" name="Text 18"/>
          <p:cNvSpPr/>
          <p:nvPr/>
        </p:nvSpPr>
        <p:spPr>
          <a:xfrm>
            <a:off x="10762893" y="3221712"/>
            <a:ext cx="2330887" cy="291346"/>
          </a:xfrm>
          <a:prstGeom prst="rect">
            <a:avLst/>
          </a:prstGeom>
          <a:noFill/>
          <a:ln/>
        </p:spPr>
        <p:txBody>
          <a:bodyPr wrap="none" lIns="0" tIns="0" rIns="0" bIns="0" rtlCol="0" anchor="t"/>
          <a:lstStyle/>
          <a:p>
            <a:pPr algn="l" indent="0" marL="0">
              <a:lnSpc>
                <a:spcPts val="2250"/>
              </a:lnSpc>
              <a:buNone/>
            </a:pPr>
            <a:r>
              <a:rPr lang="en-US" sz="1800" b="1" dirty="0">
                <a:solidFill>
                  <a:srgbClr val="E5E0DF"/>
                </a:solidFill>
                <a:latin typeface="Inter Bold" pitchFamily="34" charset="0"/>
                <a:ea typeface="Inter Bold" pitchFamily="34" charset="-122"/>
                <a:cs typeface="Inter Bold" pitchFamily="34" charset="-120"/>
              </a:rPr>
              <a:t>Analiza prawna</a:t>
            </a:r>
            <a:endParaRPr lang="en-US" sz="1800" dirty="0"/>
          </a:p>
        </p:txBody>
      </p:sp>
      <p:sp>
        <p:nvSpPr>
          <p:cNvPr id="21" name="Text 19"/>
          <p:cNvSpPr/>
          <p:nvPr/>
        </p:nvSpPr>
        <p:spPr>
          <a:xfrm>
            <a:off x="10762893" y="3618071"/>
            <a:ext cx="2888337" cy="1446014"/>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Przegląd regulaminu, zidentyfikowane red flags, punkty negocjacyjne, finalna wersja umowy. DPIA jeśli wymagana.</a:t>
            </a:r>
            <a:endParaRPr lang="en-US" sz="1450" dirty="0"/>
          </a:p>
        </p:txBody>
      </p:sp>
      <p:sp>
        <p:nvSpPr>
          <p:cNvPr id="22" name="Shape 20"/>
          <p:cNvSpPr/>
          <p:nvPr/>
        </p:nvSpPr>
        <p:spPr>
          <a:xfrm>
            <a:off x="792718" y="5539740"/>
            <a:ext cx="13044964" cy="1347668"/>
          </a:xfrm>
          <a:prstGeom prst="rect">
            <a:avLst/>
          </a:prstGeom>
          <a:solidFill>
            <a:srgbClr val="110080"/>
          </a:solidFill>
          <a:ln/>
        </p:spPr>
      </p:sp>
      <p:sp>
        <p:nvSpPr>
          <p:cNvPr id="23" name="Shape 21"/>
          <p:cNvSpPr/>
          <p:nvPr/>
        </p:nvSpPr>
        <p:spPr>
          <a:xfrm>
            <a:off x="792718" y="5539740"/>
            <a:ext cx="13044964" cy="22860"/>
          </a:xfrm>
          <a:prstGeom prst="roundRect">
            <a:avLst>
              <a:gd name="adj" fmla="val 342612"/>
            </a:avLst>
          </a:prstGeom>
          <a:solidFill>
            <a:srgbClr val="2A1999"/>
          </a:solidFill>
          <a:ln/>
        </p:spPr>
      </p:sp>
      <p:sp>
        <p:nvSpPr>
          <p:cNvPr id="24" name="Text 22"/>
          <p:cNvSpPr/>
          <p:nvPr/>
        </p:nvSpPr>
        <p:spPr>
          <a:xfrm>
            <a:off x="979170" y="5726192"/>
            <a:ext cx="2606159" cy="291346"/>
          </a:xfrm>
          <a:prstGeom prst="rect">
            <a:avLst/>
          </a:prstGeom>
          <a:noFill/>
          <a:ln/>
        </p:spPr>
        <p:txBody>
          <a:bodyPr wrap="none" lIns="0" tIns="0" rIns="0" bIns="0" rtlCol="0" anchor="t"/>
          <a:lstStyle/>
          <a:p>
            <a:pPr algn="l" indent="0" marL="0">
              <a:lnSpc>
                <a:spcPts val="2250"/>
              </a:lnSpc>
              <a:buNone/>
            </a:pPr>
            <a:r>
              <a:rPr lang="en-US" sz="1800" b="1" dirty="0">
                <a:solidFill>
                  <a:srgbClr val="E5E0DF"/>
                </a:solidFill>
                <a:latin typeface="Inter Bold" pitchFamily="34" charset="0"/>
                <a:ea typeface="Inter Bold" pitchFamily="34" charset="-122"/>
                <a:cs typeface="Inter Bold" pitchFamily="34" charset="-120"/>
              </a:rPr>
              <a:t>Decyzja i uzasadnienie</a:t>
            </a:r>
            <a:endParaRPr lang="en-US" sz="1800" dirty="0"/>
          </a:p>
        </p:txBody>
      </p:sp>
      <p:sp>
        <p:nvSpPr>
          <p:cNvPr id="25" name="Text 23"/>
          <p:cNvSpPr/>
          <p:nvPr/>
        </p:nvSpPr>
        <p:spPr>
          <a:xfrm>
            <a:off x="979170" y="6122551"/>
            <a:ext cx="12672060" cy="578406"/>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Czy kupujemy? Dlaczego? Jakie warunki muszą być spełnione? Kto odpowiada za wdrożenie? Jakie są procedury monitoring i human oversight?</a:t>
            </a:r>
            <a:endParaRPr lang="en-US" sz="1450" dirty="0"/>
          </a:p>
        </p:txBody>
      </p:sp>
      <p:sp>
        <p:nvSpPr>
          <p:cNvPr id="26" name="Text 24"/>
          <p:cNvSpPr/>
          <p:nvPr/>
        </p:nvSpPr>
        <p:spPr>
          <a:xfrm>
            <a:off x="785098" y="7092077"/>
            <a:ext cx="13060204" cy="578406"/>
          </a:xfrm>
          <a:prstGeom prst="rect">
            <a:avLst/>
          </a:prstGeom>
          <a:noFill/>
          <a:ln/>
        </p:spPr>
        <p:txBody>
          <a:bodyPr wrap="square" lIns="0" tIns="0" rIns="0" bIns="0" rtlCol="0" anchor="t"/>
          <a:lstStyle/>
          <a:p>
            <a:pPr algn="l" indent="0" marL="0">
              <a:lnSpc>
                <a:spcPts val="2250"/>
              </a:lnSpc>
              <a:buNone/>
            </a:pPr>
            <a:r>
              <a:rPr lang="en-US" sz="1450" dirty="0">
                <a:solidFill>
                  <a:srgbClr val="E5E0DF"/>
                </a:solidFill>
                <a:latin typeface="Inter" pitchFamily="34" charset="0"/>
                <a:ea typeface="Inter" pitchFamily="34" charset="-122"/>
                <a:cs typeface="Inter" pitchFamily="34" charset="-120"/>
              </a:rPr>
              <a:t>Ta dokumentacja to wasza ochrona. Jeśli UODO przyjdzie z kontrolą - możecie pokazać, że przeprowadziliście staranną analizę, że podjęliście decyzję w oparciu o fakty, że wdrożyliście odpowiednie zabezpieczenia.</a:t>
            </a:r>
            <a:endParaRPr lang="en-US" sz="14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793790" y="775930"/>
            <a:ext cx="6958251"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Monitoring post-deployment</a:t>
            </a:r>
            <a:endParaRPr lang="en-US" sz="3900" dirty="0"/>
          </a:p>
        </p:txBody>
      </p:sp>
      <p:sp>
        <p:nvSpPr>
          <p:cNvPr id="3" name="Text 1"/>
          <p:cNvSpPr/>
          <p:nvPr/>
        </p:nvSpPr>
        <p:spPr>
          <a:xfrm>
            <a:off x="793790" y="1475303"/>
            <a:ext cx="4808458"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Due diligence się nie kończy po zakupie</a:t>
            </a:r>
            <a:endParaRPr lang="en-US" sz="1950" dirty="0"/>
          </a:p>
        </p:txBody>
      </p:sp>
      <p:sp>
        <p:nvSpPr>
          <p:cNvPr id="4" name="Text 2"/>
          <p:cNvSpPr/>
          <p:nvPr/>
        </p:nvSpPr>
        <p:spPr>
          <a:xfrm>
            <a:off x="793790" y="208311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Podpisaliście umowę. Wdrożyliście system. Due diligence zakończone?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Nie.</a:t>
            </a:r>
            <a:endParaRPr lang="en-US" sz="1550" dirty="0"/>
          </a:p>
        </p:txBody>
      </p:sp>
      <p:sp>
        <p:nvSpPr>
          <p:cNvPr id="5" name="Text 3"/>
          <p:cNvSpPr/>
          <p:nvPr/>
        </p:nvSpPr>
        <p:spPr>
          <a:xfrm>
            <a:off x="793790" y="262389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AI Act (art. 26 dla deployerów) wymaga ciągłego monitorowania systemu w trakcie użytkowania. To nie jest „set and forget". To jest „deploy and monitor".</a:t>
            </a:r>
            <a:endParaRPr lang="en-US" sz="1550" dirty="0"/>
          </a:p>
        </p:txBody>
      </p:sp>
      <p:sp>
        <p:nvSpPr>
          <p:cNvPr id="6" name="Text 4"/>
          <p:cNvSpPr/>
          <p:nvPr/>
        </p:nvSpPr>
        <p:spPr>
          <a:xfrm>
            <a:off x="793790" y="348222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Co musicie monitorować:</a:t>
            </a:r>
            <a:endParaRPr lang="en-US" sz="1550" dirty="0"/>
          </a:p>
        </p:txBody>
      </p:sp>
      <p:sp>
        <p:nvSpPr>
          <p:cNvPr id="7" name="Text 5"/>
          <p:cNvSpPr/>
          <p:nvPr/>
        </p:nvSpPr>
        <p:spPr>
          <a:xfrm>
            <a:off x="793790" y="422136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Metryki jakości</a:t>
            </a:r>
            <a:endParaRPr lang="en-US" sz="1950" dirty="0"/>
          </a:p>
        </p:txBody>
      </p:sp>
      <p:sp>
        <p:nvSpPr>
          <p:cNvPr id="8" name="Text 6"/>
          <p:cNvSpPr/>
          <p:nvPr/>
        </p:nvSpPr>
        <p:spPr>
          <a:xfrm>
            <a:off x="793790" y="4729877"/>
            <a:ext cx="6279356" cy="1587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accuracy modelu się utrzymuje, czy spada?</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pojawiają się nowe typy błędów?</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model „dryfuje" - czy zmienia się jego zachowanie w czasie?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użytkownicy zgłaszają problemy?</a:t>
            </a:r>
            <a:endParaRPr lang="en-US" sz="1550" dirty="0"/>
          </a:p>
        </p:txBody>
      </p:sp>
      <p:sp>
        <p:nvSpPr>
          <p:cNvPr id="9" name="Text 7"/>
          <p:cNvSpPr/>
          <p:nvPr/>
        </p:nvSpPr>
        <p:spPr>
          <a:xfrm>
            <a:off x="7564874" y="422136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Compliance</a:t>
            </a:r>
            <a:endParaRPr lang="en-US" sz="1950" dirty="0"/>
          </a:p>
        </p:txBody>
      </p:sp>
      <p:sp>
        <p:nvSpPr>
          <p:cNvPr id="10" name="Text 8"/>
          <p:cNvSpPr/>
          <p:nvPr/>
        </p:nvSpPr>
        <p:spPr>
          <a:xfrm>
            <a:off x="7564874" y="4729877"/>
            <a:ext cx="6279356" cy="1270236"/>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vendor informuje o zmianach w modelu?</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dane są przetwarzane zgodnie z umową?</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procedury human oversight są przestrzegane?</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Czy logujecie decyzje AI (wymóg dla high-risk)?</a:t>
            </a:r>
            <a:endParaRPr lang="en-US" sz="1550" dirty="0"/>
          </a:p>
        </p:txBody>
      </p:sp>
      <p:sp>
        <p:nvSpPr>
          <p:cNvPr id="11" name="Text 9"/>
          <p:cNvSpPr/>
          <p:nvPr/>
        </p:nvSpPr>
        <p:spPr>
          <a:xfrm>
            <a:off x="793790" y="640216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Dla systemów high-risk AI Act wymaga, żeby deployer prowadził logi decyzji przez minimum 6 miesięcy (art. 12). To nie jest opcja - to jest obowiązek prawny. I musicie być gotowi pokazać te logi UODO na żądanie.</a:t>
            </a:r>
            <a:endParaRPr lang="en-US" sz="15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793790" y="866537"/>
            <a:ext cx="5913477"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Reagowanie na incydent</a:t>
            </a:r>
            <a:endParaRPr lang="en-US" sz="3900" dirty="0"/>
          </a:p>
        </p:txBody>
      </p:sp>
      <p:sp>
        <p:nvSpPr>
          <p:cNvPr id="3" name="Text 1"/>
          <p:cNvSpPr/>
          <p:nvPr/>
        </p:nvSpPr>
        <p:spPr>
          <a:xfrm>
            <a:off x="793790" y="1565910"/>
            <a:ext cx="3844528" cy="310158"/>
          </a:xfrm>
          <a:prstGeom prst="rect">
            <a:avLst/>
          </a:prstGeom>
          <a:noFill/>
          <a:ln/>
        </p:spPr>
        <p:txBody>
          <a:bodyPr wrap="none" lIns="0" tIns="0" rIns="0" bIns="0" rtlCol="0" anchor="t"/>
          <a:lstStyle/>
          <a:p>
            <a:pPr algn="l" indent="0" marL="0">
              <a:lnSpc>
                <a:spcPts val="2400"/>
              </a:lnSpc>
              <a:buNone/>
            </a:pPr>
            <a:r>
              <a:rPr lang="en-US" sz="1950" b="1" dirty="0">
                <a:solidFill>
                  <a:srgbClr val="FFFFFF"/>
                </a:solidFill>
                <a:latin typeface="Inter Bold" pitchFamily="34" charset="0"/>
                <a:ea typeface="Inter Bold" pitchFamily="34" charset="-122"/>
                <a:cs typeface="Inter Bold" pitchFamily="34" charset="-120"/>
              </a:rPr>
              <a:t>Co robić gdy coś pójdzie nie tak</a:t>
            </a:r>
            <a:endParaRPr lang="en-US" sz="1950" dirty="0"/>
          </a:p>
        </p:txBody>
      </p:sp>
      <p:sp>
        <p:nvSpPr>
          <p:cNvPr id="4" name="Text 2"/>
          <p:cNvSpPr/>
          <p:nvPr/>
        </p:nvSpPr>
        <p:spPr>
          <a:xfrm>
            <a:off x="793790" y="217372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AI się myli. To nie jest kwestia czy, tylko kiedy. Musicie mieć plan postępowania na wypadek incydentu.</a:t>
            </a:r>
            <a:endParaRPr lang="en-US" sz="1550" dirty="0"/>
          </a:p>
        </p:txBody>
      </p:sp>
      <p:sp>
        <p:nvSpPr>
          <p:cNvPr id="5" name="Text 3"/>
          <p:cNvSpPr/>
          <p:nvPr/>
        </p:nvSpPr>
        <p:spPr>
          <a:xfrm>
            <a:off x="793790" y="2714506"/>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Przykładowe scenariusze incydentów:</a:t>
            </a:r>
            <a:endParaRPr lang="en-US" sz="1550" dirty="0"/>
          </a:p>
        </p:txBody>
      </p:sp>
      <p:sp>
        <p:nvSpPr>
          <p:cNvPr id="6" name="Text 4"/>
          <p:cNvSpPr/>
          <p:nvPr/>
        </p:nvSpPr>
        <p:spPr>
          <a:xfrm>
            <a:off x="793790" y="3255288"/>
            <a:ext cx="13042821" cy="1587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System AI wygenerował halucynację, która doprowadziła do błędnej decyzji biznesowej</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Model uległ dryfowi - dokładność spadła z 94% do 78% i nikt nie zauważył przez miesiąc</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Okazało się, że model ma bias - dyskryminuje pewne grupy użytkowników</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Vendor miał incydent bezpieczeństwa - wyciek danych klientów</a:t>
            </a:r>
            <a:endParaRPr lang="en-US" sz="1550" dirty="0"/>
          </a:p>
          <a:p>
            <a:pPr algn="l" marL="342900" indent="-342900">
              <a:lnSpc>
                <a:spcPts val="2500"/>
              </a:lnSpc>
              <a:buSzPct val="100000"/>
              <a:buChar char="•"/>
            </a:pPr>
            <a:r>
              <a:rPr lang="en-US" sz="1550" dirty="0">
                <a:solidFill>
                  <a:srgbClr val="E5E0DF"/>
                </a:solidFill>
                <a:latin typeface="Inter" pitchFamily="34" charset="0"/>
                <a:ea typeface="Inter" pitchFamily="34" charset="-122"/>
                <a:cs typeface="Inter" pitchFamily="34" charset="-120"/>
              </a:rPr>
              <a:t>UODO rozpoczęło kontrolę - wymaga dokumentacji wdrożenia AI</a:t>
            </a:r>
            <a:endParaRPr lang="en-US" sz="1550" dirty="0"/>
          </a:p>
        </p:txBody>
      </p:sp>
      <p:sp>
        <p:nvSpPr>
          <p:cNvPr id="7" name="Text 5"/>
          <p:cNvSpPr/>
          <p:nvPr/>
        </p:nvSpPr>
        <p:spPr>
          <a:xfrm>
            <a:off x="793790" y="506632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Dla każdego scenariusza potrzebujecie procedury: kto jest odpowiedzialny, kogo informować, jakie kroki podjąć, w jakim czasie, jak dokumentować, jak komunikować (wewnętrznie i zewnętrznie).</a:t>
            </a:r>
            <a:endParaRPr lang="en-US" sz="1550" dirty="0"/>
          </a:p>
        </p:txBody>
      </p:sp>
      <p:sp>
        <p:nvSpPr>
          <p:cNvPr id="8" name="Shape 6"/>
          <p:cNvSpPr/>
          <p:nvPr/>
        </p:nvSpPr>
        <p:spPr>
          <a:xfrm>
            <a:off x="793790" y="5924646"/>
            <a:ext cx="13042821" cy="1160740"/>
          </a:xfrm>
          <a:prstGeom prst="roundRect">
            <a:avLst>
              <a:gd name="adj" fmla="val 7182"/>
            </a:avLst>
          </a:prstGeom>
          <a:solidFill>
            <a:srgbClr val="0A004D"/>
          </a:solidFill>
          <a:ln/>
        </p:spPr>
      </p:sp>
      <p:pic>
        <p:nvPicPr>
          <p:cNvPr id="9" name="Image 0" descr="preencoded.png">    </p:cNvPr>
          <p:cNvPicPr>
            <a:picLocks noChangeAspect="1"/>
          </p:cNvPicPr>
          <p:nvPr/>
        </p:nvPicPr>
        <p:blipFill>
          <a:blip r:embed="rId1"/>
          <a:stretch>
            <a:fillRect/>
          </a:stretch>
        </p:blipFill>
        <p:spPr>
          <a:xfrm>
            <a:off x="992148" y="6227541"/>
            <a:ext cx="248007" cy="198358"/>
          </a:xfrm>
          <a:prstGeom prst="rect">
            <a:avLst/>
          </a:prstGeom>
        </p:spPr>
      </p:pic>
      <p:sp>
        <p:nvSpPr>
          <p:cNvPr id="10" name="Text 7"/>
          <p:cNvSpPr/>
          <p:nvPr/>
        </p:nvSpPr>
        <p:spPr>
          <a:xfrm>
            <a:off x="1438513" y="6172534"/>
            <a:ext cx="12199739" cy="635079"/>
          </a:xfrm>
          <a:prstGeom prst="rect">
            <a:avLst/>
          </a:prstGeom>
          <a:noFill/>
          <a:ln/>
        </p:spPr>
        <p:txBody>
          <a:bodyPr wrap="square" lIns="0" tIns="0" rIns="0" bIns="0" rtlCol="0" anchor="t"/>
          <a:lstStyle/>
          <a:p>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Wymóg AI Act (art. 26 ust. 7):</a:t>
            </a:r>
            <a:pPr algn="l" indent="0" marL="0">
              <a:lnSpc>
                <a:spcPts val="2500"/>
              </a:lnSpc>
              <a:buNone/>
            </a:pPr>
            <a:r>
              <a:rPr lang="en-US" sz="1550" dirty="0">
                <a:solidFill>
                  <a:srgbClr val="FFFFFF"/>
                </a:solidFill>
                <a:latin typeface="Inter" pitchFamily="34" charset="0"/>
                <a:ea typeface="Inter" pitchFamily="34" charset="-122"/>
                <a:cs typeface="Inter" pitchFamily="34" charset="-120"/>
              </a:rPr>
              <a:t> Deployer systemu high-risk musi niezwłocznie poinformować providera i właściwy organ nadzoru o poważnym incydencie lub usterce. „Niezwłocznie" zwykle oznacza 72h.</a:t>
            </a:r>
            <a:endParaRPr lang="en-US" sz="15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793790" y="599956"/>
            <a:ext cx="7216021" cy="558165"/>
          </a:xfrm>
          <a:prstGeom prst="rect">
            <a:avLst/>
          </a:prstGeom>
          <a:noFill/>
          <a:ln/>
        </p:spPr>
        <p:txBody>
          <a:bodyPr wrap="none" lIns="0" tIns="0" rIns="0" bIns="0" rtlCol="0" anchor="t"/>
          <a:lstStyle/>
          <a:p>
            <a:pPr algn="l" indent="0" marL="0">
              <a:lnSpc>
                <a:spcPts val="4350"/>
              </a:lnSpc>
              <a:buNone/>
            </a:pPr>
            <a:r>
              <a:rPr lang="en-US" sz="3500" b="1" dirty="0">
                <a:solidFill>
                  <a:srgbClr val="FFFFFF"/>
                </a:solidFill>
                <a:latin typeface="Inter Bold" pitchFamily="34" charset="0"/>
                <a:ea typeface="Inter Bold" pitchFamily="34" charset="-122"/>
                <a:cs typeface="Inter Bold" pitchFamily="34" charset="-120"/>
              </a:rPr>
              <a:t>Schemat odpowiedzi na incydnet</a:t>
            </a:r>
            <a:endParaRPr lang="en-US" sz="3500" dirty="0"/>
          </a:p>
        </p:txBody>
      </p:sp>
      <p:sp>
        <p:nvSpPr>
          <p:cNvPr id="3" name="Shape 1"/>
          <p:cNvSpPr/>
          <p:nvPr/>
        </p:nvSpPr>
        <p:spPr>
          <a:xfrm>
            <a:off x="7303770" y="1479590"/>
            <a:ext cx="22860" cy="6150054"/>
          </a:xfrm>
          <a:prstGeom prst="roundRect">
            <a:avLst>
              <a:gd name="adj" fmla="val 328186"/>
            </a:avLst>
          </a:prstGeom>
          <a:solidFill>
            <a:srgbClr val="2A1999"/>
          </a:solidFill>
          <a:ln/>
        </p:spPr>
      </p:sp>
      <p:sp>
        <p:nvSpPr>
          <p:cNvPr id="4" name="Shape 2"/>
          <p:cNvSpPr/>
          <p:nvPr/>
        </p:nvSpPr>
        <p:spPr>
          <a:xfrm>
            <a:off x="6601361" y="1669018"/>
            <a:ext cx="535781" cy="22860"/>
          </a:xfrm>
          <a:prstGeom prst="roundRect">
            <a:avLst>
              <a:gd name="adj" fmla="val 328186"/>
            </a:avLst>
          </a:prstGeom>
          <a:solidFill>
            <a:srgbClr val="2A1999"/>
          </a:solidFill>
          <a:ln/>
        </p:spPr>
      </p:sp>
      <p:sp>
        <p:nvSpPr>
          <p:cNvPr id="5" name="Shape 3"/>
          <p:cNvSpPr/>
          <p:nvPr/>
        </p:nvSpPr>
        <p:spPr>
          <a:xfrm>
            <a:off x="7114282" y="1479590"/>
            <a:ext cx="401836" cy="401836"/>
          </a:xfrm>
          <a:prstGeom prst="roundRect">
            <a:avLst>
              <a:gd name="adj" fmla="val 18670"/>
            </a:avLst>
          </a:prstGeom>
          <a:solidFill>
            <a:srgbClr val="110080"/>
          </a:solidFill>
          <a:ln w="7620">
            <a:solidFill>
              <a:srgbClr val="2A1999"/>
            </a:solidFill>
            <a:prstDash val="solid"/>
          </a:ln>
        </p:spPr>
      </p:sp>
      <p:sp>
        <p:nvSpPr>
          <p:cNvPr id="6" name="Text 4"/>
          <p:cNvSpPr/>
          <p:nvPr/>
        </p:nvSpPr>
        <p:spPr>
          <a:xfrm>
            <a:off x="7181195" y="1512987"/>
            <a:ext cx="267891" cy="334923"/>
          </a:xfrm>
          <a:prstGeom prst="rect">
            <a:avLst/>
          </a:prstGeom>
          <a:noFill/>
          <a:ln/>
        </p:spPr>
        <p:txBody>
          <a:bodyPr wrap="none" lIns="0" tIns="0" rIns="0" bIns="0" rtlCol="0" anchor="t"/>
          <a:lstStyle/>
          <a:p>
            <a:pPr algn="ctr" indent="0" marL="0">
              <a:lnSpc>
                <a:spcPts val="2100"/>
              </a:lnSpc>
              <a:buNone/>
            </a:pPr>
            <a:r>
              <a:rPr lang="en-US" sz="2100" b="1" dirty="0">
                <a:solidFill>
                  <a:srgbClr val="E5E0DF"/>
                </a:solidFill>
                <a:latin typeface="Inter Bold" pitchFamily="34" charset="0"/>
                <a:ea typeface="Inter Bold" pitchFamily="34" charset="-122"/>
                <a:cs typeface="Inter Bold" pitchFamily="34" charset="-120"/>
              </a:rPr>
              <a:t>1</a:t>
            </a:r>
            <a:endParaRPr lang="en-US" sz="2100" dirty="0"/>
          </a:p>
        </p:txBody>
      </p:sp>
      <p:sp>
        <p:nvSpPr>
          <p:cNvPr id="7" name="Text 5"/>
          <p:cNvSpPr/>
          <p:nvPr/>
        </p:nvSpPr>
        <p:spPr>
          <a:xfrm>
            <a:off x="3834527" y="1540907"/>
            <a:ext cx="2587585" cy="278963"/>
          </a:xfrm>
          <a:prstGeom prst="rect">
            <a:avLst/>
          </a:prstGeom>
          <a:noFill/>
          <a:ln/>
        </p:spPr>
        <p:txBody>
          <a:bodyPr wrap="none" lIns="0" tIns="0" rIns="0" bIns="0" rtlCol="0" anchor="t"/>
          <a:lstStyle/>
          <a:p>
            <a:pPr algn="r"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1: Wykrycie (0-2h)</a:t>
            </a:r>
            <a:endParaRPr lang="en-US" sz="1750" dirty="0"/>
          </a:p>
        </p:txBody>
      </p:sp>
      <p:sp>
        <p:nvSpPr>
          <p:cNvPr id="8" name="Text 6"/>
          <p:cNvSpPr/>
          <p:nvPr/>
        </p:nvSpPr>
        <p:spPr>
          <a:xfrm>
            <a:off x="793790" y="1916311"/>
            <a:ext cx="5628323" cy="814388"/>
          </a:xfrm>
          <a:prstGeom prst="rect">
            <a:avLst/>
          </a:prstGeom>
          <a:noFill/>
          <a:ln/>
        </p:spPr>
        <p:txBody>
          <a:bodyPr wrap="square" lIns="0" tIns="0" rIns="0" bIns="0" rtlCol="0" anchor="t"/>
          <a:lstStyle/>
          <a:p>
            <a:pPr algn="r" indent="0" marL="0">
              <a:lnSpc>
                <a:spcPts val="2100"/>
              </a:lnSpc>
              <a:buNone/>
            </a:pPr>
            <a:r>
              <a:rPr lang="en-US" sz="1400" dirty="0">
                <a:solidFill>
                  <a:srgbClr val="E5E0DF"/>
                </a:solidFill>
                <a:latin typeface="Inter" pitchFamily="34" charset="0"/>
                <a:ea typeface="Inter" pitchFamily="34" charset="-122"/>
                <a:cs typeface="Inter" pitchFamily="34" charset="-120"/>
              </a:rPr>
              <a:t>Użytkownik/system wykrywa anomalię. Zgłoszenie do odpowiedzialnej osoby (AI Compliance Officer). Wstępna ocena: czy to incydent czy normalna zmienność?</a:t>
            </a:r>
            <a:endParaRPr lang="en-US" sz="1400" dirty="0"/>
          </a:p>
        </p:txBody>
      </p:sp>
      <p:sp>
        <p:nvSpPr>
          <p:cNvPr id="9" name="Shape 7"/>
          <p:cNvSpPr/>
          <p:nvPr/>
        </p:nvSpPr>
        <p:spPr>
          <a:xfrm>
            <a:off x="7493258" y="2704981"/>
            <a:ext cx="535781" cy="22860"/>
          </a:xfrm>
          <a:prstGeom prst="roundRect">
            <a:avLst>
              <a:gd name="adj" fmla="val 328186"/>
            </a:avLst>
          </a:prstGeom>
          <a:solidFill>
            <a:srgbClr val="2A1999"/>
          </a:solidFill>
          <a:ln/>
        </p:spPr>
      </p:sp>
      <p:sp>
        <p:nvSpPr>
          <p:cNvPr id="10" name="Shape 8"/>
          <p:cNvSpPr/>
          <p:nvPr/>
        </p:nvSpPr>
        <p:spPr>
          <a:xfrm>
            <a:off x="7114282" y="2515553"/>
            <a:ext cx="401836" cy="401836"/>
          </a:xfrm>
          <a:prstGeom prst="roundRect">
            <a:avLst>
              <a:gd name="adj" fmla="val 18670"/>
            </a:avLst>
          </a:prstGeom>
          <a:solidFill>
            <a:srgbClr val="110080"/>
          </a:solidFill>
          <a:ln w="7620">
            <a:solidFill>
              <a:srgbClr val="2A1999"/>
            </a:solidFill>
            <a:prstDash val="solid"/>
          </a:ln>
        </p:spPr>
      </p:sp>
      <p:sp>
        <p:nvSpPr>
          <p:cNvPr id="11" name="Text 9"/>
          <p:cNvSpPr/>
          <p:nvPr/>
        </p:nvSpPr>
        <p:spPr>
          <a:xfrm>
            <a:off x="7181195" y="2548950"/>
            <a:ext cx="267891" cy="334923"/>
          </a:xfrm>
          <a:prstGeom prst="rect">
            <a:avLst/>
          </a:prstGeom>
          <a:noFill/>
          <a:ln/>
        </p:spPr>
        <p:txBody>
          <a:bodyPr wrap="none" lIns="0" tIns="0" rIns="0" bIns="0" rtlCol="0" anchor="t"/>
          <a:lstStyle/>
          <a:p>
            <a:pPr algn="ctr" indent="0" marL="0">
              <a:lnSpc>
                <a:spcPts val="2100"/>
              </a:lnSpc>
              <a:buNone/>
            </a:pPr>
            <a:r>
              <a:rPr lang="en-US" sz="2100" b="1" dirty="0">
                <a:solidFill>
                  <a:srgbClr val="E5E0DF"/>
                </a:solidFill>
                <a:latin typeface="Inter Bold" pitchFamily="34" charset="0"/>
                <a:ea typeface="Inter Bold" pitchFamily="34" charset="-122"/>
                <a:cs typeface="Inter Bold" pitchFamily="34" charset="-120"/>
              </a:rPr>
              <a:t>2</a:t>
            </a:r>
            <a:endParaRPr lang="en-US" sz="2100" dirty="0"/>
          </a:p>
        </p:txBody>
      </p:sp>
      <p:sp>
        <p:nvSpPr>
          <p:cNvPr id="12" name="Text 10"/>
          <p:cNvSpPr/>
          <p:nvPr/>
        </p:nvSpPr>
        <p:spPr>
          <a:xfrm>
            <a:off x="8208288" y="2576870"/>
            <a:ext cx="2930604"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2: Klasyfikacja (2-6h)</a:t>
            </a:r>
            <a:endParaRPr lang="en-US" sz="1750" dirty="0"/>
          </a:p>
        </p:txBody>
      </p:sp>
      <p:sp>
        <p:nvSpPr>
          <p:cNvPr id="13" name="Text 11"/>
          <p:cNvSpPr/>
          <p:nvPr/>
        </p:nvSpPr>
        <p:spPr>
          <a:xfrm>
            <a:off x="8208288" y="2952274"/>
            <a:ext cx="5628323" cy="814388"/>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Zespół ocenia poważność: krytyczny / wysoki / średni / niski. Czy dotyczy danych osobowych? Czy wymaga zgłoszenia do UODO/providera? Czy wpływa na klientów?</a:t>
            </a:r>
            <a:endParaRPr lang="en-US" sz="1400" dirty="0"/>
          </a:p>
        </p:txBody>
      </p:sp>
      <p:sp>
        <p:nvSpPr>
          <p:cNvPr id="14" name="Shape 12"/>
          <p:cNvSpPr/>
          <p:nvPr/>
        </p:nvSpPr>
        <p:spPr>
          <a:xfrm>
            <a:off x="6601361" y="3610808"/>
            <a:ext cx="535781" cy="22860"/>
          </a:xfrm>
          <a:prstGeom prst="roundRect">
            <a:avLst>
              <a:gd name="adj" fmla="val 328186"/>
            </a:avLst>
          </a:prstGeom>
          <a:solidFill>
            <a:srgbClr val="2A1999"/>
          </a:solidFill>
          <a:ln/>
        </p:spPr>
      </p:sp>
      <p:sp>
        <p:nvSpPr>
          <p:cNvPr id="15" name="Shape 13"/>
          <p:cNvSpPr/>
          <p:nvPr/>
        </p:nvSpPr>
        <p:spPr>
          <a:xfrm>
            <a:off x="7114282" y="3421380"/>
            <a:ext cx="401836" cy="401836"/>
          </a:xfrm>
          <a:prstGeom prst="roundRect">
            <a:avLst>
              <a:gd name="adj" fmla="val 18670"/>
            </a:avLst>
          </a:prstGeom>
          <a:solidFill>
            <a:srgbClr val="110080"/>
          </a:solidFill>
          <a:ln w="7620">
            <a:solidFill>
              <a:srgbClr val="2A1999"/>
            </a:solidFill>
            <a:prstDash val="solid"/>
          </a:ln>
        </p:spPr>
      </p:sp>
      <p:sp>
        <p:nvSpPr>
          <p:cNvPr id="16" name="Text 14"/>
          <p:cNvSpPr/>
          <p:nvPr/>
        </p:nvSpPr>
        <p:spPr>
          <a:xfrm>
            <a:off x="7181195" y="3454777"/>
            <a:ext cx="267891" cy="334923"/>
          </a:xfrm>
          <a:prstGeom prst="rect">
            <a:avLst/>
          </a:prstGeom>
          <a:noFill/>
          <a:ln/>
        </p:spPr>
        <p:txBody>
          <a:bodyPr wrap="none" lIns="0" tIns="0" rIns="0" bIns="0" rtlCol="0" anchor="t"/>
          <a:lstStyle/>
          <a:p>
            <a:pPr algn="ctr" indent="0" marL="0">
              <a:lnSpc>
                <a:spcPts val="2100"/>
              </a:lnSpc>
              <a:buNone/>
            </a:pPr>
            <a:r>
              <a:rPr lang="en-US" sz="2100" b="1" dirty="0">
                <a:solidFill>
                  <a:srgbClr val="E5E0DF"/>
                </a:solidFill>
                <a:latin typeface="Inter Bold" pitchFamily="34" charset="0"/>
                <a:ea typeface="Inter Bold" pitchFamily="34" charset="-122"/>
                <a:cs typeface="Inter Bold" pitchFamily="34" charset="-120"/>
              </a:rPr>
              <a:t>3</a:t>
            </a:r>
            <a:endParaRPr lang="en-US" sz="2100" dirty="0"/>
          </a:p>
        </p:txBody>
      </p:sp>
      <p:sp>
        <p:nvSpPr>
          <p:cNvPr id="17" name="Text 15"/>
          <p:cNvSpPr/>
          <p:nvPr/>
        </p:nvSpPr>
        <p:spPr>
          <a:xfrm>
            <a:off x="3479363" y="3482697"/>
            <a:ext cx="2942749" cy="278963"/>
          </a:xfrm>
          <a:prstGeom prst="rect">
            <a:avLst/>
          </a:prstGeom>
          <a:noFill/>
          <a:ln/>
        </p:spPr>
        <p:txBody>
          <a:bodyPr wrap="none" lIns="0" tIns="0" rIns="0" bIns="0" rtlCol="0" anchor="t"/>
          <a:lstStyle/>
          <a:p>
            <a:pPr algn="r"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3: Zawieranie (6-24h)</a:t>
            </a:r>
            <a:endParaRPr lang="en-US" sz="1750" dirty="0"/>
          </a:p>
        </p:txBody>
      </p:sp>
      <p:sp>
        <p:nvSpPr>
          <p:cNvPr id="18" name="Text 16"/>
          <p:cNvSpPr/>
          <p:nvPr/>
        </p:nvSpPr>
        <p:spPr>
          <a:xfrm>
            <a:off x="793790" y="3858101"/>
            <a:ext cx="5628323" cy="814388"/>
          </a:xfrm>
          <a:prstGeom prst="rect">
            <a:avLst/>
          </a:prstGeom>
          <a:noFill/>
          <a:ln/>
        </p:spPr>
        <p:txBody>
          <a:bodyPr wrap="square" lIns="0" tIns="0" rIns="0" bIns="0" rtlCol="0" anchor="t"/>
          <a:lstStyle/>
          <a:p>
            <a:pPr algn="r" indent="0" marL="0">
              <a:lnSpc>
                <a:spcPts val="2100"/>
              </a:lnSpc>
              <a:buNone/>
            </a:pPr>
            <a:r>
              <a:rPr lang="en-US" sz="1400" dirty="0">
                <a:solidFill>
                  <a:srgbClr val="E5E0DF"/>
                </a:solidFill>
                <a:latin typeface="Inter" pitchFamily="34" charset="0"/>
                <a:ea typeface="Inter" pitchFamily="34" charset="-122"/>
                <a:cs typeface="Inter" pitchFamily="34" charset="-120"/>
              </a:rPr>
              <a:t>Dla krytycznych: natychmiastowe wyłączenie systemu. Dla wysokich: ograniczenie funkcjonalności, zwiększenie human oversight. Kontakt z vendorem. Dokumentacja incydentu.</a:t>
            </a:r>
            <a:endParaRPr lang="en-US" sz="1400" dirty="0"/>
          </a:p>
        </p:txBody>
      </p:sp>
      <p:sp>
        <p:nvSpPr>
          <p:cNvPr id="19" name="Shape 17"/>
          <p:cNvSpPr/>
          <p:nvPr/>
        </p:nvSpPr>
        <p:spPr>
          <a:xfrm>
            <a:off x="7493258" y="4516755"/>
            <a:ext cx="535781" cy="22860"/>
          </a:xfrm>
          <a:prstGeom prst="roundRect">
            <a:avLst>
              <a:gd name="adj" fmla="val 328186"/>
            </a:avLst>
          </a:prstGeom>
          <a:solidFill>
            <a:srgbClr val="2A1999"/>
          </a:solidFill>
          <a:ln/>
        </p:spPr>
      </p:sp>
      <p:sp>
        <p:nvSpPr>
          <p:cNvPr id="20" name="Shape 18"/>
          <p:cNvSpPr/>
          <p:nvPr/>
        </p:nvSpPr>
        <p:spPr>
          <a:xfrm>
            <a:off x="7114282" y="4327327"/>
            <a:ext cx="401836" cy="401836"/>
          </a:xfrm>
          <a:prstGeom prst="roundRect">
            <a:avLst>
              <a:gd name="adj" fmla="val 18670"/>
            </a:avLst>
          </a:prstGeom>
          <a:solidFill>
            <a:srgbClr val="110080"/>
          </a:solidFill>
          <a:ln w="7620">
            <a:solidFill>
              <a:srgbClr val="2A1999"/>
            </a:solidFill>
            <a:prstDash val="solid"/>
          </a:ln>
        </p:spPr>
      </p:sp>
      <p:sp>
        <p:nvSpPr>
          <p:cNvPr id="21" name="Text 19"/>
          <p:cNvSpPr/>
          <p:nvPr/>
        </p:nvSpPr>
        <p:spPr>
          <a:xfrm>
            <a:off x="7181195" y="4360724"/>
            <a:ext cx="267891" cy="334923"/>
          </a:xfrm>
          <a:prstGeom prst="rect">
            <a:avLst/>
          </a:prstGeom>
          <a:noFill/>
          <a:ln/>
        </p:spPr>
        <p:txBody>
          <a:bodyPr wrap="none" lIns="0" tIns="0" rIns="0" bIns="0" rtlCol="0" anchor="t"/>
          <a:lstStyle/>
          <a:p>
            <a:pPr algn="ctr" indent="0" marL="0">
              <a:lnSpc>
                <a:spcPts val="2100"/>
              </a:lnSpc>
              <a:buNone/>
            </a:pPr>
            <a:r>
              <a:rPr lang="en-US" sz="2100" b="1" dirty="0">
                <a:solidFill>
                  <a:srgbClr val="E5E0DF"/>
                </a:solidFill>
                <a:latin typeface="Inter Bold" pitchFamily="34" charset="0"/>
                <a:ea typeface="Inter Bold" pitchFamily="34" charset="-122"/>
                <a:cs typeface="Inter Bold" pitchFamily="34" charset="-120"/>
              </a:rPr>
              <a:t>4</a:t>
            </a:r>
            <a:endParaRPr lang="en-US" sz="2100" dirty="0"/>
          </a:p>
        </p:txBody>
      </p:sp>
      <p:sp>
        <p:nvSpPr>
          <p:cNvPr id="22" name="Text 20"/>
          <p:cNvSpPr/>
          <p:nvPr/>
        </p:nvSpPr>
        <p:spPr>
          <a:xfrm>
            <a:off x="8208288" y="4388644"/>
            <a:ext cx="3273862"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4: Komunikacja (24-72h)</a:t>
            </a:r>
            <a:endParaRPr lang="en-US" sz="1750" dirty="0"/>
          </a:p>
        </p:txBody>
      </p:sp>
      <p:sp>
        <p:nvSpPr>
          <p:cNvPr id="23" name="Text 21"/>
          <p:cNvSpPr/>
          <p:nvPr/>
        </p:nvSpPr>
        <p:spPr>
          <a:xfrm>
            <a:off x="8208288" y="4764048"/>
            <a:ext cx="5628323" cy="814388"/>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Wewnętrzna: zarząd, użytkownicy systemu, zespoły dotknięte. Zewnętrzna: vendor, UODO (jeśli wymóg), klienci (jeśli dotknięci). Komunikat publiczny (jeśli konieczny).</a:t>
            </a:r>
            <a:endParaRPr lang="en-US" sz="1400" dirty="0"/>
          </a:p>
        </p:txBody>
      </p:sp>
      <p:sp>
        <p:nvSpPr>
          <p:cNvPr id="24" name="Shape 22"/>
          <p:cNvSpPr/>
          <p:nvPr/>
        </p:nvSpPr>
        <p:spPr>
          <a:xfrm>
            <a:off x="6601361" y="5422702"/>
            <a:ext cx="535781" cy="22860"/>
          </a:xfrm>
          <a:prstGeom prst="roundRect">
            <a:avLst>
              <a:gd name="adj" fmla="val 328186"/>
            </a:avLst>
          </a:prstGeom>
          <a:solidFill>
            <a:srgbClr val="2A1999"/>
          </a:solidFill>
          <a:ln/>
        </p:spPr>
      </p:sp>
      <p:sp>
        <p:nvSpPr>
          <p:cNvPr id="25" name="Shape 23"/>
          <p:cNvSpPr/>
          <p:nvPr/>
        </p:nvSpPr>
        <p:spPr>
          <a:xfrm>
            <a:off x="7114282" y="5233273"/>
            <a:ext cx="401836" cy="401836"/>
          </a:xfrm>
          <a:prstGeom prst="roundRect">
            <a:avLst>
              <a:gd name="adj" fmla="val 18670"/>
            </a:avLst>
          </a:prstGeom>
          <a:solidFill>
            <a:srgbClr val="110080"/>
          </a:solidFill>
          <a:ln w="7620">
            <a:solidFill>
              <a:srgbClr val="2A1999"/>
            </a:solidFill>
            <a:prstDash val="solid"/>
          </a:ln>
        </p:spPr>
      </p:sp>
      <p:sp>
        <p:nvSpPr>
          <p:cNvPr id="26" name="Text 24"/>
          <p:cNvSpPr/>
          <p:nvPr/>
        </p:nvSpPr>
        <p:spPr>
          <a:xfrm>
            <a:off x="7181195" y="5266670"/>
            <a:ext cx="267891" cy="334923"/>
          </a:xfrm>
          <a:prstGeom prst="rect">
            <a:avLst/>
          </a:prstGeom>
          <a:noFill/>
          <a:ln/>
        </p:spPr>
        <p:txBody>
          <a:bodyPr wrap="none" lIns="0" tIns="0" rIns="0" bIns="0" rtlCol="0" anchor="t"/>
          <a:lstStyle/>
          <a:p>
            <a:pPr algn="ctr" indent="0" marL="0">
              <a:lnSpc>
                <a:spcPts val="2100"/>
              </a:lnSpc>
              <a:buNone/>
            </a:pPr>
            <a:r>
              <a:rPr lang="en-US" sz="2100" b="1" dirty="0">
                <a:solidFill>
                  <a:srgbClr val="E5E0DF"/>
                </a:solidFill>
                <a:latin typeface="Inter Bold" pitchFamily="34" charset="0"/>
                <a:ea typeface="Inter Bold" pitchFamily="34" charset="-122"/>
                <a:cs typeface="Inter Bold" pitchFamily="34" charset="-120"/>
              </a:rPr>
              <a:t>5</a:t>
            </a:r>
            <a:endParaRPr lang="en-US" sz="2100" dirty="0"/>
          </a:p>
        </p:txBody>
      </p:sp>
      <p:sp>
        <p:nvSpPr>
          <p:cNvPr id="27" name="Text 25"/>
          <p:cNvSpPr/>
          <p:nvPr/>
        </p:nvSpPr>
        <p:spPr>
          <a:xfrm>
            <a:off x="3329940" y="5294590"/>
            <a:ext cx="3092172" cy="278963"/>
          </a:xfrm>
          <a:prstGeom prst="rect">
            <a:avLst/>
          </a:prstGeom>
          <a:noFill/>
          <a:ln/>
        </p:spPr>
        <p:txBody>
          <a:bodyPr wrap="none" lIns="0" tIns="0" rIns="0" bIns="0" rtlCol="0" anchor="t"/>
          <a:lstStyle/>
          <a:p>
            <a:pPr algn="r"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5: Naprawa (72h-2 tyg)</a:t>
            </a:r>
            <a:endParaRPr lang="en-US" sz="1750" dirty="0"/>
          </a:p>
        </p:txBody>
      </p:sp>
      <p:sp>
        <p:nvSpPr>
          <p:cNvPr id="28" name="Text 26"/>
          <p:cNvSpPr/>
          <p:nvPr/>
        </p:nvSpPr>
        <p:spPr>
          <a:xfrm>
            <a:off x="793790" y="5669994"/>
            <a:ext cx="5628323" cy="814388"/>
          </a:xfrm>
          <a:prstGeom prst="rect">
            <a:avLst/>
          </a:prstGeom>
          <a:noFill/>
          <a:ln/>
        </p:spPr>
        <p:txBody>
          <a:bodyPr wrap="square" lIns="0" tIns="0" rIns="0" bIns="0" rtlCol="0" anchor="t"/>
          <a:lstStyle/>
          <a:p>
            <a:pPr algn="r" indent="0" marL="0">
              <a:lnSpc>
                <a:spcPts val="2100"/>
              </a:lnSpc>
              <a:buNone/>
            </a:pPr>
            <a:r>
              <a:rPr lang="en-US" sz="1400" dirty="0">
                <a:solidFill>
                  <a:srgbClr val="E5E0DF"/>
                </a:solidFill>
                <a:latin typeface="Inter" pitchFamily="34" charset="0"/>
                <a:ea typeface="Inter" pitchFamily="34" charset="-122"/>
                <a:cs typeface="Inter" pitchFamily="34" charset="-120"/>
              </a:rPr>
              <a:t>Root cause analysis: co poszło nie tak? Vendor dostarcza fix lub wyjaśnienie. Walidacja poprawki. Decyzja o przywróceniu systemu. Aktualizacja procedur.</a:t>
            </a:r>
            <a:endParaRPr lang="en-US" sz="1400" dirty="0"/>
          </a:p>
        </p:txBody>
      </p:sp>
      <p:sp>
        <p:nvSpPr>
          <p:cNvPr id="29" name="Shape 27"/>
          <p:cNvSpPr/>
          <p:nvPr/>
        </p:nvSpPr>
        <p:spPr>
          <a:xfrm>
            <a:off x="7493258" y="6328648"/>
            <a:ext cx="535781" cy="22860"/>
          </a:xfrm>
          <a:prstGeom prst="roundRect">
            <a:avLst>
              <a:gd name="adj" fmla="val 328186"/>
            </a:avLst>
          </a:prstGeom>
          <a:solidFill>
            <a:srgbClr val="2A1999"/>
          </a:solidFill>
          <a:ln/>
        </p:spPr>
      </p:sp>
      <p:sp>
        <p:nvSpPr>
          <p:cNvPr id="30" name="Shape 28"/>
          <p:cNvSpPr/>
          <p:nvPr/>
        </p:nvSpPr>
        <p:spPr>
          <a:xfrm>
            <a:off x="7114282" y="6139220"/>
            <a:ext cx="401836" cy="401836"/>
          </a:xfrm>
          <a:prstGeom prst="roundRect">
            <a:avLst>
              <a:gd name="adj" fmla="val 18670"/>
            </a:avLst>
          </a:prstGeom>
          <a:solidFill>
            <a:srgbClr val="110080"/>
          </a:solidFill>
          <a:ln w="7620">
            <a:solidFill>
              <a:srgbClr val="2A1999"/>
            </a:solidFill>
            <a:prstDash val="solid"/>
          </a:ln>
        </p:spPr>
      </p:sp>
      <p:sp>
        <p:nvSpPr>
          <p:cNvPr id="31" name="Text 29"/>
          <p:cNvSpPr/>
          <p:nvPr/>
        </p:nvSpPr>
        <p:spPr>
          <a:xfrm>
            <a:off x="7181195" y="6172617"/>
            <a:ext cx="267891" cy="334923"/>
          </a:xfrm>
          <a:prstGeom prst="rect">
            <a:avLst/>
          </a:prstGeom>
          <a:noFill/>
          <a:ln/>
        </p:spPr>
        <p:txBody>
          <a:bodyPr wrap="none" lIns="0" tIns="0" rIns="0" bIns="0" rtlCol="0" anchor="t"/>
          <a:lstStyle/>
          <a:p>
            <a:pPr algn="ctr" indent="0" marL="0">
              <a:lnSpc>
                <a:spcPts val="2100"/>
              </a:lnSpc>
              <a:buNone/>
            </a:pPr>
            <a:r>
              <a:rPr lang="en-US" sz="2100" b="1" dirty="0">
                <a:solidFill>
                  <a:srgbClr val="E5E0DF"/>
                </a:solidFill>
                <a:latin typeface="Inter Bold" pitchFamily="34" charset="0"/>
                <a:ea typeface="Inter Bold" pitchFamily="34" charset="-122"/>
                <a:cs typeface="Inter Bold" pitchFamily="34" charset="-120"/>
              </a:rPr>
              <a:t>6</a:t>
            </a:r>
            <a:endParaRPr lang="en-US" sz="2100" dirty="0"/>
          </a:p>
        </p:txBody>
      </p:sp>
      <p:sp>
        <p:nvSpPr>
          <p:cNvPr id="32" name="Text 30"/>
          <p:cNvSpPr/>
          <p:nvPr/>
        </p:nvSpPr>
        <p:spPr>
          <a:xfrm>
            <a:off x="8208288" y="6200537"/>
            <a:ext cx="3307318"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Faza 6: Post-mortem (2-4 tyg)</a:t>
            </a:r>
            <a:endParaRPr lang="en-US" sz="1750" dirty="0"/>
          </a:p>
        </p:txBody>
      </p:sp>
      <p:sp>
        <p:nvSpPr>
          <p:cNvPr id="33" name="Text 31"/>
          <p:cNvSpPr/>
          <p:nvPr/>
        </p:nvSpPr>
        <p:spPr>
          <a:xfrm>
            <a:off x="8208288" y="6575941"/>
            <a:ext cx="5628323" cy="814388"/>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Raport z incydentu: co się stało, dlaczego, co zrobiliśmy, co się nauczyliśmy. Aktualizacja dokumentacji. Szkolenia użytkowników. Lessons learned dla następnego razu.</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793790" y="1047512"/>
            <a:ext cx="9749552" cy="620078"/>
          </a:xfrm>
          <a:prstGeom prst="rect">
            <a:avLst/>
          </a:prstGeom>
          <a:noFill/>
          <a:ln/>
        </p:spPr>
        <p:txBody>
          <a:bodyPr wrap="none" lIns="0" tIns="0" rIns="0" bIns="0" rtlCol="0" anchor="t"/>
          <a:lstStyle/>
          <a:p>
            <a:pPr algn="l" indent="0" marL="0">
              <a:lnSpc>
                <a:spcPts val="4850"/>
              </a:lnSpc>
              <a:buNone/>
            </a:pPr>
            <a:r>
              <a:rPr lang="en-US" sz="3900" b="1" dirty="0">
                <a:solidFill>
                  <a:srgbClr val="FFFFFF"/>
                </a:solidFill>
                <a:latin typeface="Inter Bold" pitchFamily="34" charset="0"/>
                <a:ea typeface="Inter Bold" pitchFamily="34" charset="-122"/>
                <a:cs typeface="Inter Bold" pitchFamily="34" charset="-120"/>
              </a:rPr>
              <a:t>Budowanie kultury odpowiedzialnego AI</a:t>
            </a:r>
            <a:endParaRPr lang="en-US" sz="3900" dirty="0"/>
          </a:p>
        </p:txBody>
      </p:sp>
      <p:sp>
        <p:nvSpPr>
          <p:cNvPr id="3" name="Text 1"/>
          <p:cNvSpPr/>
          <p:nvPr/>
        </p:nvSpPr>
        <p:spPr>
          <a:xfrm>
            <a:off x="793790" y="206442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Due diligence, compliance, procedury - to wszystko jest ważne. Ale nie wystarczy mieć dobre dokumenty. Musicie mieć </a:t>
            </a:r>
            <a:pPr algn="l" indent="0" marL="0">
              <a:lnSpc>
                <a:spcPts val="2500"/>
              </a:lnSpc>
              <a:buNone/>
            </a:pPr>
            <a:r>
              <a:rPr lang="en-US" sz="1550" b="1" dirty="0">
                <a:solidFill>
                  <a:srgbClr val="E5E0DF"/>
                </a:solidFill>
                <a:latin typeface="Inter" pitchFamily="34" charset="0"/>
                <a:ea typeface="Inter" pitchFamily="34" charset="-122"/>
                <a:cs typeface="Inter" pitchFamily="34" charset="-120"/>
              </a:rPr>
              <a:t>kulturę organizacyjną</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która traktuje AI poważnie.</a:t>
            </a:r>
            <a:endParaRPr lang="en-US" sz="1550" dirty="0"/>
          </a:p>
        </p:txBody>
      </p:sp>
      <p:sp>
        <p:nvSpPr>
          <p:cNvPr id="4" name="Text 2"/>
          <p:cNvSpPr/>
          <p:nvPr/>
        </p:nvSpPr>
        <p:spPr>
          <a:xfrm>
            <a:off x="793790" y="2922746"/>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Co to znaczy w praktyce:</a:t>
            </a:r>
            <a:endParaRPr lang="en-US" sz="15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463528"/>
            <a:ext cx="595313" cy="595313"/>
          </a:xfrm>
          <a:prstGeom prst="rect">
            <a:avLst/>
          </a:prstGeom>
        </p:spPr>
      </p:pic>
      <p:sp>
        <p:nvSpPr>
          <p:cNvPr id="6" name="Text 3"/>
          <p:cNvSpPr/>
          <p:nvPr/>
        </p:nvSpPr>
        <p:spPr>
          <a:xfrm>
            <a:off x="793790" y="4306848"/>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Szkolenia</a:t>
            </a:r>
            <a:endParaRPr lang="en-US" sz="1950" dirty="0"/>
          </a:p>
        </p:txBody>
      </p:sp>
      <p:sp>
        <p:nvSpPr>
          <p:cNvPr id="7" name="Text 4"/>
          <p:cNvSpPr/>
          <p:nvPr/>
        </p:nvSpPr>
        <p:spPr>
          <a:xfrm>
            <a:off x="793790" y="4736068"/>
            <a:ext cx="4182189" cy="158769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Wszyscy użytkownicy AI - od zarządu po operatorów - muszą rozumieć podstawy: czym jest AI, jak działa, jakie ma ograniczenia, jak go używać bezpiecznie, kiedy nie ufać wynikom.</a:t>
            </a:r>
            <a:endParaRPr lang="en-US" sz="15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3986" y="3463528"/>
            <a:ext cx="595313" cy="595313"/>
          </a:xfrm>
          <a:prstGeom prst="rect">
            <a:avLst/>
          </a:prstGeom>
        </p:spPr>
      </p:pic>
      <p:sp>
        <p:nvSpPr>
          <p:cNvPr id="9" name="Text 5"/>
          <p:cNvSpPr/>
          <p:nvPr/>
        </p:nvSpPr>
        <p:spPr>
          <a:xfrm>
            <a:off x="5223986" y="4306848"/>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Kultura zgłaszania</a:t>
            </a:r>
            <a:endParaRPr lang="en-US" sz="1950" dirty="0"/>
          </a:p>
        </p:txBody>
      </p:sp>
      <p:sp>
        <p:nvSpPr>
          <p:cNvPr id="10" name="Text 6"/>
          <p:cNvSpPr/>
          <p:nvPr/>
        </p:nvSpPr>
        <p:spPr>
          <a:xfrm>
            <a:off x="5223986" y="4736068"/>
            <a:ext cx="4182308" cy="158769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Pracownicy muszą czuć się bezpiecznie zgłaszając problemy z AI: „ten wynik wygląda dziwnie", „system zachowuje się inaczej niż wczoraj", „to może być bias". Bez strachu przed konsekwencjami.</a:t>
            </a:r>
            <a:endParaRPr lang="en-US" sz="15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4302" y="3463528"/>
            <a:ext cx="595313" cy="595313"/>
          </a:xfrm>
          <a:prstGeom prst="rect">
            <a:avLst/>
          </a:prstGeom>
        </p:spPr>
      </p:pic>
      <p:sp>
        <p:nvSpPr>
          <p:cNvPr id="12" name="Text 7"/>
          <p:cNvSpPr/>
          <p:nvPr/>
        </p:nvSpPr>
        <p:spPr>
          <a:xfrm>
            <a:off x="9654302" y="4306848"/>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E5E0DF"/>
                </a:solidFill>
                <a:latin typeface="Inter Bold" pitchFamily="34" charset="0"/>
                <a:ea typeface="Inter Bold" pitchFamily="34" charset="-122"/>
                <a:cs typeface="Inter Bold" pitchFamily="34" charset="-120"/>
              </a:rPr>
              <a:t>Accountability</a:t>
            </a:r>
            <a:endParaRPr lang="en-US" sz="1950" dirty="0"/>
          </a:p>
        </p:txBody>
      </p:sp>
      <p:sp>
        <p:nvSpPr>
          <p:cNvPr id="13" name="Text 8"/>
          <p:cNvSpPr/>
          <p:nvPr/>
        </p:nvSpPr>
        <p:spPr>
          <a:xfrm>
            <a:off x="9654302" y="4736068"/>
            <a:ext cx="4182308" cy="1587698"/>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Jasne role i odpowiedzialności: kto odpowiada za compliance AI, kto za monitoring, kto za incydenty. Nazwiska i kontakty znane wszystkim. Eskalacja bez biurokracji.</a:t>
            </a:r>
            <a:endParaRPr lang="en-US" sz="1550" dirty="0"/>
          </a:p>
        </p:txBody>
      </p:sp>
      <p:sp>
        <p:nvSpPr>
          <p:cNvPr id="14" name="Text 9"/>
          <p:cNvSpPr/>
          <p:nvPr/>
        </p:nvSpPr>
        <p:spPr>
          <a:xfrm>
            <a:off x="793790" y="654700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E5E0DF"/>
                </a:solidFill>
                <a:latin typeface="Inter" pitchFamily="34" charset="0"/>
                <a:ea typeface="Inter" pitchFamily="34" charset="-122"/>
                <a:cs typeface="Inter" pitchFamily="34" charset="-120"/>
              </a:rPr>
              <a:t>Najlepsze procedury świata nie pomogą, jeśli ludzie ich nie przestrzegają. A ludzie przestrzegają procedur, gdy rozumieją </a:t>
            </a:r>
            <a:pPr algn="l" indent="0" marL="0">
              <a:lnSpc>
                <a:spcPts val="2500"/>
              </a:lnSpc>
              <a:buNone/>
            </a:pPr>
            <a:r>
              <a:rPr lang="en-US" sz="1550" i="1" dirty="0">
                <a:solidFill>
                  <a:srgbClr val="E5E0DF"/>
                </a:solidFill>
                <a:latin typeface="Inter" pitchFamily="34" charset="0"/>
                <a:ea typeface="Inter" pitchFamily="34" charset="-122"/>
                <a:cs typeface="Inter" pitchFamily="34" charset="-120"/>
              </a:rPr>
              <a:t>po co</a:t>
            </a:r>
            <a:pPr algn="l" indent="0" marL="0">
              <a:lnSpc>
                <a:spcPts val="2500"/>
              </a:lnSpc>
              <a:buNone/>
            </a:pPr>
            <a:r>
              <a:rPr lang="en-US" sz="1550" dirty="0">
                <a:solidFill>
                  <a:srgbClr val="E5E0DF"/>
                </a:solidFill>
                <a:latin typeface="Inter" pitchFamily="34" charset="0"/>
                <a:ea typeface="Inter" pitchFamily="34" charset="-122"/>
                <a:cs typeface="Inter" pitchFamily="34" charset="-120"/>
              </a:rPr>
              <a:t> są, gdy widzą wsparcie zarządu, gdy wiedzą, że zgłaszanie problemów nie będzie karane.</a:t>
            </a:r>
            <a:endParaRPr lang="en-US" sz="15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788670" y="549116"/>
            <a:ext cx="7848838" cy="523875"/>
          </a:xfrm>
          <a:prstGeom prst="rect">
            <a:avLst/>
          </a:prstGeom>
          <a:noFill/>
          <a:ln/>
        </p:spPr>
        <p:txBody>
          <a:bodyPr wrap="none" lIns="0" tIns="0" rIns="0" bIns="0" rtlCol="0" anchor="t"/>
          <a:lstStyle/>
          <a:p>
            <a:pPr algn="l" indent="0" marL="0">
              <a:lnSpc>
                <a:spcPts val="4100"/>
              </a:lnSpc>
              <a:buNone/>
            </a:pPr>
            <a:r>
              <a:rPr lang="en-US" sz="3250" b="1" dirty="0">
                <a:solidFill>
                  <a:srgbClr val="FFFFFF"/>
                </a:solidFill>
                <a:latin typeface="Inter Bold" pitchFamily="34" charset="0"/>
                <a:ea typeface="Inter Bold" pitchFamily="34" charset="-122"/>
                <a:cs typeface="Inter Bold" pitchFamily="34" charset="-120"/>
              </a:rPr>
              <a:t>Podsumowanie kluczowych wniosków</a:t>
            </a:r>
            <a:endParaRPr lang="en-US" sz="3250" dirty="0"/>
          </a:p>
        </p:txBody>
      </p:sp>
      <p:sp>
        <p:nvSpPr>
          <p:cNvPr id="3" name="Shape 1"/>
          <p:cNvSpPr/>
          <p:nvPr/>
        </p:nvSpPr>
        <p:spPr>
          <a:xfrm>
            <a:off x="788670" y="1356003"/>
            <a:ext cx="3157180" cy="3215164"/>
          </a:xfrm>
          <a:prstGeom prst="roundRect">
            <a:avLst>
              <a:gd name="adj" fmla="val 3476"/>
            </a:avLst>
          </a:prstGeom>
          <a:solidFill>
            <a:srgbClr val="272525"/>
          </a:solidFill>
          <a:ln w="22860">
            <a:solidFill>
              <a:srgbClr val="2A1999"/>
            </a:solidFill>
            <a:prstDash val="solid"/>
          </a:ln>
        </p:spPr>
      </p:sp>
      <p:sp>
        <p:nvSpPr>
          <p:cNvPr id="4" name="Shape 2"/>
          <p:cNvSpPr/>
          <p:nvPr/>
        </p:nvSpPr>
        <p:spPr>
          <a:xfrm>
            <a:off x="765810" y="1356003"/>
            <a:ext cx="91440" cy="3215164"/>
          </a:xfrm>
          <a:prstGeom prst="roundRect">
            <a:avLst>
              <a:gd name="adj" fmla="val 76989"/>
            </a:avLst>
          </a:prstGeom>
          <a:solidFill>
            <a:srgbClr val="2B0AFF"/>
          </a:solidFill>
          <a:ln/>
        </p:spPr>
      </p:sp>
      <p:sp>
        <p:nvSpPr>
          <p:cNvPr id="5" name="Text 3"/>
          <p:cNvSpPr/>
          <p:nvPr/>
        </p:nvSpPr>
        <p:spPr>
          <a:xfrm>
            <a:off x="1047631" y="1546384"/>
            <a:ext cx="2707838" cy="523875"/>
          </a:xfrm>
          <a:prstGeom prst="rect">
            <a:avLst/>
          </a:prstGeom>
          <a:noFill/>
          <a:ln/>
        </p:spPr>
        <p:txBody>
          <a:bodyPr wrap="square" lIns="0" tIns="0" rIns="0" bIns="0" rtlCol="0" anchor="t"/>
          <a:lstStyle/>
          <a:p>
            <a:pPr algn="l" indent="0" marL="0">
              <a:lnSpc>
                <a:spcPts val="2050"/>
              </a:lnSpc>
              <a:buNone/>
            </a:pPr>
            <a:r>
              <a:rPr lang="en-US" sz="1600" b="1" dirty="0">
                <a:solidFill>
                  <a:srgbClr val="E5E0DF"/>
                </a:solidFill>
                <a:latin typeface="Inter Bold" pitchFamily="34" charset="0"/>
                <a:ea typeface="Inter Bold" pitchFamily="34" charset="-122"/>
                <a:cs typeface="Inter Bold" pitchFamily="34" charset="-120"/>
              </a:rPr>
              <a:t>Due diligence AI to nie opcja</a:t>
            </a:r>
            <a:endParaRPr lang="en-US" sz="1600" dirty="0"/>
          </a:p>
        </p:txBody>
      </p:sp>
      <p:sp>
        <p:nvSpPr>
          <p:cNvPr id="6" name="Text 4"/>
          <p:cNvSpPr/>
          <p:nvPr/>
        </p:nvSpPr>
        <p:spPr>
          <a:xfrm>
            <a:off x="1047631" y="2155150"/>
            <a:ext cx="2707838" cy="2225635"/>
          </a:xfrm>
          <a:prstGeom prst="rect">
            <a:avLst/>
          </a:prstGeom>
          <a:noFill/>
          <a:ln/>
        </p:spPr>
        <p:txBody>
          <a:bodyPr wrap="square" lIns="0" tIns="0" rIns="0" bIns="0" rtlCol="0" anchor="t"/>
          <a:lstStyle/>
          <a:p>
            <a:pPr algn="l" indent="0" marL="0">
              <a:lnSpc>
                <a:spcPts val="1900"/>
              </a:lnSpc>
              <a:buNone/>
            </a:pPr>
            <a:r>
              <a:rPr lang="en-US" sz="1300" dirty="0">
                <a:solidFill>
                  <a:srgbClr val="E5E0DF"/>
                </a:solidFill>
                <a:latin typeface="Inter" pitchFamily="34" charset="0"/>
                <a:ea typeface="Inter" pitchFamily="34" charset="-122"/>
                <a:cs typeface="Inter" pitchFamily="34" charset="-120"/>
              </a:rPr>
              <a:t>Dla systemów high-risk AI Act wymaga od deployera szeregu obowiązków - klasyfikacji, monitorowania, human oversight, logowania. Due diligence jest sposobem na zidentyfikowanie tych obowiązków przed podpisaniem umowy, nie po fakcie.</a:t>
            </a:r>
            <a:endParaRPr lang="en-US" sz="1300" dirty="0"/>
          </a:p>
        </p:txBody>
      </p:sp>
      <p:sp>
        <p:nvSpPr>
          <p:cNvPr id="7" name="Shape 5"/>
          <p:cNvSpPr/>
          <p:nvPr/>
        </p:nvSpPr>
        <p:spPr>
          <a:xfrm>
            <a:off x="4087297" y="1356003"/>
            <a:ext cx="3157180" cy="3215164"/>
          </a:xfrm>
          <a:prstGeom prst="roundRect">
            <a:avLst>
              <a:gd name="adj" fmla="val 3476"/>
            </a:avLst>
          </a:prstGeom>
          <a:solidFill>
            <a:srgbClr val="272525"/>
          </a:solidFill>
          <a:ln w="22860">
            <a:solidFill>
              <a:srgbClr val="2A1999"/>
            </a:solidFill>
            <a:prstDash val="solid"/>
          </a:ln>
        </p:spPr>
      </p:sp>
      <p:sp>
        <p:nvSpPr>
          <p:cNvPr id="8" name="Shape 6"/>
          <p:cNvSpPr/>
          <p:nvPr/>
        </p:nvSpPr>
        <p:spPr>
          <a:xfrm>
            <a:off x="4064437" y="1356003"/>
            <a:ext cx="91440" cy="3215164"/>
          </a:xfrm>
          <a:prstGeom prst="roundRect">
            <a:avLst>
              <a:gd name="adj" fmla="val 76989"/>
            </a:avLst>
          </a:prstGeom>
          <a:solidFill>
            <a:srgbClr val="2B0AFF"/>
          </a:solidFill>
          <a:ln/>
        </p:spPr>
      </p:sp>
      <p:sp>
        <p:nvSpPr>
          <p:cNvPr id="9" name="Text 7"/>
          <p:cNvSpPr/>
          <p:nvPr/>
        </p:nvSpPr>
        <p:spPr>
          <a:xfrm>
            <a:off x="4346258" y="1546384"/>
            <a:ext cx="2275880" cy="261937"/>
          </a:xfrm>
          <a:prstGeom prst="rect">
            <a:avLst/>
          </a:prstGeom>
          <a:noFill/>
          <a:ln/>
        </p:spPr>
        <p:txBody>
          <a:bodyPr wrap="none" lIns="0" tIns="0" rIns="0" bIns="0" rtlCol="0" anchor="t"/>
          <a:lstStyle/>
          <a:p>
            <a:pPr algn="l" indent="0" marL="0">
              <a:lnSpc>
                <a:spcPts val="2050"/>
              </a:lnSpc>
              <a:buNone/>
            </a:pPr>
            <a:r>
              <a:rPr lang="en-US" sz="1600" b="1" dirty="0">
                <a:solidFill>
                  <a:srgbClr val="E5E0DF"/>
                </a:solidFill>
                <a:latin typeface="Inter Bold" pitchFamily="34" charset="0"/>
                <a:ea typeface="Inter Bold" pitchFamily="34" charset="-122"/>
                <a:cs typeface="Inter Bold" pitchFamily="34" charset="-120"/>
              </a:rPr>
              <a:t>Pięć obszarów analizy</a:t>
            </a:r>
            <a:endParaRPr lang="en-US" sz="1600" dirty="0"/>
          </a:p>
        </p:txBody>
      </p:sp>
      <p:sp>
        <p:nvSpPr>
          <p:cNvPr id="10" name="Text 8"/>
          <p:cNvSpPr/>
          <p:nvPr/>
        </p:nvSpPr>
        <p:spPr>
          <a:xfrm>
            <a:off x="4346258" y="1893213"/>
            <a:ext cx="2707838" cy="2225635"/>
          </a:xfrm>
          <a:prstGeom prst="rect">
            <a:avLst/>
          </a:prstGeom>
          <a:noFill/>
          <a:ln/>
        </p:spPr>
        <p:txBody>
          <a:bodyPr wrap="square" lIns="0" tIns="0" rIns="0" bIns="0" rtlCol="0" anchor="t"/>
          <a:lstStyle/>
          <a:p>
            <a:pPr algn="l" indent="0" marL="0">
              <a:lnSpc>
                <a:spcPts val="1900"/>
              </a:lnSpc>
              <a:buNone/>
            </a:pPr>
            <a:r>
              <a:rPr lang="en-US" sz="1300" dirty="0">
                <a:solidFill>
                  <a:srgbClr val="E5E0DF"/>
                </a:solidFill>
                <a:latin typeface="Inter" pitchFamily="34" charset="0"/>
                <a:ea typeface="Inter" pitchFamily="34" charset="-122"/>
                <a:cs typeface="Inter" pitchFamily="34" charset="-120"/>
              </a:rPr>
              <a:t>Dane (czy trafiają do treningu), Model (card, ograniczenia, stopy błędów), Klasyfikacja (high-risk w waszym kontekście), Exit (przenośność danych i modelu), Odpowiedzialność (kto płaci za błędy). Każdy obszar wymaga konkretnych pytań do vendora i konkretnych zapisów w umowie.</a:t>
            </a:r>
            <a:endParaRPr lang="en-US" sz="1300" dirty="0"/>
          </a:p>
        </p:txBody>
      </p:sp>
      <p:sp>
        <p:nvSpPr>
          <p:cNvPr id="11" name="Shape 9"/>
          <p:cNvSpPr/>
          <p:nvPr/>
        </p:nvSpPr>
        <p:spPr>
          <a:xfrm>
            <a:off x="7385923" y="1356003"/>
            <a:ext cx="3157180" cy="3215164"/>
          </a:xfrm>
          <a:prstGeom prst="roundRect">
            <a:avLst>
              <a:gd name="adj" fmla="val 3476"/>
            </a:avLst>
          </a:prstGeom>
          <a:solidFill>
            <a:srgbClr val="272525"/>
          </a:solidFill>
          <a:ln w="22860">
            <a:solidFill>
              <a:srgbClr val="2A1999"/>
            </a:solidFill>
            <a:prstDash val="solid"/>
          </a:ln>
        </p:spPr>
      </p:sp>
      <p:sp>
        <p:nvSpPr>
          <p:cNvPr id="12" name="Shape 10"/>
          <p:cNvSpPr/>
          <p:nvPr/>
        </p:nvSpPr>
        <p:spPr>
          <a:xfrm>
            <a:off x="7363063" y="1356003"/>
            <a:ext cx="91440" cy="3215164"/>
          </a:xfrm>
          <a:prstGeom prst="roundRect">
            <a:avLst>
              <a:gd name="adj" fmla="val 76989"/>
            </a:avLst>
          </a:prstGeom>
          <a:solidFill>
            <a:srgbClr val="2B0AFF"/>
          </a:solidFill>
          <a:ln/>
        </p:spPr>
      </p:sp>
      <p:sp>
        <p:nvSpPr>
          <p:cNvPr id="13" name="Text 11"/>
          <p:cNvSpPr/>
          <p:nvPr/>
        </p:nvSpPr>
        <p:spPr>
          <a:xfrm>
            <a:off x="7644884" y="1546384"/>
            <a:ext cx="2095143" cy="261937"/>
          </a:xfrm>
          <a:prstGeom prst="rect">
            <a:avLst/>
          </a:prstGeom>
          <a:noFill/>
          <a:ln/>
        </p:spPr>
        <p:txBody>
          <a:bodyPr wrap="none" lIns="0" tIns="0" rIns="0" bIns="0" rtlCol="0" anchor="t"/>
          <a:lstStyle/>
          <a:p>
            <a:pPr algn="l" indent="0" marL="0">
              <a:lnSpc>
                <a:spcPts val="2050"/>
              </a:lnSpc>
              <a:buNone/>
            </a:pPr>
            <a:r>
              <a:rPr lang="en-US" sz="1600" b="1" dirty="0">
                <a:solidFill>
                  <a:srgbClr val="E5E0DF"/>
                </a:solidFill>
                <a:latin typeface="Inter Bold" pitchFamily="34" charset="0"/>
                <a:ea typeface="Inter Bold" pitchFamily="34" charset="-122"/>
                <a:cs typeface="Inter Bold" pitchFamily="34" charset="-120"/>
              </a:rPr>
              <a:t>10 pytań do vendora</a:t>
            </a:r>
            <a:endParaRPr lang="en-US" sz="1600" dirty="0"/>
          </a:p>
        </p:txBody>
      </p:sp>
      <p:sp>
        <p:nvSpPr>
          <p:cNvPr id="14" name="Text 12"/>
          <p:cNvSpPr/>
          <p:nvPr/>
        </p:nvSpPr>
        <p:spPr>
          <a:xfrm>
            <a:off x="7644884" y="1893213"/>
            <a:ext cx="2707838" cy="2225635"/>
          </a:xfrm>
          <a:prstGeom prst="rect">
            <a:avLst/>
          </a:prstGeom>
          <a:noFill/>
          <a:ln/>
        </p:spPr>
        <p:txBody>
          <a:bodyPr wrap="square" lIns="0" tIns="0" rIns="0" bIns="0" rtlCol="0" anchor="t"/>
          <a:lstStyle/>
          <a:p>
            <a:pPr algn="l" indent="0" marL="0">
              <a:lnSpc>
                <a:spcPts val="1900"/>
              </a:lnSpc>
              <a:buNone/>
            </a:pPr>
            <a:r>
              <a:rPr lang="en-US" sz="1300" dirty="0">
                <a:solidFill>
                  <a:srgbClr val="E5E0DF"/>
                </a:solidFill>
                <a:latin typeface="Inter" pitchFamily="34" charset="0"/>
                <a:ea typeface="Inter" pitchFamily="34" charset="-122"/>
                <a:cs typeface="Inter" pitchFamily="34" charset="-120"/>
              </a:rPr>
              <a:t>Czy moje dane trafiają do treningu? Gdzie są przetwarzane? Pokaż model card. Jaka klasyfikacja pod AI Act? W moim scenariuszu? Co z danymi po zakończeniu? Jaki SLA jakości? Kto odpowiada za błędy? Monitoring post-market? Human oversight?</a:t>
            </a:r>
            <a:endParaRPr lang="en-US" sz="1300" dirty="0"/>
          </a:p>
        </p:txBody>
      </p:sp>
      <p:sp>
        <p:nvSpPr>
          <p:cNvPr id="15" name="Shape 13"/>
          <p:cNvSpPr/>
          <p:nvPr/>
        </p:nvSpPr>
        <p:spPr>
          <a:xfrm>
            <a:off x="10684550" y="1356003"/>
            <a:ext cx="3157180" cy="3215164"/>
          </a:xfrm>
          <a:prstGeom prst="roundRect">
            <a:avLst>
              <a:gd name="adj" fmla="val 3476"/>
            </a:avLst>
          </a:prstGeom>
          <a:solidFill>
            <a:srgbClr val="272525"/>
          </a:solidFill>
          <a:ln w="22860">
            <a:solidFill>
              <a:srgbClr val="2A1999"/>
            </a:solidFill>
            <a:prstDash val="solid"/>
          </a:ln>
        </p:spPr>
      </p:sp>
      <p:sp>
        <p:nvSpPr>
          <p:cNvPr id="16" name="Shape 14"/>
          <p:cNvSpPr/>
          <p:nvPr/>
        </p:nvSpPr>
        <p:spPr>
          <a:xfrm>
            <a:off x="10661690" y="1356003"/>
            <a:ext cx="91440" cy="3215164"/>
          </a:xfrm>
          <a:prstGeom prst="roundRect">
            <a:avLst>
              <a:gd name="adj" fmla="val 76989"/>
            </a:avLst>
          </a:prstGeom>
          <a:solidFill>
            <a:srgbClr val="2B0AFF"/>
          </a:solidFill>
          <a:ln/>
        </p:spPr>
      </p:sp>
      <p:sp>
        <p:nvSpPr>
          <p:cNvPr id="17" name="Text 15"/>
          <p:cNvSpPr/>
          <p:nvPr/>
        </p:nvSpPr>
        <p:spPr>
          <a:xfrm>
            <a:off x="10943511" y="1546384"/>
            <a:ext cx="2629376" cy="261937"/>
          </a:xfrm>
          <a:prstGeom prst="rect">
            <a:avLst/>
          </a:prstGeom>
          <a:noFill/>
          <a:ln/>
        </p:spPr>
        <p:txBody>
          <a:bodyPr wrap="none" lIns="0" tIns="0" rIns="0" bIns="0" rtlCol="0" anchor="t"/>
          <a:lstStyle/>
          <a:p>
            <a:pPr algn="l" indent="0" marL="0">
              <a:lnSpc>
                <a:spcPts val="2050"/>
              </a:lnSpc>
              <a:buNone/>
            </a:pPr>
            <a:r>
              <a:rPr lang="en-US" sz="1600" b="1" dirty="0">
                <a:solidFill>
                  <a:srgbClr val="E5E0DF"/>
                </a:solidFill>
                <a:latin typeface="Inter Bold" pitchFamily="34" charset="0"/>
                <a:ea typeface="Inter Bold" pitchFamily="34" charset="-122"/>
                <a:cs typeface="Inter Bold" pitchFamily="34" charset="-120"/>
              </a:rPr>
              <a:t>Red flags w regulaminach</a:t>
            </a:r>
            <a:endParaRPr lang="en-US" sz="1600" dirty="0"/>
          </a:p>
        </p:txBody>
      </p:sp>
      <p:sp>
        <p:nvSpPr>
          <p:cNvPr id="18" name="Text 16"/>
          <p:cNvSpPr/>
          <p:nvPr/>
        </p:nvSpPr>
        <p:spPr>
          <a:xfrm>
            <a:off x="10943511" y="1893213"/>
            <a:ext cx="2707838" cy="2225635"/>
          </a:xfrm>
          <a:prstGeom prst="rect">
            <a:avLst/>
          </a:prstGeom>
          <a:noFill/>
          <a:ln/>
        </p:spPr>
        <p:txBody>
          <a:bodyPr wrap="square" lIns="0" tIns="0" rIns="0" bIns="0" rtlCol="0" anchor="t"/>
          <a:lstStyle/>
          <a:p>
            <a:pPr algn="l" indent="0" marL="0">
              <a:lnSpc>
                <a:spcPts val="1900"/>
              </a:lnSpc>
              <a:buNone/>
            </a:pPr>
            <a:r>
              <a:rPr lang="en-US" sz="1300" dirty="0">
                <a:solidFill>
                  <a:srgbClr val="E5E0DF"/>
                </a:solidFill>
                <a:latin typeface="Inter" pitchFamily="34" charset="0"/>
                <a:ea typeface="Inter" pitchFamily="34" charset="-122"/>
                <a:cs typeface="Inter" pitchFamily="34" charset="-120"/>
              </a:rPr>
              <a:t>Licencja na dane do treningu (opt-out nie wystarczy), transfer do USA bez szczegółów, brak gwarancji poprawności, automatyczna zmiana modelu bez informowania, przerzucenie odpowiedzialności za klasyfikację. Każdy red flag to punkt do negocjacji.</a:t>
            </a:r>
            <a:endParaRPr lang="en-US" sz="1300" dirty="0"/>
          </a:p>
        </p:txBody>
      </p:sp>
      <p:sp>
        <p:nvSpPr>
          <p:cNvPr id="19" name="Shape 17"/>
          <p:cNvSpPr/>
          <p:nvPr/>
        </p:nvSpPr>
        <p:spPr>
          <a:xfrm>
            <a:off x="788670" y="4712613"/>
            <a:ext cx="3157180" cy="2967871"/>
          </a:xfrm>
          <a:prstGeom prst="roundRect">
            <a:avLst>
              <a:gd name="adj" fmla="val 3697"/>
            </a:avLst>
          </a:prstGeom>
          <a:solidFill>
            <a:srgbClr val="272525"/>
          </a:solidFill>
          <a:ln w="22860">
            <a:solidFill>
              <a:srgbClr val="2A1999"/>
            </a:solidFill>
            <a:prstDash val="solid"/>
          </a:ln>
        </p:spPr>
      </p:sp>
      <p:sp>
        <p:nvSpPr>
          <p:cNvPr id="20" name="Shape 18"/>
          <p:cNvSpPr/>
          <p:nvPr/>
        </p:nvSpPr>
        <p:spPr>
          <a:xfrm>
            <a:off x="765810" y="4712613"/>
            <a:ext cx="91440" cy="2967871"/>
          </a:xfrm>
          <a:prstGeom prst="roundRect">
            <a:avLst>
              <a:gd name="adj" fmla="val 76989"/>
            </a:avLst>
          </a:prstGeom>
          <a:solidFill>
            <a:srgbClr val="2B0AFF"/>
          </a:solidFill>
          <a:ln/>
        </p:spPr>
      </p:sp>
      <p:sp>
        <p:nvSpPr>
          <p:cNvPr id="21" name="Text 19"/>
          <p:cNvSpPr/>
          <p:nvPr/>
        </p:nvSpPr>
        <p:spPr>
          <a:xfrm>
            <a:off x="1047631" y="4902994"/>
            <a:ext cx="2707838" cy="523875"/>
          </a:xfrm>
          <a:prstGeom prst="rect">
            <a:avLst/>
          </a:prstGeom>
          <a:noFill/>
          <a:ln/>
        </p:spPr>
        <p:txBody>
          <a:bodyPr wrap="square" lIns="0" tIns="0" rIns="0" bIns="0" rtlCol="0" anchor="t"/>
          <a:lstStyle/>
          <a:p>
            <a:pPr algn="l" indent="0" marL="0">
              <a:lnSpc>
                <a:spcPts val="2050"/>
              </a:lnSpc>
              <a:buNone/>
            </a:pPr>
            <a:r>
              <a:rPr lang="en-US" sz="1600" b="1" dirty="0">
                <a:solidFill>
                  <a:srgbClr val="E5E0DF"/>
                </a:solidFill>
                <a:latin typeface="Inter Bold" pitchFamily="34" charset="0"/>
                <a:ea typeface="Inter Bold" pitchFamily="34" charset="-122"/>
                <a:cs typeface="Inter Bold" pitchFamily="34" charset="-120"/>
              </a:rPr>
              <a:t>Negocjujcie - albo odchodźcie</a:t>
            </a:r>
            <a:endParaRPr lang="en-US" sz="1600" dirty="0"/>
          </a:p>
        </p:txBody>
      </p:sp>
      <p:sp>
        <p:nvSpPr>
          <p:cNvPr id="22" name="Text 20"/>
          <p:cNvSpPr/>
          <p:nvPr/>
        </p:nvSpPr>
        <p:spPr>
          <a:xfrm>
            <a:off x="1047631" y="5511760"/>
            <a:ext cx="2707838" cy="1978343"/>
          </a:xfrm>
          <a:prstGeom prst="rect">
            <a:avLst/>
          </a:prstGeom>
          <a:noFill/>
          <a:ln/>
        </p:spPr>
        <p:txBody>
          <a:bodyPr wrap="square" lIns="0" tIns="0" rIns="0" bIns="0" rtlCol="0" anchor="t"/>
          <a:lstStyle/>
          <a:p>
            <a:pPr algn="l" indent="0" marL="0">
              <a:lnSpc>
                <a:spcPts val="1900"/>
              </a:lnSpc>
              <a:buNone/>
            </a:pPr>
            <a:r>
              <a:rPr lang="en-US" sz="1300" dirty="0">
                <a:solidFill>
                  <a:srgbClr val="E5E0DF"/>
                </a:solidFill>
                <a:latin typeface="Inter" pitchFamily="34" charset="0"/>
                <a:ea typeface="Inter" pitchFamily="34" charset="-122"/>
                <a:cs typeface="Inter" pitchFamily="34" charset="-120"/>
              </a:rPr>
              <a:t>Większość regulaminów można negocjować w wersji enterprise. Jeśli vendor odmawia negocjacji kluczowych punktów (dane, klasyfikacja, SLA, odpowiedzialność) - szukajcie innego vendora. Rynek AI rośnie - macie wybór.</a:t>
            </a:r>
            <a:endParaRPr lang="en-US" sz="1300" dirty="0"/>
          </a:p>
        </p:txBody>
      </p:sp>
      <p:sp>
        <p:nvSpPr>
          <p:cNvPr id="23" name="Shape 21"/>
          <p:cNvSpPr/>
          <p:nvPr/>
        </p:nvSpPr>
        <p:spPr>
          <a:xfrm>
            <a:off x="4087297" y="4712613"/>
            <a:ext cx="3157180" cy="2967871"/>
          </a:xfrm>
          <a:prstGeom prst="roundRect">
            <a:avLst>
              <a:gd name="adj" fmla="val 3697"/>
            </a:avLst>
          </a:prstGeom>
          <a:solidFill>
            <a:srgbClr val="272525"/>
          </a:solidFill>
          <a:ln w="22860">
            <a:solidFill>
              <a:srgbClr val="2A1999"/>
            </a:solidFill>
            <a:prstDash val="solid"/>
          </a:ln>
        </p:spPr>
      </p:sp>
      <p:sp>
        <p:nvSpPr>
          <p:cNvPr id="24" name="Shape 22"/>
          <p:cNvSpPr/>
          <p:nvPr/>
        </p:nvSpPr>
        <p:spPr>
          <a:xfrm>
            <a:off x="4064437" y="4712613"/>
            <a:ext cx="91440" cy="2967871"/>
          </a:xfrm>
          <a:prstGeom prst="roundRect">
            <a:avLst>
              <a:gd name="adj" fmla="val 76989"/>
            </a:avLst>
          </a:prstGeom>
          <a:solidFill>
            <a:srgbClr val="2B0AFF"/>
          </a:solidFill>
          <a:ln/>
        </p:spPr>
      </p:sp>
      <p:sp>
        <p:nvSpPr>
          <p:cNvPr id="25" name="Text 23"/>
          <p:cNvSpPr/>
          <p:nvPr/>
        </p:nvSpPr>
        <p:spPr>
          <a:xfrm>
            <a:off x="4346258" y="4902994"/>
            <a:ext cx="2301954" cy="261937"/>
          </a:xfrm>
          <a:prstGeom prst="rect">
            <a:avLst/>
          </a:prstGeom>
          <a:noFill/>
          <a:ln/>
        </p:spPr>
        <p:txBody>
          <a:bodyPr wrap="none" lIns="0" tIns="0" rIns="0" bIns="0" rtlCol="0" anchor="t"/>
          <a:lstStyle/>
          <a:p>
            <a:pPr algn="l" indent="0" marL="0">
              <a:lnSpc>
                <a:spcPts val="2050"/>
              </a:lnSpc>
              <a:buNone/>
            </a:pPr>
            <a:r>
              <a:rPr lang="en-US" sz="1600" b="1" dirty="0">
                <a:solidFill>
                  <a:srgbClr val="E5E0DF"/>
                </a:solidFill>
                <a:latin typeface="Inter Bold" pitchFamily="34" charset="0"/>
                <a:ea typeface="Inter Bold" pitchFamily="34" charset="-122"/>
                <a:cs typeface="Inter Bold" pitchFamily="34" charset="-120"/>
              </a:rPr>
              <a:t>Dokumentujcie proces</a:t>
            </a:r>
            <a:endParaRPr lang="en-US" sz="1600" dirty="0"/>
          </a:p>
        </p:txBody>
      </p:sp>
      <p:sp>
        <p:nvSpPr>
          <p:cNvPr id="26" name="Text 24"/>
          <p:cNvSpPr/>
          <p:nvPr/>
        </p:nvSpPr>
        <p:spPr>
          <a:xfrm>
            <a:off x="4346258" y="5249823"/>
            <a:ext cx="2707838" cy="1978343"/>
          </a:xfrm>
          <a:prstGeom prst="rect">
            <a:avLst/>
          </a:prstGeom>
          <a:noFill/>
          <a:ln/>
        </p:spPr>
        <p:txBody>
          <a:bodyPr wrap="square" lIns="0" tIns="0" rIns="0" bIns="0" rtlCol="0" anchor="t"/>
          <a:lstStyle/>
          <a:p>
            <a:pPr algn="l" indent="0" marL="0">
              <a:lnSpc>
                <a:spcPts val="1900"/>
              </a:lnSpc>
              <a:buNone/>
            </a:pPr>
            <a:r>
              <a:rPr lang="en-US" sz="1300" dirty="0">
                <a:solidFill>
                  <a:srgbClr val="E5E0DF"/>
                </a:solidFill>
                <a:latin typeface="Inter" pitchFamily="34" charset="0"/>
                <a:ea typeface="Inter" pitchFamily="34" charset="-122"/>
                <a:cs typeface="Inter" pitchFamily="34" charset="-120"/>
              </a:rPr>
              <a:t>Due diligence to nie tylko decyzja, to proces który musi być udokumentowany: opis przypadku użycia, klasyfikacja, analiza vendora, przegląd prawny, decyzja i uzasadnienie. Ta dokumentacja to wasza ochrona przy kontroli UODO.</a:t>
            </a:r>
            <a:endParaRPr lang="en-US" sz="1300" dirty="0"/>
          </a:p>
        </p:txBody>
      </p:sp>
      <p:sp>
        <p:nvSpPr>
          <p:cNvPr id="27" name="Shape 25"/>
          <p:cNvSpPr/>
          <p:nvPr/>
        </p:nvSpPr>
        <p:spPr>
          <a:xfrm>
            <a:off x="7385923" y="4712613"/>
            <a:ext cx="3157180" cy="2967871"/>
          </a:xfrm>
          <a:prstGeom prst="roundRect">
            <a:avLst>
              <a:gd name="adj" fmla="val 3697"/>
            </a:avLst>
          </a:prstGeom>
          <a:solidFill>
            <a:srgbClr val="272525"/>
          </a:solidFill>
          <a:ln w="22860">
            <a:solidFill>
              <a:srgbClr val="2A1999"/>
            </a:solidFill>
            <a:prstDash val="solid"/>
          </a:ln>
        </p:spPr>
      </p:sp>
      <p:sp>
        <p:nvSpPr>
          <p:cNvPr id="28" name="Shape 26"/>
          <p:cNvSpPr/>
          <p:nvPr/>
        </p:nvSpPr>
        <p:spPr>
          <a:xfrm>
            <a:off x="7363063" y="4712613"/>
            <a:ext cx="91440" cy="2967871"/>
          </a:xfrm>
          <a:prstGeom prst="roundRect">
            <a:avLst>
              <a:gd name="adj" fmla="val 76989"/>
            </a:avLst>
          </a:prstGeom>
          <a:solidFill>
            <a:srgbClr val="2B0AFF"/>
          </a:solidFill>
          <a:ln/>
        </p:spPr>
      </p:sp>
      <p:sp>
        <p:nvSpPr>
          <p:cNvPr id="29" name="Text 27"/>
          <p:cNvSpPr/>
          <p:nvPr/>
        </p:nvSpPr>
        <p:spPr>
          <a:xfrm>
            <a:off x="7644884" y="4902994"/>
            <a:ext cx="2707838" cy="523875"/>
          </a:xfrm>
          <a:prstGeom prst="rect">
            <a:avLst/>
          </a:prstGeom>
          <a:noFill/>
          <a:ln/>
        </p:spPr>
        <p:txBody>
          <a:bodyPr wrap="square" lIns="0" tIns="0" rIns="0" bIns="0" rtlCol="0" anchor="t"/>
          <a:lstStyle/>
          <a:p>
            <a:pPr algn="l" indent="0" marL="0">
              <a:lnSpc>
                <a:spcPts val="2050"/>
              </a:lnSpc>
              <a:buNone/>
            </a:pPr>
            <a:r>
              <a:rPr lang="en-US" sz="1600" b="1" dirty="0">
                <a:solidFill>
                  <a:srgbClr val="E5E0DF"/>
                </a:solidFill>
                <a:latin typeface="Inter Bold" pitchFamily="34" charset="0"/>
                <a:ea typeface="Inter Bold" pitchFamily="34" charset="-122"/>
                <a:cs typeface="Inter Bold" pitchFamily="34" charset="-120"/>
              </a:rPr>
              <a:t>Monitoring nie kończy się po wdrożeniu</a:t>
            </a:r>
            <a:endParaRPr lang="en-US" sz="1600" dirty="0"/>
          </a:p>
        </p:txBody>
      </p:sp>
      <p:sp>
        <p:nvSpPr>
          <p:cNvPr id="30" name="Text 28"/>
          <p:cNvSpPr/>
          <p:nvPr/>
        </p:nvSpPr>
        <p:spPr>
          <a:xfrm>
            <a:off x="7644884" y="5511760"/>
            <a:ext cx="2707838" cy="1978343"/>
          </a:xfrm>
          <a:prstGeom prst="rect">
            <a:avLst/>
          </a:prstGeom>
          <a:noFill/>
          <a:ln/>
        </p:spPr>
        <p:txBody>
          <a:bodyPr wrap="square" lIns="0" tIns="0" rIns="0" bIns="0" rtlCol="0" anchor="t"/>
          <a:lstStyle/>
          <a:p>
            <a:pPr algn="l" indent="0" marL="0">
              <a:lnSpc>
                <a:spcPts val="1900"/>
              </a:lnSpc>
              <a:buNone/>
            </a:pPr>
            <a:r>
              <a:rPr lang="en-US" sz="1300" dirty="0">
                <a:solidFill>
                  <a:srgbClr val="E5E0DF"/>
                </a:solidFill>
                <a:latin typeface="Inter" pitchFamily="34" charset="0"/>
                <a:ea typeface="Inter" pitchFamily="34" charset="-122"/>
                <a:cs typeface="Inter" pitchFamily="34" charset="-120"/>
              </a:rPr>
              <a:t>AI Act wymaga ciągłego monitorowania systemu: jakość modelu, dryft, incydenty, compliance. Dla high-risk obowiązek logowania decyzji przez minimum 6 miesięcy. Musicie mieć procedury i narzędzia do tego.</a:t>
            </a:r>
            <a:endParaRPr lang="en-US" sz="1300" dirty="0"/>
          </a:p>
        </p:txBody>
      </p:sp>
      <p:sp>
        <p:nvSpPr>
          <p:cNvPr id="31" name="Shape 29"/>
          <p:cNvSpPr/>
          <p:nvPr/>
        </p:nvSpPr>
        <p:spPr>
          <a:xfrm>
            <a:off x="10684550" y="4712613"/>
            <a:ext cx="3157180" cy="2967871"/>
          </a:xfrm>
          <a:prstGeom prst="roundRect">
            <a:avLst>
              <a:gd name="adj" fmla="val 3697"/>
            </a:avLst>
          </a:prstGeom>
          <a:solidFill>
            <a:srgbClr val="272525"/>
          </a:solidFill>
          <a:ln w="22860">
            <a:solidFill>
              <a:srgbClr val="2A1999"/>
            </a:solidFill>
            <a:prstDash val="solid"/>
          </a:ln>
        </p:spPr>
      </p:sp>
      <p:sp>
        <p:nvSpPr>
          <p:cNvPr id="32" name="Shape 30"/>
          <p:cNvSpPr/>
          <p:nvPr/>
        </p:nvSpPr>
        <p:spPr>
          <a:xfrm>
            <a:off x="10661690" y="4712613"/>
            <a:ext cx="91440" cy="2967871"/>
          </a:xfrm>
          <a:prstGeom prst="roundRect">
            <a:avLst>
              <a:gd name="adj" fmla="val 76989"/>
            </a:avLst>
          </a:prstGeom>
          <a:solidFill>
            <a:srgbClr val="2B0AFF"/>
          </a:solidFill>
          <a:ln/>
        </p:spPr>
      </p:sp>
      <p:sp>
        <p:nvSpPr>
          <p:cNvPr id="33" name="Text 31"/>
          <p:cNvSpPr/>
          <p:nvPr/>
        </p:nvSpPr>
        <p:spPr>
          <a:xfrm>
            <a:off x="10943511" y="4902994"/>
            <a:ext cx="2458879" cy="261937"/>
          </a:xfrm>
          <a:prstGeom prst="rect">
            <a:avLst/>
          </a:prstGeom>
          <a:noFill/>
          <a:ln/>
        </p:spPr>
        <p:txBody>
          <a:bodyPr wrap="none" lIns="0" tIns="0" rIns="0" bIns="0" rtlCol="0" anchor="t"/>
          <a:lstStyle/>
          <a:p>
            <a:pPr algn="l" indent="0" marL="0">
              <a:lnSpc>
                <a:spcPts val="2050"/>
              </a:lnSpc>
              <a:buNone/>
            </a:pPr>
            <a:r>
              <a:rPr lang="en-US" sz="1600" b="1" dirty="0">
                <a:solidFill>
                  <a:srgbClr val="E5E0DF"/>
                </a:solidFill>
                <a:latin typeface="Inter Bold" pitchFamily="34" charset="0"/>
                <a:ea typeface="Inter Bold" pitchFamily="34" charset="-122"/>
                <a:cs typeface="Inter Bold" pitchFamily="34" charset="-120"/>
              </a:rPr>
              <a:t>To jest praca zespołowa</a:t>
            </a:r>
            <a:endParaRPr lang="en-US" sz="1600" dirty="0"/>
          </a:p>
        </p:txBody>
      </p:sp>
      <p:sp>
        <p:nvSpPr>
          <p:cNvPr id="34" name="Text 32"/>
          <p:cNvSpPr/>
          <p:nvPr/>
        </p:nvSpPr>
        <p:spPr>
          <a:xfrm>
            <a:off x="10943511" y="5249823"/>
            <a:ext cx="2707838" cy="2225635"/>
          </a:xfrm>
          <a:prstGeom prst="rect">
            <a:avLst/>
          </a:prstGeom>
          <a:noFill/>
          <a:ln/>
        </p:spPr>
        <p:txBody>
          <a:bodyPr wrap="square" lIns="0" tIns="0" rIns="0" bIns="0" rtlCol="0" anchor="t"/>
          <a:lstStyle/>
          <a:p>
            <a:pPr algn="l" indent="0" marL="0">
              <a:lnSpc>
                <a:spcPts val="1900"/>
              </a:lnSpc>
              <a:buNone/>
            </a:pPr>
            <a:r>
              <a:rPr lang="en-US" sz="1300" dirty="0">
                <a:solidFill>
                  <a:srgbClr val="E5E0DF"/>
                </a:solidFill>
                <a:latin typeface="Inter" pitchFamily="34" charset="0"/>
                <a:ea typeface="Inter" pitchFamily="34" charset="-122"/>
                <a:cs typeface="Inter" pitchFamily="34" charset="-120"/>
              </a:rPr>
              <a:t>Due diligence AI wymaga współpracy: prawo (compliance, umowy), IT (walidacja techniczna), biznes (przypadek użycia, ROI), procurement (negocjacje), DPO (RODO), czasem eksperci zewnętrzni (bias testing). Multidyscyplinarny zespół z jasnym liderem.</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793790" y="676156"/>
            <a:ext cx="4465558" cy="558165"/>
          </a:xfrm>
          <a:prstGeom prst="rect">
            <a:avLst/>
          </a:prstGeom>
          <a:noFill/>
          <a:ln/>
        </p:spPr>
        <p:txBody>
          <a:bodyPr wrap="none" lIns="0" tIns="0" rIns="0" bIns="0" rtlCol="0" anchor="t"/>
          <a:lstStyle/>
          <a:p>
            <a:pPr algn="l" indent="0" marL="0">
              <a:lnSpc>
                <a:spcPts val="4350"/>
              </a:lnSpc>
              <a:buNone/>
            </a:pPr>
            <a:r>
              <a:rPr lang="en-US" sz="3500" b="1" dirty="0">
                <a:solidFill>
                  <a:srgbClr val="FFFFFF"/>
                </a:solidFill>
                <a:latin typeface="Inter Bold" pitchFamily="34" charset="0"/>
                <a:ea typeface="Inter Bold" pitchFamily="34" charset="-122"/>
                <a:cs typeface="Inter Bold" pitchFamily="34" charset="-120"/>
              </a:rPr>
              <a:t>Zapowiedź Bloku 3</a:t>
            </a:r>
            <a:endParaRPr lang="en-US" sz="3500" dirty="0"/>
          </a:p>
        </p:txBody>
      </p:sp>
      <p:sp>
        <p:nvSpPr>
          <p:cNvPr id="3" name="Text 1"/>
          <p:cNvSpPr/>
          <p:nvPr/>
        </p:nvSpPr>
        <p:spPr>
          <a:xfrm>
            <a:off x="1061680" y="1736646"/>
            <a:ext cx="12774930" cy="271463"/>
          </a:xfrm>
          <a:prstGeom prst="rect">
            <a:avLst/>
          </a:prstGeom>
          <a:noFill/>
          <a:ln/>
        </p:spPr>
        <p:txBody>
          <a:bodyPr wrap="non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„Po przerwie przechodzimy do rzeczy, które jeszcze się nie wydarzyły - ale wydarzą się wkrótce."</a:t>
            </a:r>
            <a:endParaRPr lang="en-US" sz="1400" dirty="0"/>
          </a:p>
        </p:txBody>
      </p:sp>
      <p:sp>
        <p:nvSpPr>
          <p:cNvPr id="4" name="Shape 2"/>
          <p:cNvSpPr/>
          <p:nvPr/>
        </p:nvSpPr>
        <p:spPr>
          <a:xfrm>
            <a:off x="793790" y="1555790"/>
            <a:ext cx="22860" cy="633174"/>
          </a:xfrm>
          <a:prstGeom prst="rect">
            <a:avLst/>
          </a:prstGeom>
          <a:solidFill>
            <a:srgbClr val="2B0AFF"/>
          </a:solidFill>
          <a:ln/>
        </p:spPr>
      </p:sp>
      <p:sp>
        <p:nvSpPr>
          <p:cNvPr id="5" name="Text 3"/>
          <p:cNvSpPr/>
          <p:nvPr/>
        </p:nvSpPr>
        <p:spPr>
          <a:xfrm>
            <a:off x="793790" y="2369820"/>
            <a:ext cx="13042821" cy="271463"/>
          </a:xfrm>
          <a:prstGeom prst="rect">
            <a:avLst/>
          </a:prstGeom>
          <a:noFill/>
          <a:ln/>
        </p:spPr>
        <p:txBody>
          <a:bodyPr wrap="non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W Bloku 3 zajmiemy się scenariuszami przyszłości za 6-12 miesięcy:</a:t>
            </a:r>
            <a:endParaRPr lang="en-US" sz="1400" dirty="0"/>
          </a:p>
        </p:txBody>
      </p:sp>
      <p:pic>
        <p:nvPicPr>
          <p:cNvPr id="6" name="Image 0" descr="preencoded.png">    </p:cNvPr>
          <p:cNvPicPr>
            <a:picLocks noChangeAspect="1"/>
          </p:cNvPicPr>
          <p:nvPr/>
        </p:nvPicPr>
        <p:blipFill>
          <a:blip r:embed="rId1"/>
          <a:stretch>
            <a:fillRect/>
          </a:stretch>
        </p:blipFill>
        <p:spPr>
          <a:xfrm>
            <a:off x="793790" y="2822138"/>
            <a:ext cx="893088" cy="1275517"/>
          </a:xfrm>
          <a:prstGeom prst="rect">
            <a:avLst/>
          </a:prstGeom>
        </p:spPr>
      </p:pic>
      <p:sp>
        <p:nvSpPr>
          <p:cNvPr id="7" name="Text 4"/>
          <p:cNvSpPr/>
          <p:nvPr/>
        </p:nvSpPr>
        <p:spPr>
          <a:xfrm>
            <a:off x="1847612" y="3000732"/>
            <a:ext cx="2548652"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Scenariusz 1: Agenci AI</a:t>
            </a:r>
            <a:endParaRPr lang="en-US" sz="1750" dirty="0"/>
          </a:p>
        </p:txBody>
      </p:sp>
      <p:sp>
        <p:nvSpPr>
          <p:cNvPr id="8" name="Text 5"/>
          <p:cNvSpPr/>
          <p:nvPr/>
        </p:nvSpPr>
        <p:spPr>
          <a:xfrm>
            <a:off x="1847612" y="3376136"/>
            <a:ext cx="11988998" cy="542925"/>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AI, które podejmują autonomiczne decyzje bez human-in-the-loop. Jak to zmienia klasyfikację ryzyka? Jak to zmienia odpowiedzialność? Co jeśli agent AI podpisze umowę w waszym imieniu?</a:t>
            </a:r>
            <a:endParaRPr lang="en-US" sz="1400" dirty="0"/>
          </a:p>
        </p:txBody>
      </p:sp>
      <p:pic>
        <p:nvPicPr>
          <p:cNvPr id="9" name="Image 1" descr="preencoded.png">    </p:cNvPr>
          <p:cNvPicPr>
            <a:picLocks noChangeAspect="1"/>
          </p:cNvPicPr>
          <p:nvPr/>
        </p:nvPicPr>
        <p:blipFill>
          <a:blip r:embed="rId2"/>
          <a:stretch>
            <a:fillRect/>
          </a:stretch>
        </p:blipFill>
        <p:spPr>
          <a:xfrm>
            <a:off x="793790" y="4097655"/>
            <a:ext cx="893088" cy="1275517"/>
          </a:xfrm>
          <a:prstGeom prst="rect">
            <a:avLst/>
          </a:prstGeom>
        </p:spPr>
      </p:pic>
      <p:sp>
        <p:nvSpPr>
          <p:cNvPr id="10" name="Text 6"/>
          <p:cNvSpPr/>
          <p:nvPr/>
        </p:nvSpPr>
        <p:spPr>
          <a:xfrm>
            <a:off x="1847612" y="4276249"/>
            <a:ext cx="4183023"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Scenariusz 2: Shadow AI na sterydach</a:t>
            </a:r>
            <a:endParaRPr lang="en-US" sz="1750" dirty="0"/>
          </a:p>
        </p:txBody>
      </p:sp>
      <p:sp>
        <p:nvSpPr>
          <p:cNvPr id="11" name="Text 7"/>
          <p:cNvSpPr/>
          <p:nvPr/>
        </p:nvSpPr>
        <p:spPr>
          <a:xfrm>
            <a:off x="1847612" y="4651653"/>
            <a:ext cx="11988998" cy="542925"/>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Pracownicy używają AI bez wiedzy IT i compliance. To już się dzieje - ale będzie się działo coraz bardziej. Jak to kontrolować? Jak to regulować? Jak to wykrywać?</a:t>
            </a:r>
            <a:endParaRPr lang="en-US" sz="1400" dirty="0"/>
          </a:p>
        </p:txBody>
      </p:sp>
      <p:pic>
        <p:nvPicPr>
          <p:cNvPr id="12" name="Image 2" descr="preencoded.png">    </p:cNvPr>
          <p:cNvPicPr>
            <a:picLocks noChangeAspect="1"/>
          </p:cNvPicPr>
          <p:nvPr/>
        </p:nvPicPr>
        <p:blipFill>
          <a:blip r:embed="rId3"/>
          <a:stretch>
            <a:fillRect/>
          </a:stretch>
        </p:blipFill>
        <p:spPr>
          <a:xfrm>
            <a:off x="793790" y="5373172"/>
            <a:ext cx="893088" cy="1275517"/>
          </a:xfrm>
          <a:prstGeom prst="rect">
            <a:avLst/>
          </a:prstGeom>
        </p:spPr>
      </p:pic>
      <p:sp>
        <p:nvSpPr>
          <p:cNvPr id="13" name="Text 8"/>
          <p:cNvSpPr/>
          <p:nvPr/>
        </p:nvSpPr>
        <p:spPr>
          <a:xfrm>
            <a:off x="1847612" y="5551765"/>
            <a:ext cx="4045863" cy="278963"/>
          </a:xfrm>
          <a:prstGeom prst="rect">
            <a:avLst/>
          </a:prstGeom>
          <a:noFill/>
          <a:ln/>
        </p:spPr>
        <p:txBody>
          <a:bodyPr wrap="none" lIns="0" tIns="0" rIns="0" bIns="0" rtlCol="0" anchor="t"/>
          <a:lstStyle/>
          <a:p>
            <a:pPr algn="l" indent="0" marL="0">
              <a:lnSpc>
                <a:spcPts val="2150"/>
              </a:lnSpc>
              <a:buNone/>
            </a:pPr>
            <a:r>
              <a:rPr lang="en-US" sz="1750" b="1" dirty="0">
                <a:solidFill>
                  <a:srgbClr val="E5E0DF"/>
                </a:solidFill>
                <a:latin typeface="Inter Bold" pitchFamily="34" charset="0"/>
                <a:ea typeface="Inter Bold" pitchFamily="34" charset="-122"/>
                <a:cs typeface="Inter Bold" pitchFamily="34" charset="-120"/>
              </a:rPr>
              <a:t>Scenariusz 3: Przesunięcie terminów</a:t>
            </a:r>
            <a:endParaRPr lang="en-US" sz="1750" dirty="0"/>
          </a:p>
        </p:txBody>
      </p:sp>
      <p:sp>
        <p:nvSpPr>
          <p:cNvPr id="14" name="Text 9"/>
          <p:cNvSpPr/>
          <p:nvPr/>
        </p:nvSpPr>
        <p:spPr>
          <a:xfrm>
            <a:off x="1847612" y="5927169"/>
            <a:ext cx="11988998" cy="542925"/>
          </a:xfrm>
          <a:prstGeom prst="rect">
            <a:avLst/>
          </a:prstGeom>
          <a:noFill/>
          <a:ln/>
        </p:spPr>
        <p:txBody>
          <a:bodyPr wrap="squar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Firma wydała 200 tysięcy na compliance pod sierpień 2026. Właśnie dowiedzieli się, że termin się przesunął. Co teraz? Jak myśleć o AI nie jako o regulacji do odhaczenia - ale jako o ryzyku do zarządzania?</a:t>
            </a:r>
            <a:endParaRPr lang="en-US" sz="1400" dirty="0"/>
          </a:p>
        </p:txBody>
      </p:sp>
      <p:sp>
        <p:nvSpPr>
          <p:cNvPr id="15" name="Text 10"/>
          <p:cNvSpPr/>
          <p:nvPr/>
        </p:nvSpPr>
        <p:spPr>
          <a:xfrm>
            <a:off x="793790" y="6829544"/>
            <a:ext cx="13042821" cy="271463"/>
          </a:xfrm>
          <a:prstGeom prst="rect">
            <a:avLst/>
          </a:prstGeom>
          <a:noFill/>
          <a:ln/>
        </p:spPr>
        <p:txBody>
          <a:bodyPr wrap="none" lIns="0" tIns="0" rIns="0" bIns="0" rtlCol="0" anchor="t"/>
          <a:lstStyle/>
          <a:p>
            <a:pPr algn="l" indent="0" marL="0">
              <a:lnSpc>
                <a:spcPts val="2100"/>
              </a:lnSpc>
              <a:buNone/>
            </a:pPr>
            <a:r>
              <a:rPr lang="en-US" sz="1400" dirty="0">
                <a:solidFill>
                  <a:srgbClr val="E5E0DF"/>
                </a:solidFill>
                <a:latin typeface="Inter" pitchFamily="34" charset="0"/>
                <a:ea typeface="Inter" pitchFamily="34" charset="-122"/>
                <a:cs typeface="Inter" pitchFamily="34" charset="-120"/>
              </a:rPr>
              <a:t>To będą</a:t>
            </a:r>
            <a:endParaRPr lang="en-US" sz="1400" dirty="0"/>
          </a:p>
        </p:txBody>
      </p:sp>
      <p:sp>
        <p:nvSpPr>
          <p:cNvPr id="16" name="Text 11"/>
          <p:cNvSpPr/>
          <p:nvPr/>
        </p:nvSpPr>
        <p:spPr>
          <a:xfrm>
            <a:off x="793790" y="7281863"/>
            <a:ext cx="13042821" cy="271463"/>
          </a:xfrm>
          <a:prstGeom prst="rect">
            <a:avLst/>
          </a:prstGeom>
          <a:noFill/>
          <a:ln/>
        </p:spPr>
        <p:txBody>
          <a:bodyPr wrap="none" lIns="0" tIns="0" rIns="0" bIns="0" rtlCol="0" anchor="t"/>
          <a:lstStyle/>
          <a:p>
            <a:pPr algn="l" indent="0" marL="0">
              <a:lnSpc>
                <a:spcPts val="2100"/>
              </a:lnSpc>
              <a:buNone/>
            </a:pPr>
            <a:r>
              <a:rPr lang="en-US" sz="1400" b="1" dirty="0">
                <a:solidFill>
                  <a:srgbClr val="E5E0DF"/>
                </a:solidFill>
                <a:latin typeface="Inter" pitchFamily="34" charset="0"/>
                <a:ea typeface="Inter" pitchFamily="34" charset="-122"/>
                <a:cs typeface="Inter" pitchFamily="34" charset="-120"/>
              </a:rPr>
              <a:t>Do zobaczenia po przerwie!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2026-02-06T22:04:33Z</dcterms:created>
  <dcterms:modified xsi:type="dcterms:W3CDTF">2026-02-06T22:04:33Z</dcterms:modified>
</cp:coreProperties>
</file>