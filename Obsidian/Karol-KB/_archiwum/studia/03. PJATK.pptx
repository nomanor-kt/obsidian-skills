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6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1831" r:id="rId61"/>
  </p:sldIdLst>
  <p:sldSz cx="14630400" cy="8229600"/>
  <p:notesSz cx="8229600" cy="14630400"/>
  <p:embeddedFontLst>
    <p:embeddedFont>
      <p:font typeface="Inter" panose="020B0604020202020204" charset="0"/>
      <p:regular r:id="rId63"/>
    </p:embeddedFont>
  </p:embeddedFontLst>
  <p:defaultTextStyle>
    <a:defPPr>
      <a:defRPr lang="pl-P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0E6D4CB-F4E3-400B-B8F0-7DAFF23F678D}" v="1" dt="2026-02-06T23:24:11.48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3" d="100"/>
          <a:sy n="73" d="100"/>
        </p:scale>
        <p:origin x="342" y="2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font" Target="fonts/font1.fntdata"/><Relationship Id="rId68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5204222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ytuł i zawartoś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1482AB0-1651-4AC7-8616-6D3A9B40A5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/>
              <a:t>Kliknij, aby edytować styl</a:t>
            </a:r>
          </a:p>
        </p:txBody>
      </p:sp>
      <p:sp>
        <p:nvSpPr>
          <p:cNvPr id="3" name="Symbol zastępczy zawartości 2">
            <a:extLst>
              <a:ext uri="{FF2B5EF4-FFF2-40B4-BE49-F238E27FC236}">
                <a16:creationId xmlns:a16="http://schemas.microsoft.com/office/drawing/2014/main" id="{4C07B4B8-925F-412E-86FC-BDE47AC04C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l-PL"/>
              <a:t>Kliknij, aby edytować style wzorca tekstu</a:t>
            </a:r>
          </a:p>
          <a:p>
            <a:pPr lvl="1"/>
            <a:r>
              <a:rPr lang="pl-PL"/>
              <a:t>Drugi poziom</a:t>
            </a:r>
          </a:p>
          <a:p>
            <a:pPr lvl="2"/>
            <a:r>
              <a:rPr lang="pl-PL"/>
              <a:t>Trzeci poziom</a:t>
            </a:r>
          </a:p>
          <a:p>
            <a:pPr lvl="3"/>
            <a:r>
              <a:rPr lang="pl-PL"/>
              <a:t>Czwarty poziom</a:t>
            </a:r>
          </a:p>
          <a:p>
            <a:pPr lvl="4"/>
            <a:r>
              <a:rPr lang="pl-PL"/>
              <a:t>Piąty poziom</a:t>
            </a:r>
          </a:p>
        </p:txBody>
      </p:sp>
      <p:sp>
        <p:nvSpPr>
          <p:cNvPr id="4" name="Symbol zastępczy daty 3">
            <a:extLst>
              <a:ext uri="{FF2B5EF4-FFF2-40B4-BE49-F238E27FC236}">
                <a16:creationId xmlns:a16="http://schemas.microsoft.com/office/drawing/2014/main" id="{52C971CB-628D-41EF-A6FB-CC9C38220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7AD822-03C3-4D26-8B0C-9153B7C55391}" type="datetimeFigureOut">
              <a:rPr lang="pl-PL" smtClean="0"/>
              <a:t>09.02.2026</a:t>
            </a:fld>
            <a:endParaRPr lang="pl-PL"/>
          </a:p>
        </p:txBody>
      </p:sp>
      <p:sp>
        <p:nvSpPr>
          <p:cNvPr id="5" name="Symbol zastępczy stopki 4">
            <a:extLst>
              <a:ext uri="{FF2B5EF4-FFF2-40B4-BE49-F238E27FC236}">
                <a16:creationId xmlns:a16="http://schemas.microsoft.com/office/drawing/2014/main" id="{9BBFF042-FCE9-43C0-AFD2-C828478B11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ymbol zastępczy numeru slajdu 5">
            <a:extLst>
              <a:ext uri="{FF2B5EF4-FFF2-40B4-BE49-F238E27FC236}">
                <a16:creationId xmlns:a16="http://schemas.microsoft.com/office/drawing/2014/main" id="{5EEF8071-A2BB-41D1-9884-A3725241B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60CBA3-FA3A-4A58-8B1C-E6533031AC24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029562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  <p:sldLayoutId id="2147483684" r:id="rId36"/>
    <p:sldLayoutId id="2147483685" r:id="rId37"/>
    <p:sldLayoutId id="2147483686" r:id="rId38"/>
    <p:sldLayoutId id="2147483687" r:id="rId39"/>
    <p:sldLayoutId id="2147483688" r:id="rId40"/>
    <p:sldLayoutId id="2147483689" r:id="rId41"/>
    <p:sldLayoutId id="2147483690" r:id="rId42"/>
    <p:sldLayoutId id="2147483691" r:id="rId43"/>
    <p:sldLayoutId id="2147483692" r:id="rId44"/>
    <p:sldLayoutId id="2147483693" r:id="rId45"/>
    <p:sldLayoutId id="2147483694" r:id="rId46"/>
    <p:sldLayoutId id="2147483695" r:id="rId47"/>
    <p:sldLayoutId id="2147483696" r:id="rId48"/>
    <p:sldLayoutId id="2147483697" r:id="rId49"/>
    <p:sldLayoutId id="2147483698" r:id="rId50"/>
    <p:sldLayoutId id="2147483699" r:id="rId51"/>
    <p:sldLayoutId id="2147483700" r:id="rId52"/>
    <p:sldLayoutId id="2147483701" r:id="rId53"/>
    <p:sldLayoutId id="2147483702" r:id="rId54"/>
    <p:sldLayoutId id="2147483703" r:id="rId55"/>
    <p:sldLayoutId id="2147483704" r:id="rId56"/>
    <p:sldLayoutId id="2147483705" r:id="rId57"/>
    <p:sldLayoutId id="2147483706" r:id="rId58"/>
    <p:sldLayoutId id="2147483707" r:id="rId59"/>
    <p:sldLayoutId id="2147483708" r:id="rId60"/>
    <p:sldLayoutId id="2147483709" r:id="rId6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sip.lex.pl/akty-prawne/dzu-dziennik-ustaw/kodeks-cywilny-16785996/art-430" TargetMode="Externa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8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9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30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4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8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39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40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4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42.xml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43.xml"/><Relationship Id="rId6" Type="http://schemas.openxmlformats.org/officeDocument/2006/relationships/image" Target="../media/image7.pn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svg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44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45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46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47.xml"/></Relationships>
</file>

<file path=ppt/slides/_rels/slide4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48.xml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49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50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5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5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53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54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55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56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5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20.sv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58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59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60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hyperlink" Target="http://www.luminai.pl/" TargetMode="External"/><Relationship Id="rId2" Type="http://schemas.openxmlformats.org/officeDocument/2006/relationships/hyperlink" Target="mailto:pawel.kowalski@luminai.pl" TargetMode="External"/><Relationship Id="rId1" Type="http://schemas.openxmlformats.org/officeDocument/2006/relationships/slideLayout" Target="../slideLayouts/slideLayout61.xml"/><Relationship Id="rId5" Type="http://schemas.openxmlformats.org/officeDocument/2006/relationships/image" Target="../media/image29.jpe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12883"/>
            <a:ext cx="1301996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Blok 3: Trzy scenariusze, w których tracicie pieniądze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12979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Ostatni blok dnia. Macie za sobą dwie godziny twardych danych i due diligence. Teraz przechodzimy od teorii do praktyki - od slajdów do decyzji, które podejmujecie w poniedziałek rano.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988117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blok będzie inny. Mniej wykładu, więcej dyskusji. Przedstawię wam trzy scenariusze - sytuacje, które już się dzieją w polskich firmach. Scenariusze, w których tracicie pieniądze, reputację, lub jedno i drugie. A potem wspólnie przeanalizujemy, co zrobić, zanim znajdziecie się w takiej sytuacji.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163979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 scenariusze? Bo AI compliance to nie jest zestaw reguł do zapamiętania. To jest sposób myślenia o ryzyku w sytuacji, gdy technologia zmienia się szybciej niż prawo. I gdy nie ma jednej dobrej odpowiedzi - jest tylko lepsza lub gorsza decyzja, podjęta na podstawie dostępnych informacji.</a:t>
            </a:r>
            <a:endParaRPr lang="en-US" sz="15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095024"/>
            <a:ext cx="921187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12852" y="2154555"/>
            <a:ext cx="683062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CZĘŚĆ A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547461"/>
            <a:ext cx="10838736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Scenariusz 1: Agent AI podjął decyzję za was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346519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Zanim przejdziemy do scenariusza, musimy wyjaśnić jedno fundamentalne pojęcie: czym są agenci AI i dlaczego zmieniają wszystko, o czym rozmawialiśmy do tej pory.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32351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 tej pory mówiliśmy o AI jako o narzędziu: zadajesz pytanie, dostajesz odpowiedź, podejmujesz decyzję. Tak działa ChatGPT, Claude, systemy analityczne. Człowiek jest w pętli decyzyjnej - </a:t>
            </a:r>
            <a:r>
              <a:rPr lang="en-US" sz="155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human in the loop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181838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Teraz wchodzi nowa kategoria: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agenci AI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To systemy, które nie tylko odpowiadają na pytania - one podejmują działania. Agent AI może przeczytać maila, podjąć decyzję co z nim zrobić, wysłać odpowiedź, zarezerwować spotkanie, złożyć zamówienie. Autonomicznie, bez pytania człowieka.</a:t>
            </a:r>
            <a:endParaRPr lang="en-US" sz="15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95557"/>
            <a:ext cx="819638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Agenci AI już działają — przykłady z rynku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48852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nie jest science fiction ani dalekosiężna wizja przyszłości. Agenci AI działają w tej chwili. Oto konkretne przykłady technologii dostępnych dziś: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46847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999768" y="35528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OpenAI Operator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999768" y="3982045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Agent, który przegląda internet i wykonuje zadania za użytkownika - od rezerwacji po zakupy online.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07437" y="3346847"/>
            <a:ext cx="4215408" cy="2428875"/>
          </a:xfrm>
          <a:prstGeom prst="roundRect">
            <a:avLst>
              <a:gd name="adj" fmla="val 343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413415" y="3552825"/>
            <a:ext cx="3803452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Anthropic Claude Computer Use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5413415" y="4292203"/>
            <a:ext cx="38034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Model, który dosłownie obsługuje komputer: klika, wpisuje tekst, nawiguje po interfejsach.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21203" y="3346847"/>
            <a:ext cx="4215289" cy="2428875"/>
          </a:xfrm>
          <a:prstGeom prst="roundRect">
            <a:avLst>
              <a:gd name="adj" fmla="val 343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9827181" y="355282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Moltbook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9827181" y="3982045"/>
            <a:ext cx="3803333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Eksperymentalna platforma, na której agenci AI dyskutują między sobą, tworzą własne zasady, debatują nad projektem „konstytucji" do samozarządzania.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93790" y="599896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Gartner prognozuje, że ponad 40% projektów AI opartych o agentów zostanie anulowanych przed 2028 - nie dlatego że technologia nie działa, ale dlatego że firmy nie potrafią zarządzać ryzykiem autonomicznych decyzji.</a:t>
            </a:r>
            <a:endParaRPr lang="en-US" sz="15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1093946"/>
            <a:ext cx="13042821" cy="604158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69601"/>
            <a:ext cx="760440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Dlaczego agenci AI zmieniają wszystko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46257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Kluczowa różnica między tradycyjnym AI a agentami dotyczy odpowiedzialności. Do tej pory zawsze mogliście powiedzieć: </a:t>
            </a:r>
            <a:r>
              <a:rPr lang="en-US" sz="155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człowiek podjął decyzję, AI tylko doradzało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Z agentami ta linia się zaciera.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2089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 podejmuje decyzje samodzielnie. Analizuje sytuację, wybiera działanie, wykonuje je. Bez pytania człowieka o zgodę. I tu pojawia się pytanie, które przestaje być akademickie i staje się bardzo praktyczne: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91446" y="4402455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Kto odpowiada za decyzję agenta AI?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179213"/>
            <a:ext cx="22860" cy="764024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93790" y="5166479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Firma, która go wdrożyła? Dostawca technologii? Programista, który napisał kod? Osoba, która uruchomiła system? A może sam agent - jako autonomiczny podmiot?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602480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pytanie nie ma jeszcze jednoznacznej odpowiedzi w prawie. Ale ma jednoznaczną odpowiedź w praktyce: odpowiada ten, kto poniesie konsekwencje. I zazwyczaj jest to firma.</a:t>
            </a:r>
            <a:endParaRPr lang="en-US" sz="15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84390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Scenariusz do dyskusji: Ubezpieczyciel z autonomicznym agentem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42138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Przejdźmy do konkretnego przypadku. To scenariusz oparty na rzeczywistych wdrożeniach w sektorze ubezpieczeniowym.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962162"/>
            <a:ext cx="13042821" cy="2482929"/>
          </a:xfrm>
          <a:prstGeom prst="roundRect">
            <a:avLst>
              <a:gd name="adj" fmla="val 3357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4236839"/>
            <a:ext cx="310039" cy="2480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0545" y="4210050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Sytuacja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500545" y="4718566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Jesteście ubezpieczycielem. Wdrożyliście system AI do obsługi roszczeń - nie chatbota, tylko </a:t>
            </a: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agenta</a:t>
            </a: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który samodzielnie analizuje dokumentację szkodową, weryfikuje polisę, oblicza kwotę i podejmuje decyzję: wypłata lub odmowa.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0545" y="5532239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 roszczeń poniżej 10 000 złotych agent działa </a:t>
            </a: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autonomicznie</a:t>
            </a: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bez udziału człowieka. Takich roszczeń jest 70% waszego wolumenu.</a:t>
            </a:r>
            <a:endParaRPr lang="en-US" sz="15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234"/>
            <a:ext cx="664737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się stało: Sprawa Pana Nowaka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95620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Klient Pan Nowak składa roszczenie na 8 500 złotych za zalanie mieszkania. Agent AI analizuje dokumentację, stwierdza brak jednego załącznika (zdjęcie uszkodzenia sufitu) i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automatycznie odmawia wypłaty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81452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Wysyła Panu Nowakowi maila z odmową - wygenerowanego przez AI, podpisanego nazwą firmy. Pan Nowak nie wie, że decyzję podjął system, nie człowiek.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67284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Nowak składa skargę do UODO, twierdząc że został poddany zautomatyzowanemu podejmowaniu decyzji bez swojej zgody. Jednocześnie składa skargę do Rzecznika Finansowego.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53116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poniedziałek rano macie spotkanie zarządu. Prawny przychodzi z pytaniem: co mówimy UODO? IT pyta: wyłączamy system? Sprzedaż pyta: co mówimy klientom?</a:t>
            </a:r>
            <a:endParaRPr lang="en-US" sz="15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19927"/>
            <a:ext cx="699015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Pytania do sali - 5 minut na refleksję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21289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Zanim przejdziemy do analizy prawnej, chcę żebyście przez moment pomyśleli o tym jak decydenci, nie jak prawnicy. Macie pięć minut na indywidualną refleksję nad czterema pytaniami: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07121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385542"/>
            <a:ext cx="6422231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93790" y="3530441"/>
            <a:ext cx="6422231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Czy to jest „zautomatyzowane podejmowanie indywidualnych decyzji" w rozumieniu art. 22 RODO?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579977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Czy Pan Nowak miał prawo do interwencji człowieka?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414379" y="3071217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385542"/>
            <a:ext cx="6422231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7414379" y="3530441"/>
            <a:ext cx="50899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Kto odpowiada za błędną decyzję agenta?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14379" y="3959662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Firma, dostawca AI, programista, nikt?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24470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559028"/>
            <a:ext cx="6422231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793790" y="5703927"/>
            <a:ext cx="64222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Czy system powinien być sklasyfikowany jako high-risk pod AI Act?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793790" y="644330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tak - w której kategorii z Aneksu III?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414379" y="5244703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04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7414379" y="5559028"/>
            <a:ext cx="6422231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8" name="Text 16"/>
          <p:cNvSpPr/>
          <p:nvPr/>
        </p:nvSpPr>
        <p:spPr>
          <a:xfrm>
            <a:off x="7414379" y="5703927"/>
            <a:ext cx="6422231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powinniście mieli przygotowane zanim UODO zapuka do drzwi?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414379" y="6443305"/>
            <a:ext cx="642223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Jakie dokumenty, procedury, zabezpieczenia?</a:t>
            </a:r>
            <a:endParaRPr lang="en-US" sz="15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33625"/>
            <a:ext cx="620482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Perspektywy z sali: Za i przeciw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226594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dyskusjach, które prowadziłem z grupami MBA, zazwyczaj pojawiają się dwa obozy. Pierwszy argumentuje, że to nie jest automated decision-making w rozumieniu RODO, bo to tylko narzędzie wspomagające - człowiek mógł zawsze zweryfikować decyzję, system był zaprojektowany z możliwością interwencji.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40245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Drugi obóz mówi: jeśli Pan Nowak nie wiedział, że może interweniować, jeśli nie został o tym poinformowany, jeśli proces nie przewidywał obowiązkowej weryfikacji przez człowieka - to jest automated decision-making, niezależnie od teoretycznych możliwości systemu.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26077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Obie perspektywy są racjonalne. Obie mają podstawy w interpretacjach RODO. I tu jest problem: dopóki nie będzie pierwszych orzeczeń, nie będzie pewności. A wy musicie podjąć decyzję projektując system, nie czekając na wyrok.</a:t>
            </a:r>
            <a:endParaRPr lang="en-US" sz="15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808553"/>
            <a:ext cx="746700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Werdykt: Perspektywa prawna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82546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Daję wam moją ocenę - jako prawnik, nie jako trener. To nie jest jedyna możliwa interpretacja, ale jest to interpretacja, którą prawdopodobnie przyjmie organ nadzorczy.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68378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868204" y="272099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300" dirty="0"/>
          </a:p>
        </p:txBody>
      </p:sp>
      <p:sp>
        <p:nvSpPr>
          <p:cNvPr id="6" name="Text 4"/>
          <p:cNvSpPr/>
          <p:nvPr/>
        </p:nvSpPr>
        <p:spPr>
          <a:xfrm>
            <a:off x="1438632" y="2752011"/>
            <a:ext cx="3537347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Art. 22 RODO: TAK, to jest automated decision-making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438632" y="3491389"/>
            <a:ext cx="3537347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jest zautomatyzowane podejmowanie indywidualnych decyzji, które wywołuje skutki prawne wobec Pana Nowaka (odmowa wypłaty z ubezpieczenia to skutek prawny).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438632" y="5515689"/>
            <a:ext cx="3537347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Pan Nowak ma prawo do interwencji człowieka, wyrażenia własnego stanowiska i zakwestionowania decyzji. Jeśli firma nie zapewniła tej ścieżki - narusza RODO, niezależnie od AI Act.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23986" y="268378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298400" y="272099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5868829" y="2752011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AI Act: Potencjalnie high-risk system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868829" y="3491389"/>
            <a:ext cx="3537466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oceny roszczeń ubezpieczeniowych to potencjalnie Aneks III, punkt 5a: „systemy AI przeznaczone do stosowania w celu oceny i klasyfikacji roszczeń ubezpieczeniowych osób fizycznych."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868829" y="5833229"/>
            <a:ext cx="353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tak - pełne obowiązki high-risk: dokumentacja techniczna, human oversight, monitoring, logowanie.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654302" y="2683788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Text 13"/>
          <p:cNvSpPr/>
          <p:nvPr/>
        </p:nvSpPr>
        <p:spPr>
          <a:xfrm>
            <a:off x="9728716" y="2720995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300" dirty="0"/>
          </a:p>
        </p:txBody>
      </p:sp>
      <p:sp>
        <p:nvSpPr>
          <p:cNvPr id="16" name="Text 14"/>
          <p:cNvSpPr/>
          <p:nvPr/>
        </p:nvSpPr>
        <p:spPr>
          <a:xfrm>
            <a:off x="10299144" y="2752011"/>
            <a:ext cx="353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Odpowiedzialność: Firma jako deployer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0299144" y="3491389"/>
            <a:ext cx="353746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 odpowiada jako deployer. Nie dostawca AI. Firma wdrożyła agenta, ustawiła próg 10 000 złotych na autonomiczne decyzje, nie zapewniła human oversight.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10299144" y="5198150"/>
            <a:ext cx="353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jest decyzja firmy, nie decyzja AI.</a:t>
            </a:r>
            <a:endParaRPr lang="en-US" sz="15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98821"/>
            <a:ext cx="1150108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Kluczowy wniosek: Autonomia zwiększa odpowiedzialność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1091446" y="3115032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 bardziej autonomiczny agent, tym większa odpowiedzialność deployera za zaprojektowanie procesu, w którym ten agent działa.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1446" y="3655814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Autonomia AI nie zmniejsza waszej odpowiedzialności - zwiększa ją.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2891790"/>
            <a:ext cx="22860" cy="1304806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93790" y="441983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jest paradoks agentów AI. Wydaje się, że jeśli system działa samodzielnie, to on ponosi odpowiedzialność. Ale prawnie jest odwrotnie: im mniej kontroli człowieka nad pojedynczą decyzją, tym większa odpowiedzialność za zaprojektowanie całego procesu.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278160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Mówicie: „przecież wdrożyliśmy system od renomowanego dostawcy, przeszedł audyt, spełnia standardy." I to prawda. Ale to nie zmienia faktu, że to wy zdecydowaliście, że dla roszczeń poniżej 10 000 złotych nie będzie human oversight. To nie była decyzja dostawcy AI - to była wasza decyzja biznesowa.</a:t>
            </a:r>
            <a:endParaRPr lang="en-US" sz="15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91991"/>
            <a:ext cx="5150168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powinniście mieli przygotowane</a:t>
            </a:r>
            <a:endParaRPr lang="en-US" sz="2300" dirty="0"/>
          </a:p>
        </p:txBody>
      </p:sp>
      <p:sp>
        <p:nvSpPr>
          <p:cNvPr id="3" name="Text 1"/>
          <p:cNvSpPr/>
          <p:nvPr/>
        </p:nvSpPr>
        <p:spPr>
          <a:xfrm>
            <a:off x="793790" y="1287304"/>
            <a:ext cx="1304282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Wracamy do pytania czwartego: co powinniście mieli przygotowane zanim UODO zapuka do drzwi? Konkretna lista, którą możecie zweryfikować w swojej firmie jutro: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93790" y="1621155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809030" y="1636395"/>
            <a:ext cx="595313" cy="862608"/>
          </a:xfrm>
          <a:prstGeom prst="roundRect">
            <a:avLst>
              <a:gd name="adj" fmla="val 7430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991195" y="1928098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1515904" y="1785223"/>
            <a:ext cx="293131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Klasyfikacja systemu pod AI Act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1515904" y="2084665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Dokumentacja klasyfikacyjna: dlaczego uznaliście (lub nie) system za high-risk. Flowchart decyzyjny. Data klasyfikacji.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3790" y="2625804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809030" y="2641044"/>
            <a:ext cx="595313" cy="862608"/>
          </a:xfrm>
          <a:prstGeom prst="roundRect">
            <a:avLst>
              <a:gd name="adj" fmla="val 7430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991195" y="2932748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1515904" y="2789873"/>
            <a:ext cx="386298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Ocena skutków dla ochrony danych (DPIA)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1515904" y="3089315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RODO wymaga DPIA dla automated decision-making. Jeśli jej nie ma - naruszenie art. 35 RODO.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3790" y="3630454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809030" y="3645694"/>
            <a:ext cx="595313" cy="862608"/>
          </a:xfrm>
          <a:prstGeom prst="roundRect">
            <a:avLst>
              <a:gd name="adj" fmla="val 7430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991195" y="3937397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1515904" y="3794522"/>
            <a:ext cx="251460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Procedura human oversight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1515904" y="4093964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 klient żąda weryfikacji przez człowieka? Gdzie jest ta informacja w procesie? Kto weryfikuje? W jakim czasie?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93790" y="4635103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809030" y="4650343"/>
            <a:ext cx="595313" cy="862608"/>
          </a:xfrm>
          <a:prstGeom prst="roundRect">
            <a:avLst>
              <a:gd name="adj" fmla="val 7430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991195" y="4942046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750" dirty="0"/>
          </a:p>
        </p:txBody>
      </p:sp>
      <p:sp>
        <p:nvSpPr>
          <p:cNvPr id="22" name="Text 20"/>
          <p:cNvSpPr/>
          <p:nvPr/>
        </p:nvSpPr>
        <p:spPr>
          <a:xfrm>
            <a:off x="1515904" y="4799171"/>
            <a:ext cx="2029897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Klauzula informacyjna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1515904" y="5098613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Czy Pan Nowak został poinformowany, że decyzję podejmuje system AI? Czy wie, że ma prawo do interwencji człowieka?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93790" y="5639753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809030" y="5654993"/>
            <a:ext cx="595313" cy="862608"/>
          </a:xfrm>
          <a:prstGeom prst="roundRect">
            <a:avLst>
              <a:gd name="adj" fmla="val 7430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991195" y="5946696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750" dirty="0"/>
          </a:p>
        </p:txBody>
      </p:sp>
      <p:sp>
        <p:nvSpPr>
          <p:cNvPr id="27" name="Text 25"/>
          <p:cNvSpPr/>
          <p:nvPr/>
        </p:nvSpPr>
        <p:spPr>
          <a:xfrm>
            <a:off x="1515904" y="5803821"/>
            <a:ext cx="1999893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Umowa z dostawcą AI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1515904" y="6103263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Podział odpowiedzialności. Kto za co odpowiada gdy system podejmie błędną decyzję.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793790" y="6644402"/>
            <a:ext cx="13042821" cy="893088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1524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0" name="Shape 28"/>
          <p:cNvSpPr/>
          <p:nvPr/>
        </p:nvSpPr>
        <p:spPr>
          <a:xfrm>
            <a:off x="809030" y="6659642"/>
            <a:ext cx="595313" cy="862608"/>
          </a:xfrm>
          <a:prstGeom prst="roundRect">
            <a:avLst>
              <a:gd name="adj" fmla="val 7430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1" name="Text 29"/>
          <p:cNvSpPr/>
          <p:nvPr/>
        </p:nvSpPr>
        <p:spPr>
          <a:xfrm>
            <a:off x="991195" y="6951345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750" dirty="0"/>
          </a:p>
        </p:txBody>
      </p:sp>
      <p:sp>
        <p:nvSpPr>
          <p:cNvPr id="32" name="Text 30"/>
          <p:cNvSpPr/>
          <p:nvPr/>
        </p:nvSpPr>
        <p:spPr>
          <a:xfrm>
            <a:off x="1515904" y="6808470"/>
            <a:ext cx="186059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Logi i monitoring</a:t>
            </a:r>
            <a:endParaRPr lang="en-US" sz="1450" dirty="0"/>
          </a:p>
        </p:txBody>
      </p:sp>
      <p:sp>
        <p:nvSpPr>
          <p:cNvPr id="33" name="Text 31"/>
          <p:cNvSpPr/>
          <p:nvPr/>
        </p:nvSpPr>
        <p:spPr>
          <a:xfrm>
            <a:off x="1515904" y="7107912"/>
            <a:ext cx="12156638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loguje wszystkie decyzje? Możecie odtworzyć dlaczego agent odmówił wypłaty Panu Nowakowi?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80774"/>
            <a:ext cx="611338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Niuans: Agenci AI w medycynie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27374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Krótki komentarz z perspektywy habilitacji, którą przygotowuję. Ten sam problem dotyczy medycyny - i tam jest jeszcze bardziej dotkliwy.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81452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AI, który autonomicznie sugeruje diagnozę lub odmawia zabiegu, rodzi identyczne pytania o odpowiedzialność i autonomię pacjenta wobec decyzji algorytmu. Z tą różnicą, że w medycynie stawka nie jest finansowa - jest zdrowotna.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67284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Wyobraźcie sobie agenta AI, który analizuje objawy, dostęp do NFZ, kolejki i decyduje: ten pacjent dostaje skierowanie na MRI, ten nie. Autonomicznie. Kto odpowiada gdy okaże się, że pacjent bez skierowania miał nowotwór?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53116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Regulacja w tym zakresie dopiero się kształtuje. Ale problem jest tu i teraz.</a:t>
            </a:r>
            <a:endParaRPr lang="en-US" sz="15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896898"/>
            <a:ext cx="915591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12852" y="956429"/>
            <a:ext cx="67746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CZĘŚĆ B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349335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Scenariusz 2: Shadow AI - pracownicy już to wdrożyli za was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288714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Wracamy do danych z Bloku 1, ale teraz stawiamy je w kontekście konkretnej decyzji zarządczej.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527108"/>
            <a:ext cx="6397347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80%</a:t>
            </a:r>
            <a:endParaRPr lang="en-US" sz="5150" dirty="0"/>
          </a:p>
        </p:txBody>
      </p:sp>
      <p:sp>
        <p:nvSpPr>
          <p:cNvPr id="7" name="Text 5"/>
          <p:cNvSpPr/>
          <p:nvPr/>
        </p:nvSpPr>
        <p:spPr>
          <a:xfrm>
            <a:off x="1100018" y="4430078"/>
            <a:ext cx="57847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Pracowników używa AI bez wiedzy pracodawcy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859298"/>
            <a:ext cx="6397347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PwC Polska, 2025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39144" y="3527108"/>
            <a:ext cx="6397466" cy="654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150"/>
              </a:lnSpc>
              <a:buNone/>
            </a:pPr>
            <a:r>
              <a:rPr lang="en-US" sz="5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58,5%</a:t>
            </a:r>
            <a:endParaRPr lang="en-US" sz="5150" dirty="0"/>
          </a:p>
        </p:txBody>
      </p:sp>
      <p:sp>
        <p:nvSpPr>
          <p:cNvPr id="10" name="Text 8"/>
          <p:cNvSpPr/>
          <p:nvPr/>
        </p:nvSpPr>
        <p:spPr>
          <a:xfrm>
            <a:off x="7439144" y="4430078"/>
            <a:ext cx="6397466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Organizacji nie widzi związku między AI a danymi osobowymi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439144" y="5169456"/>
            <a:ext cx="6397466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UODO, styczeń 2026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793790" y="571023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Połączcie te dwie liczby. 80% waszych ludzi używa AI. Ponad połowa waszych organizacji nie widzi w tym problemu z danymi osobowymi. I nikt nie kontroluje, co wlatuje do tych narzędzi.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1091446" y="6791801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nie jest scenariusz przyszłości. To jest opis waszego poniedziałku.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93790" y="6568559"/>
            <a:ext cx="22860" cy="764024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2591"/>
            <a:ext cx="770191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Scenariusz: Dział marketingu i ChatGPT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575560"/>
            <a:ext cx="13042821" cy="3971330"/>
          </a:xfrm>
          <a:prstGeom prst="roundRect">
            <a:avLst>
              <a:gd name="adj" fmla="val 2099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2850237"/>
            <a:ext cx="310039" cy="2480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0545" y="2823448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Sytuacja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00545" y="3331964"/>
            <a:ext cx="121377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Jesteście firmą produkcyjną, 500 pracowników, trzy zakłady, centrala w Warszawie.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00545" y="3828098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piątek o 16:00 dostajesz telefon od szefa IT. Przy okazji audytu bezpieczeństwa IT odkrył, że dział marketingu od sześciu miesięcy korzysta z ChatGPT w wersji darmowej.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0545" y="4641771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Cały dział - osiem osób. Wklejają tam: strategie produktowe, dane o klientach (imiona, firmy, wolumeny zamówień), cenniki, analizy konkurencji, drafty ofert.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00545" y="5455444"/>
            <a:ext cx="121377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Sześć miesięcy, codziennie, bez wiedzy kogokolwiek poza działem.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00545" y="5951577"/>
            <a:ext cx="121377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poniedziałek rano macie zarząd. Co mówicie?</a:t>
            </a:r>
            <a:endParaRPr lang="en-US" sz="15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5988"/>
            <a:ext cx="699015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Pytania do sali - 5 minut na refleksję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07895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68204" y="311616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147179"/>
            <a:ext cx="575250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Jakie ryzyka prawne właśnie się zmaterializowały?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3886557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Wymieńcie konkretne podstawy prawne - które artykuły RODO, KC, innych ustaw zostały naruszone.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39144" y="307895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513558" y="3116163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083987" y="3147179"/>
            <a:ext cx="395537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Czy musicie powiadomić UODO?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83987" y="3576399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Czy to jest naruszenie ochrony danych wymagające notyfikacji w 72 godziny?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918472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868204" y="495567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4986695"/>
            <a:ext cx="401847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robicie z działem marketingu?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5415915"/>
            <a:ext cx="5752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Zakazujecie natychmiast? Sankcjonujecie? Legalizujecie?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39144" y="4918472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7513558" y="4955679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083987" y="4986695"/>
            <a:ext cx="575262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Jakie trzy działania podejmujecie w pierwszym tygodniu?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83987" y="5726073"/>
            <a:ext cx="575262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Konkretne kroki - kto, co, kiedy.</a:t>
            </a:r>
            <a:endParaRPr lang="en-US" sz="15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2454"/>
            <a:ext cx="915031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Perspektywy z sali: Zakazać czy zalegalizować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385423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dyskusjach z grupami MBA zazwyczaj pojawiają się dwa obozy. Pierwszy mówi: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zakazać natychmiast i ukarać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Pracownicy złamali zasady bezpieczeństwa, wystawili firmę na ryzyko, musieli wiedzieć że to niewłaściwe. Sankcje dyscyplinarne, całkowity zakaz AI do czasu wdrożenia polityki.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56128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Drugi obóz mówi: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zalegalizować i uregulować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Ludzie używali AI bo nikt im nie powiedział że nie wolno, nikt nie dał alternatywy, nikt nie dał narzędzi. Zakaz nie rozwiąże problemu - ludzie znajdą inne narzędzia, jeszcze bardziej niewidoczne. Trzeba dać im legalną ścieżkę.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41960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Obie perspektywy są racjonalne. I obie mają konsekwencje - zarówno prawne, jak i organizacyjne.</a:t>
            </a:r>
            <a:endParaRPr lang="en-US" sz="15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4853"/>
            <a:ext cx="817852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Werdykt: Analiza ryzyk prawnych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70176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Zacznijmy od konkretów. Jakie ryzyka prawne się zmaterializowały? Wymieniam po kolei, z podstawami prawnymi: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242548"/>
            <a:ext cx="13042821" cy="3302079"/>
          </a:xfrm>
          <a:prstGeom prst="roundRect">
            <a:avLst>
              <a:gd name="adj" fmla="val 2524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801410" y="3250168"/>
            <a:ext cx="4342448" cy="3286839"/>
          </a:xfrm>
          <a:prstGeom prst="roundRect">
            <a:avLst>
              <a:gd name="adj" fmla="val 2536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999768" y="34485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RODO, art. 5 i 6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999768" y="3877747"/>
            <a:ext cx="394573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Przetwarzanie danych osobowych klientów (imiona, firmy, wolumeny) bez podstawy prawnej, bez klauzuli informacyjnej, bez oceny skutków.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999768" y="5266968"/>
            <a:ext cx="394573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trafiły do podmiotu trzeciego (OpenAI) bez umowy powierzenia przetwarzania.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143857" y="3250168"/>
            <a:ext cx="4342567" cy="3286839"/>
          </a:xfrm>
          <a:prstGeom prst="rect">
            <a:avLst/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5143857" y="3250168"/>
            <a:ext cx="22860" cy="3286839"/>
          </a:xfrm>
          <a:prstGeom prst="roundRect">
            <a:avLst>
              <a:gd name="adj" fmla="val 364651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342215" y="34485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RODO, art. 32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342215" y="3877747"/>
            <a:ext cx="39458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Brak odpowiednich środków technicznych i organizacyjnych.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342215" y="4631888"/>
            <a:ext cx="394585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Firma nie miała polityki AI, nie kontrolowała przepływu danych do narzędzi zewnętrznych.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486424" y="3250168"/>
            <a:ext cx="4342567" cy="3286839"/>
          </a:xfrm>
          <a:prstGeom prst="rect">
            <a:avLst/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9486424" y="3250168"/>
            <a:ext cx="22860" cy="3286839"/>
          </a:xfrm>
          <a:prstGeom prst="roundRect">
            <a:avLst>
              <a:gd name="adj" fmla="val 364651"/>
            </a:avLst>
          </a:prstGeom>
          <a:solidFill>
            <a:srgbClr val="2A1999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9684782" y="3448526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RODO, art. 33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84782" y="3877747"/>
            <a:ext cx="39458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Pytanie o notyfikację. Czy dane trafiły do treningu modelu?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84782" y="4631888"/>
            <a:ext cx="3945850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tak (w darmowej wersji ChatGPT - tak, domyślnie) - to jest naruszenie poufności danych osobowych.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84782" y="5703570"/>
            <a:ext cx="3945850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Notyfikacja do UODO w 72 godziny od momentu stwierdzenia naruszenia.</a:t>
            </a:r>
            <a:endParaRPr lang="en-US" sz="15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41496"/>
            <a:ext cx="428255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Dalsze ryzyka prawne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70930" y="3311604"/>
            <a:ext cx="45720" cy="2499241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1037868" y="3334464"/>
            <a:ext cx="299573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Kodeks cywilny, art. 430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1037868" y="3763685"/>
            <a:ext cx="615326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Odpowiedzialność pracodawcy za podwładnego na zasadzie ryzyka. Jeśli klient poniesie szkodę z powodu wycieku danych - firma odpowiada, niezależnie od winy pracownika.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37868" y="4835366"/>
            <a:ext cx="615326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możecie powiedzieć: „to nie nasza wina, pracownicy działali samowolnie." Prawnie odpowiada firma.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16284" y="3311604"/>
            <a:ext cx="45720" cy="2499241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683222" y="3334464"/>
            <a:ext cx="342328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Tajemnica przedsiębiorstwa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683222" y="3763685"/>
            <a:ext cx="615338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Strategie produktowe, cenniki, analizy konkurencji - to prawdopodobnie spełnia definicję tajemnicy przedsiębiorstwa z ustawy o zwalczaniu nieuczciwej konkurencji.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683222" y="4835366"/>
            <a:ext cx="6153388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Ujawnienie jej podmiotowi trzeciemu może rodzić odpowiedzialność - zarówno pracowników, jak i firmy za brak zabezpieczeń.</a:t>
            </a:r>
            <a:endParaRPr lang="en-US" sz="15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2063"/>
            <a:ext cx="1026199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Pytanie o notyfikację: kiedy zaczyna biec 72 godziny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11503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jest punkt, który często umyka w analizie. RODO wymaga notyfikacji do UODO w 72 godziny od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momentu stwierdzenia naruszenia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nie od momentu naruszenia.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97335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 tym scenariuszu moment stwierdzenia naruszenia to piątek o 16:00, kiedy szef IT zadzwonił do was. Nie poniedziałek rano, kiedy macie zarząd.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83167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dane osobowe trafiły do treningu modelu ChatGPT (a w darmowej wersji domyślnie trafiają), to jest naruszenie poufności danych. I musicie notyfikować UODO do wtorku do południa - niezależnie od tego, czy zdążyliście ustalić pełną skalę problemu.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68999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Możecie zgłosić wstępnie, z zastrzeżeniem że pełna analiza trwa. Ale zgłosić musicie.</a:t>
            </a:r>
            <a:endParaRPr lang="en-US" sz="15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8430"/>
            <a:ext cx="620780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robicie z działem marketingu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62139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Wracamy do pytania trzeciego: zakazujecie, sankcjonujecie, legalizujecie?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16218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Moja rekomendacja - i to jest perspektywa prawna, ale też organizacyjna: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91446" y="3926205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Ludzie z działu marketingu nie zrobili tego ze złośliwości. Zrobili to dlatego, że nikt im nie powiedział, że nie wolno. Nikt nie dał im alternatywy. Nikt nie dał im polityki.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1446" y="4784527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jest wina zarządu, nie marketingu.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3702963"/>
            <a:ext cx="22860" cy="1622346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93790" y="5548551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mówię, że nie powinniście interweniować. Mówię, że sankcje wobec pracowników nie rozwiążą problemu strukturalnego. Jeśli marketing używał ChatGPT, prawdopodobnie inne działy też. Jeśli zakazujecie bez dania alternatywy - ludzie znajdą inne narzędzia, jeszcze mniej widoczne.</a:t>
            </a:r>
            <a:endParaRPr lang="en-US" sz="15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7409"/>
            <a:ext cx="9002197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Trzy działania w pierwszym tygodniu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19432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Daję wam konkretną rekomendację - trzy działania, które podejmujecie natychmiast: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7351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049429"/>
            <a:ext cx="4215289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93790" y="3194328"/>
            <a:ext cx="4215289" cy="9304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Natychmiastowe wstrzymanie korzystania z nieautoryzowanych narzędzi AI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243864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Ale nie jako kara, a jako środek zabezpieczający na czas ustalenia skali problemu.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315545"/>
            <a:ext cx="421528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Komunikat do całej firmy: „Musimy zrozumieć co się stało, zanim zdecydujemy co dalej. Do odwołania - wstrzymujemy korzystanie z narzędzi AI, które nie zostały zatwierdzone przez IT i prawny."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207437" y="27351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5207437" y="3049429"/>
            <a:ext cx="4215408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5207437" y="3194328"/>
            <a:ext cx="4215408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Inwentaryzacja - nie tylko dział marketingu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5207437" y="3933706"/>
            <a:ext cx="4215408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marketing to robił, prawdopodobnie inne działy też. Anonimowa ankieta w całej firmie: „Z jakich narzędzi AI korzystasz w pracy? Od kiedy? Jakie dane tam wrzucasz?"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5207437" y="5640467"/>
            <a:ext cx="42154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Anonimowa - żeby ludzie nie bali się odpowiedzieć szczerze.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21203" y="2735104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9621203" y="3049429"/>
            <a:ext cx="4215289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9621203" y="3194328"/>
            <a:ext cx="411134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Ocena skali naruszenia pod RODO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9621203" y="3623548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Ile danych osobowych trafiło na zewnątrz? Jakich kategorii? Czyich? Czy trafiły do treningu modelu?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9621203" y="4695230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 tej podstawie decyzja o notyfikacji UODO i komunikacji z klientami.</a:t>
            </a:r>
            <a:endParaRPr lang="en-US" sz="15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40267"/>
            <a:ext cx="548497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mówicie CFO i zarządowi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03323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 będzie pytał o koszty. Zarząd będzie pytał o odpowiedzialność. Dajecie im jeden przekaz: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574018"/>
            <a:ext cx="13042821" cy="1974413"/>
          </a:xfrm>
          <a:prstGeom prst="roundRect">
            <a:avLst>
              <a:gd name="adj" fmla="val 4222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3876913"/>
            <a:ext cx="248007" cy="19835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38513" y="3821906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„Nie mamy luki w zabezpieczeniach IT. Mamy lukę w polityce i komunikacji. Ludzie nie wiedzieli, że nie wolno - bo nikt im tego nie powiedział. I nie mieli alternatywy - bo nikt jej nie zapewnił."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38513" y="4635579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„Natychmiastowym zakazem nie rozwiążemy problemu. Rozwiążemy go dając ludziom zatwierdzone narzędzia, jasną politykę i szkolenie. I to robimy w najbliższych czterech tygodniach."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93790" y="577167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nie jest usprawiedliwienie dla działu marketingu. To jest diagnoza problemu na poziomie zarządzania organizacją.</a:t>
            </a:r>
            <a:endParaRPr lang="en-US" sz="15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522452"/>
            <a:ext cx="511361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Związek z Digital Omnibus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41542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Pamiętacie złagodzenie obowiązku AI literacy z art. 4 AI Act przez Digital Omnibus? To nie zmienia nic w tej sytuacji.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95620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 odpowiedzialność nie wynika z AI Act - wynika z RODO, z Kodeksu cywilnego, z ustawy o tajemnicy przedsiębiorstwa. Omnibus łagodzi administracyjny obowiązek szkoleniowy. Ale cywilna odpowiedzialność za brak szkoleń, brak polityki, brak nadzoru - zostaje w całości.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81452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klient pójdzie do sądu cywilnego z roszczeniem o odszkodowanie za wyciek danych, sąd nie zapyta o AI Act. Sąd zapyta: czy dochowaliście należytej staranności w zarządzaniu ryzykiem? Czy zapewniliście pracownikom szkolenie, narzędzia, politykę?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67284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jeśli odpowiedź brzmi „nie" - odpowiecie z art. 430 kc.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21362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754410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i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Art.  430. [Szkoda wyrządzona przez podwładnego]  Kto na własny rachunek powierza wykonanie czynności osobie, która przy wykonywaniu tej czynności podlega jego kierownictwu i ma obowiązek stosować się do jego wskazówek, ten jest odpowiedzialny za szkodę wyrządzoną z winy tej osoby przy wykonywaniu powierzonej jej czynności.</a:t>
            </a:r>
            <a:r>
              <a:rPr lang="en-US" sz="1550" u="sng" dirty="0">
                <a:solidFill>
                  <a:srgbClr val="7B66FF"/>
                </a:solidFill>
                <a:latin typeface="Inter" pitchFamily="34" charset="0"/>
                <a:ea typeface="Inter" pitchFamily="34" charset="-122"/>
                <a:cs typeface="Inter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0</a:t>
            </a:r>
            <a:endParaRPr lang="en-US" sz="15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531745"/>
            <a:ext cx="927616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12852" y="2591276"/>
            <a:ext cx="68949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CZĘŚĆ C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984183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Scenariusz 3: Digital Omnibus zmienił wam kalendarz — i co teraz?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52199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Ostatni scenariusz jest inny od dwóch poprzednich. Tamte dotyczyły ryzyk, które się materializują - agent podjął złą decyzję, pracownicy wrzucili dane.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38031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Ten dotyczy decyzji, którą musicie podjąć proaktywnie. I nie ma jednej dobrej odpowiedzi.</a:t>
            </a:r>
            <a:endParaRPr lang="en-US" sz="15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71888"/>
            <a:ext cx="983372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Scenariusz: Firma SaaS z modułem AI do rekrutacji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2664857"/>
            <a:ext cx="13042821" cy="3792736"/>
          </a:xfrm>
          <a:prstGeom prst="roundRect">
            <a:avLst>
              <a:gd name="adj" fmla="val 2198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2939534"/>
            <a:ext cx="310039" cy="24800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00545" y="291274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Sytuacja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1500545" y="3421261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Jesteście firmą technologiczną, 200 osób, rozwijacie oprogramowanie SaaS dla sektora HR - system do zarządzania procesami rekrutacyjnymi z modułem AI do preselekcji CV.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500545" y="4234934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Wasz produkt jest na rynku od 2024 roku. W marcu 2025 wasz dział prawny zidentyfikował, że moduł AI do preselekcji CV jest prawdopodobnie systemem high-risk pod AI Act (Aneks III, punkt 4a: systemy AI do rekrutacji i selekcji kandydatów).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0545" y="5048607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Zarząd podjął decyzję o uruchomieniu projektu compliance. Wydaliście 200 000 złotych: audyt klasyfikacyjny, przygotowanie dokumentacji technicznej, budowa systemu zarządzania jakością z art. 17, przygotowanie do oceny zgodności.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00545" y="5862280"/>
            <a:ext cx="121377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 zakładał pełną gotowość na 2 sierpnia 2026.</a:t>
            </a:r>
            <a:endParaRPr lang="en-US" sz="15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28430"/>
            <a:ext cx="688467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 teraz - luty 2026 - Digital Omnibus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621399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Dowiadujecie się o Digital Omnibus. Komisja Europejska proponuje odroczenie obowiązków high-risk.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162181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Mechanizm „stop-the-clock": obowiązki wchodzą 6 miesięcy po potwierdzeniu dostępności standardów, ale nie później niż 2 grudnia 2027.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02050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CEN-CENELEC sygnalizuje, że standardy mogą nie być gotowe przed grudniem 2026. Realistycznie: obowiązki high-risk wejdą pod koniec 2027, nie w sierpniu 2026.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87882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CFO przychodzi do was i mówi: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91446" y="5642848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„Wydaliśmy 200 tysięcy. Termin się przesunął o 16 miesięcy. Wstrzymujemy projekt? Przenosimy budżet na rozwój produktu? Konkurencja nie robi compliance - dlaczego my mamy?"</a:t>
            </a:r>
            <a:endParaRPr lang="en-US" sz="1550" dirty="0"/>
          </a:p>
        </p:txBody>
      </p:sp>
      <p:sp>
        <p:nvSpPr>
          <p:cNvPr id="8" name="Shape 6"/>
          <p:cNvSpPr/>
          <p:nvPr/>
        </p:nvSpPr>
        <p:spPr>
          <a:xfrm>
            <a:off x="793790" y="5419606"/>
            <a:ext cx="22860" cy="1081564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344698"/>
            <a:ext cx="699015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Pytania do sali - 5 minut na refleksję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23766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4" name="Text 2"/>
          <p:cNvSpPr/>
          <p:nvPr/>
        </p:nvSpPr>
        <p:spPr>
          <a:xfrm>
            <a:off x="868204" y="327487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438632" y="3305889"/>
            <a:ext cx="5752505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Wstrzymujecie projekt compliance czy kontynuujecie?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1438632" y="4045268"/>
            <a:ext cx="5752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Uzasadnijcie swoją decyzję.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439144" y="3237667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7513558" y="3274874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8083987" y="3305889"/>
            <a:ext cx="5559623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Jakie ryzyka widzicie w każdym z wariantów?</a:t>
            </a:r>
            <a:endParaRPr lang="en-US" sz="1950" dirty="0"/>
          </a:p>
        </p:txBody>
      </p:sp>
      <p:sp>
        <p:nvSpPr>
          <p:cNvPr id="10" name="Text 8"/>
          <p:cNvSpPr/>
          <p:nvPr/>
        </p:nvSpPr>
        <p:spPr>
          <a:xfrm>
            <a:off x="8083987" y="3735110"/>
            <a:ext cx="575262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Wstrzymanie vs kontynuacja - wady i zalety.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793790" y="475964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868204" y="479685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1438632" y="482786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mówicie CFO?</a:t>
            </a:r>
            <a:endParaRPr lang="en-US" sz="1950" dirty="0"/>
          </a:p>
        </p:txBody>
      </p:sp>
      <p:sp>
        <p:nvSpPr>
          <p:cNvPr id="14" name="Text 12"/>
          <p:cNvSpPr/>
          <p:nvPr/>
        </p:nvSpPr>
        <p:spPr>
          <a:xfrm>
            <a:off x="1438632" y="5257086"/>
            <a:ext cx="5752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Konkretne argumenty - finansowe, prawne, strategiczne.</a:t>
            </a:r>
            <a:endParaRPr lang="en-US" sz="1550" dirty="0"/>
          </a:p>
        </p:txBody>
      </p:sp>
      <p:sp>
        <p:nvSpPr>
          <p:cNvPr id="15" name="Shape 13"/>
          <p:cNvSpPr/>
          <p:nvPr/>
        </p:nvSpPr>
        <p:spPr>
          <a:xfrm>
            <a:off x="7439144" y="475964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7513558" y="4796850"/>
            <a:ext cx="297656" cy="372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00"/>
              </a:lnSpc>
              <a:buNone/>
            </a:pPr>
            <a:r>
              <a:rPr lang="en-US" sz="23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2300" dirty="0"/>
          </a:p>
        </p:txBody>
      </p:sp>
      <p:sp>
        <p:nvSpPr>
          <p:cNvPr id="17" name="Text 15"/>
          <p:cNvSpPr/>
          <p:nvPr/>
        </p:nvSpPr>
        <p:spPr>
          <a:xfrm>
            <a:off x="8083987" y="4827865"/>
            <a:ext cx="5752624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 komunikujecie decyzję klientom waszego produktu?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83987" y="5567243"/>
            <a:ext cx="575262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mówicie firmom HR, które używają waszego systemu?</a:t>
            </a:r>
            <a:endParaRPr lang="en-US" sz="15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6341"/>
            <a:ext cx="9495592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Perspektywy z sali: Wstrzymanie vs kontynuacja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09931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jest najciekawsza dyskusja dnia, bo nie ma jednej poprawnej odpowiedzi. Argumenty za wstrzymaniem są racjonalne ekonomicznie. Argumenty za kontynuacją są racjonalne strategicznie i prawnie.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95763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Zazwyczaj na sali MBA pojawiają się dwa obozy: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6967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 wstrzymaniem</a:t>
            </a:r>
            <a:endParaRPr lang="en-US" sz="1950" dirty="0"/>
          </a:p>
        </p:txBody>
      </p:sp>
      <p:sp>
        <p:nvSpPr>
          <p:cNvPr id="6" name="Text 4"/>
          <p:cNvSpPr/>
          <p:nvPr/>
        </p:nvSpPr>
        <p:spPr>
          <a:xfrm>
            <a:off x="793790" y="4205288"/>
            <a:ext cx="6279356" cy="25404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tysięcy wydane, następne 200 zaplanowane - to ogromny koszt dla firmy 200-osobowej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Termin przesunął się o 16 miesięcy - te pieniądze mogą pracować na rozwój produktu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Konkurencja nie robi compliance - robienie go wcześniej nie daje przewagi, bo klienci jeszcze tego nie wymagają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Standardy nie są gotowe - lepiej poczekać i zrobić to raz dobrze, niż robić dwa razy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564874" y="3696772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 kontynuacją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564874" y="4205288"/>
            <a:ext cx="6279356" cy="2222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Omnibus to propozycja, nie prawo - może nie przejść lub się zmienić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Standardy mogą być gotowe wcześniej niż grudzień 2026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co zrobiliście nie traci wartości - to fundament, nie stracony koszt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Klienci zaczną pytać o zgodność - przewaga konkurencyjna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Odpowiedzialność cywilna nie czeka na standardy</a:t>
            </a:r>
            <a:endParaRPr lang="en-US" sz="15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67144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Werdykt: Struktura myślenia, nie jednoznaczna odpowiedź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50413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dam wam jednoznacznej odpowiedzi - bo jej nie ma. Dam wam framework myślenia o tej decyzji.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504491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Zacznijmy od argumentów za kontynuacją - pięć powodów:</a:t>
            </a:r>
            <a:endParaRPr lang="en-US" sz="15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09994"/>
            <a:ext cx="1034760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 1: Digital Omnibus to propozycja, nie prawo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70296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Digital Omnibus został opublikowany przez Komisję Europejską 19 listopada 2025. To jest propozycja legislacyjna. Musi przejść przez Parlament Europejski i Radę Unii Europejskiej.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56128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Może nie przejść. Może się zmienić. Może wejść w innej wersji niż ta, którą widzicie teraz. Może wejść po sierpniu 2026, nie przed.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10206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Planujecie na gorszy scenariusz, nie na obietnicę odroczenia.</a:t>
            </a:r>
            <a:endParaRPr lang="en-US" sz="15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809994"/>
            <a:ext cx="1234511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 2: Standardy CEN-CENELEC - prognoza, nie pewność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70296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CEN-CENELEC sygnalizuje, że standardy harmonizowane mogą nie być gotowe przed grudniem 2026. Ale to prognoza, nie pewność.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24374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Mogą być gotowe wcześniej - choćby częściowo. Komisja może wydać guidelines wcześniej niż pełne standardy. AI Office może opublikować interpretacyjne dokumenty, które de facto staną się podstawą oceny zgodności.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10206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wtedy,  jeśli będziecie gotowi - macie przewagę. Jeśli nie - będziecie w tym miejscu, w którym inni byli rok wcześniej.</a:t>
            </a:r>
            <a:endParaRPr lang="en-US" sz="15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492454"/>
            <a:ext cx="908077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 3: To co zrobiliście nie traci wartości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38542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Wydaliście 200 tysięcy na audyt klasyfikacyjny, dokumentację techniczną, system zarządzania jakością. To nie jest stracony koszt. To jest wasza baza.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24374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Przesunięcie terminów oznacza, że macie czas na iterację i poprawę, nie że musicie zaczynać od nowa. System zarządzania jakością, który zbudowaliście - to nie jest dokument do szuflady. To jest narzędzie do zarządzania ryzykiem w produktach AI.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10206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Im dłużej z nim żyjecie, tym lepiej rozumiecie swój własny produkt. Widzicie gdzie są problemy, gdzie model się myli, jakie decyzje podejmuje. To jest learning curve, którego konkurencja nie będzie miała.</a:t>
            </a:r>
            <a:endParaRPr lang="en-US" sz="15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651165"/>
            <a:ext cx="746652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 4: Wasi klienci zaczną pyta-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54413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Firmy HR, które kupują wasz produkt, zaczną pytać: „Czy wasz system jest zgodny z AI Act?" Nie czekają na 2027. Pytają teraz - bo czytają te same analizy co wy, chodzą na te same szkolenia.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40245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możecie odpowiedzieć „tak, jesteśmy gotowi" - to jest przewaga konkurencyjna nad tymi, którzy wstrzymali projekty i odpowiadają „pracujemy nad tym."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526077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Szczególnie w sektorze publicznym i korporacjach - gdzie compliance jest wymogiem przetargowym, nie opcją.</a:t>
            </a:r>
            <a:endParaRPr lang="en-US" sz="15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222063"/>
            <a:ext cx="1224653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 5: Odpowiedzialność cywilna nie czeka na standardy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311503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jest argument, który często umyka w tej dyskusji. Jeśli wasz system podejmie błędną decyzję o odrzuceniu kandydata i kandydat pójdzie do sądu - sąd nie zapyta, czy CEN-CENELEC wydał standardy.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97335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Sąd zapyta: czy dochowaliście należytej staranności? Czy system był odpowiednio przetestowany, udokumentowany, monitorowany? Czy mieliście procedury weryfikacji błędnych decyzji?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83167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System zarządzania jakością z art. 17 AI Act (zarządzanie jakością) to nie jest tylko wymóg administracyjny. To jest dowód należytej staranności w ewentualnym procesie cywilnym.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689997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to nie czeka na standardy. To działa od momentu, gdy ktoś poniesie szkodę.</a:t>
            </a:r>
            <a:endParaRPr lang="en-US" sz="15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49887"/>
            <a:ext cx="854964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Argumenty za wstrzymaniem - dwa powody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84285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Teraz druga strona. Argumenty za wstrzymaniem są realne i zasadne: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383637"/>
            <a:ext cx="6422231" cy="2895957"/>
          </a:xfrm>
          <a:prstGeom prst="roundRect">
            <a:avLst>
              <a:gd name="adj" fmla="val 378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770930" y="3383637"/>
            <a:ext cx="91440" cy="2895957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83588" y="36048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Cash flow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083588" y="4034076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tysięcy wydane, następne 200 tysięcy zaplanowane na Q2-Q3 2026. To jest 20% rocznego budżetu na R&amp;D dla firmy waszej wielkości.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1083588" y="5105757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termin się przesuwa o 16 miesięcy - te pieniądze mogą pracować na rozwój produktu, marketing, sprzedaż. Rzeczy, które generują przychód teraz, nie za rok.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7414379" y="3383637"/>
            <a:ext cx="6422231" cy="2895957"/>
          </a:xfrm>
          <a:prstGeom prst="roundRect">
            <a:avLst>
              <a:gd name="adj" fmla="val 3789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7391519" y="3383637"/>
            <a:ext cx="91440" cy="2895957"/>
          </a:xfrm>
          <a:prstGeom prst="roundRect">
            <a:avLst>
              <a:gd name="adj" fmla="val 91163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7704177" y="3604855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Konkurencja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7704177" y="4034076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nikt w waszej branży nie robi compliance, robienie go wcześniej nie daje przewagi - bo klienci jeszcze tego nie wymagają.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7704177" y="5105757"/>
            <a:ext cx="591121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może nawet daje przewagę negatywną - bo musicie podnieść ceny, żeby pokryć koszty compliance, podczas gdy konkurencja oferuje tańsze rozwiązanie bez tego obciążenia.</a:t>
            </a:r>
            <a:endParaRPr lang="en-US" sz="15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356360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Moja rekomendacja: Nie wstrzymujcie, ale zmieńcie tempo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9335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Daję wam moją rekomendację - jako prawnik i jako ktoś, kto widział wiele projektów compliance w różnych branżach: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1446" y="3757374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wstrzymujcie. Ale zmieńcie tempo.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793790" y="3534132"/>
            <a:ext cx="22860" cy="764024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793790" y="452139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Zamiast sprintu na sierpień 2026, przejdźcie na maraton do końca 2027. Budżet rozłóżcie na dłuższy okres - zamiast 200 tysięcy w pół roku, 300 tysięcy w dwa lata.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379720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Priorytetyzujcie: dokumentacja techniczna i system zarządzania jakością najpierw, ocena zgodności później - bo na ocenę i tak potrzebujecie standardów.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623804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wykorzystajcie ten czas na jedną rzecz, której wstrzymanie by wam odebrało: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uczenie się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Im dłużej żyjecie z systemem zarządzania jakością, tym lepiej rozumiecie swój własny produkt.</a:t>
            </a:r>
            <a:endParaRPr lang="en-US" sz="15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184916"/>
            <a:ext cx="396942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mówicie CFO</a:t>
            </a:r>
            <a:endParaRPr lang="en-US" sz="3100" dirty="0"/>
          </a:p>
        </p:txBody>
      </p:sp>
      <p:sp>
        <p:nvSpPr>
          <p:cNvPr id="3" name="Shape 1"/>
          <p:cNvSpPr/>
          <p:nvPr/>
        </p:nvSpPr>
        <p:spPr>
          <a:xfrm>
            <a:off x="793790" y="3077885"/>
            <a:ext cx="13042821" cy="2966680"/>
          </a:xfrm>
          <a:prstGeom prst="roundRect">
            <a:avLst>
              <a:gd name="adj" fmla="val 2810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3380780"/>
            <a:ext cx="248007" cy="19835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38513" y="3325773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„Nie zmarnowaliśmy 200 tysięcy. Zbudowaliśmy fundament."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1438513" y="3821906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„Teraz mamy czas, żeby go dopracować - zamiast gasić pożar w lipcu 2027, gdy standardy wyjdą miesiąc wcześniej niż myśleliśmy."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1438513" y="4635579"/>
            <a:ext cx="1219973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„Konkurencja, która nie zaczęła, będzie za rok w tym miejscu, w którym my byliśmy rok temu. A my będziemy gotowi."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438513" y="5131713"/>
            <a:ext cx="1219973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„I jeden argument biznesowy: jeśli klient zapyta dziś 'czy jesteście gotowi na AI Act', możemy powiedzieć 'tak'. Jeśli wstrzymamy projekt - musimy powiedzieć 'pracujemy nad tym'. Które brzmi lepiej w przetargu?"</a:t>
            </a:r>
            <a:endParaRPr lang="en-US" sz="15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1673"/>
            <a:ext cx="4700230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Komunikacja z klientami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84464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Ostatnie pytanie: jak komunikujecie decyzję klientom waszego produktu?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8542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zależy od tego, jaką decyzję podejmujecie. Ale jedno jest pewne: nie możecie milczeć.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92620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kontynuujecie projekt, komunikat jest prosty: „Jesteśmy gotowi na AI Act. Nasz system przechodzi proces compliance, dokumentacja techniczna jest w trakcie finalizacji, będziemy w pełni zgodni z regulacją od dnia jej wejścia w życie."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784527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wstrzymujecie projekt, komunikat jest trudniejszy - ale wciąż możliwy: „Monitorujemy zmiany w AI Act, w tym propozycję Digital Omnibus. Nasze planie compliance są dostosowane do aktualnego harmonogramu regulacji. Zapewniamy pełną zgodność z terminami prawnymi."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96038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obiecujcie tego, czego nie możecie dotrzymać. Ale nie milczcie - bo milczenie klienci interpretują jako brak gotowości.</a:t>
            </a:r>
            <a:endParaRPr lang="en-US" sz="15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2841784"/>
            <a:ext cx="926306" cy="373142"/>
          </a:xfrm>
          <a:prstGeom prst="roundRect">
            <a:avLst>
              <a:gd name="adj" fmla="val 17872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12852" y="2901315"/>
            <a:ext cx="68818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CZĘŚĆ 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3294221"/>
            <a:ext cx="10465594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Zamknięcie dnia: Co robicie w poniedziałek</a:t>
            </a:r>
            <a:endParaRPr lang="en-US" sz="3900" dirty="0"/>
          </a:p>
        </p:txBody>
      </p:sp>
      <p:sp>
        <p:nvSpPr>
          <p:cNvPr id="5" name="Text 3"/>
          <p:cNvSpPr/>
          <p:nvPr/>
        </p:nvSpPr>
        <p:spPr>
          <a:xfrm>
            <a:off x="793790" y="421195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Kończę dzisiejszy dzień jedną rzeczą. Konkretną listą - co robicie, gdy wrócicie do firmy.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75273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nie jest 30-stronicowy plan wdrożenia AI governance. To jest plan minimum -  cztery tygodnie, cztery kroki, które możecie zrobić natychmiast, bez zatrudniania konsultantów, bez kupowania systemów, bez uruchamiania wielomiesięcznych projektów.</a:t>
            </a:r>
            <a:endParaRPr lang="en-US" sz="15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510546"/>
            <a:ext cx="1047869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2B0A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20472" y="1577697"/>
            <a:ext cx="794504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TYDZIEŃ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78223"/>
            <a:ext cx="1033700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Inwentaryzacja: Co macie i czego nie wiecie że macie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277201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Pierwszy tydzień poświęcacie na jedno zadanie: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zrobienie listy wszystkich narzędzi AI, które są w firmie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- oficjalnych i nieoficjalnych.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312795"/>
            <a:ext cx="4215289" cy="2547938"/>
          </a:xfrm>
          <a:prstGeom prst="roundRect">
            <a:avLst>
              <a:gd name="adj" fmla="val 327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999768" y="35187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Zapytajcie IT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999768" y="3947993"/>
            <a:ext cx="3803333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Jakie systemy AI są formalnie wdrożone, zakupione, zatwierdzone? Jakie umowy są podpisane z dostawcami?</a:t>
            </a:r>
            <a:endParaRPr lang="en-US" sz="1550" dirty="0"/>
          </a:p>
        </p:txBody>
      </p:sp>
      <p:sp>
        <p:nvSpPr>
          <p:cNvPr id="9" name="Shape 7"/>
          <p:cNvSpPr/>
          <p:nvPr/>
        </p:nvSpPr>
        <p:spPr>
          <a:xfrm>
            <a:off x="5207437" y="3312795"/>
            <a:ext cx="4215408" cy="2547938"/>
          </a:xfrm>
          <a:prstGeom prst="roundRect">
            <a:avLst>
              <a:gd name="adj" fmla="val 327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Text 8"/>
          <p:cNvSpPr/>
          <p:nvPr/>
        </p:nvSpPr>
        <p:spPr>
          <a:xfrm>
            <a:off x="5413415" y="351877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Zapytajcie ludzi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413415" y="3947993"/>
            <a:ext cx="38034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Anonimowa ankieta do wszystkich: „Z jakich narzędzi AI korzystasz w pracy? Do czego? Jakie dane tam wrzucasz?"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5413415" y="5019675"/>
            <a:ext cx="380345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Anonimowa - żeby ludzie nie bali się odpowiedzieć szczerze.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9621203" y="3312795"/>
            <a:ext cx="4215289" cy="2547938"/>
          </a:xfrm>
          <a:prstGeom prst="roundRect">
            <a:avLst>
              <a:gd name="adj" fmla="val 327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9827181" y="3518773"/>
            <a:ext cx="3803333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Zapisujcie przy każdym narzędziu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827181" y="4258151"/>
            <a:ext cx="3803333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Kto go używa, jakie dane tam wlatują, czy jest umowa, czy ktoś czytał regulamin, kto zatwierdził wdrożenie.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793790" y="608397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Efekt tygodnia: jedna tabela w Excelu. Kolumny: nazwa narzędzia, kto używa, jakie dane, czy jest umowa, czy jest zatwierdzone. Rzędy: wszystkie narzędzia AI w firmie.</a:t>
            </a:r>
            <a:endParaRPr lang="en-US" sz="15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640080"/>
            <a:ext cx="760571" cy="249793"/>
          </a:xfrm>
          <a:prstGeom prst="roundRect">
            <a:avLst>
              <a:gd name="adj" fmla="val 18688"/>
            </a:avLst>
          </a:prstGeom>
          <a:noFill/>
          <a:ln w="7620">
            <a:solidFill>
              <a:srgbClr val="2B0A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884753" y="689372"/>
            <a:ext cx="578644" cy="1512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50"/>
              </a:lnSpc>
              <a:buNone/>
            </a:pPr>
            <a:r>
              <a:rPr lang="en-US" sz="8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TYDZIEŃ 2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793790" y="928687"/>
            <a:ext cx="5657374" cy="3473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Klasyfikacja: Które narzędzia są high-risk</a:t>
            </a:r>
            <a:endParaRPr lang="en-US" sz="2150" dirty="0"/>
          </a:p>
        </p:txBody>
      </p:sp>
      <p:sp>
        <p:nvSpPr>
          <p:cNvPr id="5" name="Text 3"/>
          <p:cNvSpPr/>
          <p:nvPr/>
        </p:nvSpPr>
        <p:spPr>
          <a:xfrm>
            <a:off x="793790" y="1421844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Drugi tydzień poświęcacie na klasyfikację. Dla każdego narzędzia z waszej listy odpowiadacie na jedno pytanie: </a:t>
            </a:r>
            <a:r>
              <a:rPr lang="en-US" sz="10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czy podlega Aneksowi III AI Act?</a:t>
            </a:r>
            <a:endParaRPr lang="en-US" sz="10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23210" y="1720096"/>
            <a:ext cx="8983980" cy="50839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443388" y="2357884"/>
            <a:ext cx="3149824" cy="513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Czy narzędzie dotyczy rekrutacji?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443388" y="2944482"/>
            <a:ext cx="3149824" cy="34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Automatyczne decyzje przy zatrudnieniu?</a:t>
            </a:r>
            <a:endParaRPr lang="en-US" sz="12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643093" y="2357313"/>
            <a:ext cx="273898" cy="273898"/>
          </a:xfrm>
          <a:prstGeom prst="rect">
            <a:avLst/>
          </a:prstGeom>
        </p:spPr>
      </p:pic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739230" y="3361605"/>
            <a:ext cx="273898" cy="27389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230486" y="3360892"/>
            <a:ext cx="2956384" cy="256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Ocena zdolności kredytowej?</a:t>
            </a:r>
            <a:endParaRPr lang="en-US" sz="1600" dirty="0"/>
          </a:p>
        </p:txBody>
      </p:sp>
      <p:sp>
        <p:nvSpPr>
          <p:cNvPr id="12" name="Text 7"/>
          <p:cNvSpPr/>
          <p:nvPr/>
        </p:nvSpPr>
        <p:spPr>
          <a:xfrm>
            <a:off x="3037045" y="3690711"/>
            <a:ext cx="3149824" cy="17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Wpływ na dostęp do kredytów?</a:t>
            </a:r>
            <a:endParaRPr lang="en-US" sz="1250" dirty="0"/>
          </a:p>
        </p:txBody>
      </p:sp>
      <p:sp>
        <p:nvSpPr>
          <p:cNvPr id="13" name="Text 8"/>
          <p:cNvSpPr/>
          <p:nvPr/>
        </p:nvSpPr>
        <p:spPr>
          <a:xfrm>
            <a:off x="8443388" y="4366467"/>
            <a:ext cx="3149824" cy="513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Biometria lub dostęp do usług publicznych?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8443388" y="4953065"/>
            <a:ext cx="3149824" cy="349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Identyfikacja lub świadczenia publiczne?</a:t>
            </a:r>
            <a:endParaRPr lang="en-US" sz="125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43093" y="4365897"/>
            <a:ext cx="273898" cy="273898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3897683" y="5370760"/>
            <a:ext cx="2290613" cy="256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Egzekwowanie prawa?</a:t>
            </a:r>
            <a:endParaRPr lang="en-US" sz="1600" dirty="0"/>
          </a:p>
        </p:txBody>
      </p:sp>
      <p:sp>
        <p:nvSpPr>
          <p:cNvPr id="17" name="Text 11"/>
          <p:cNvSpPr/>
          <p:nvPr/>
        </p:nvSpPr>
        <p:spPr>
          <a:xfrm>
            <a:off x="3038472" y="5700578"/>
            <a:ext cx="3149824" cy="17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1350"/>
              </a:lnSpc>
              <a:buNone/>
            </a:pPr>
            <a:r>
              <a:rPr lang="en-US" sz="12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Wykrywanie, profilowanie lub dowody?</a:t>
            </a:r>
            <a:endParaRPr lang="en-US" sz="125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739230" y="5370188"/>
            <a:ext cx="273898" cy="27389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793790" y="6913364"/>
            <a:ext cx="13042821" cy="1889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musicie być ekspertami od AI Act. Flowchart jest prosty. Jeśli narzędzie jest używane do jednej z kategorii z Aneksu III - prawdopodobnie high-risk. Jeśli nie - prawdopodobnie nie.</a:t>
            </a:r>
            <a:endParaRPr lang="en-US" sz="1050" dirty="0"/>
          </a:p>
        </p:txBody>
      </p:sp>
      <p:sp>
        <p:nvSpPr>
          <p:cNvPr id="20" name="Text 13"/>
          <p:cNvSpPr/>
          <p:nvPr/>
        </p:nvSpPr>
        <p:spPr>
          <a:xfrm>
            <a:off x="793790" y="7211616"/>
            <a:ext cx="13042821" cy="37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50"/>
              </a:lnSpc>
              <a:buNone/>
            </a:pPr>
            <a:r>
              <a:rPr lang="en-US" sz="10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 każdym narzędziu zapisujecie też: kim jesteście? Providerem (tworzycie AI), deployerem (kupujecie i stosuujecie), czy użytkownikiem (pracownicy używają narzędzia od zewnętrznego dostawcy).</a:t>
            </a:r>
            <a:endParaRPr lang="en-US" sz="10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293614"/>
            <a:ext cx="1081326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2B0A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20472" y="1360765"/>
            <a:ext cx="827961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TYDZIEŃ 3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761292"/>
            <a:ext cx="783526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Właściciel procesu: Kto za to odpowiada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255508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Trzeci tydzień poświęcacie na jedną decyzję: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wskażcie jedną osobę odpowiedzialną za AI compliance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09586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musi to być nowy etat. Może to być Chief Compliance Officer, DPO, szef IT, szef prawny — ktoś, kto ma mandat zarządu i rozumie temat. Ktoś, kto będzie właścicielem procesu.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395418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 osoba dostaje za zadanie: do końca miesiąca przygotować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minimum viable policy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jedną stronę, co wolno, co nie wolno, do kogo się zgłaszać.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4991100"/>
            <a:ext cx="763202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 jedna osoba? Bo bez właściciela procesu nic się nie dzieje. Compliance bez nazwiska obok to compliance, które umiera w mailach między działami.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804773"/>
            <a:ext cx="7632025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 do końca miesiąca? Bo krótkość terminu zmusza do prostoty. Nie napiszecie 30-stronicowego dokumentu w tydzień. Napiszecie jedną stronę — która jest tym, czego ludzie potrzebują.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8774668" y="4812506"/>
            <a:ext cx="5212318" cy="2123480"/>
          </a:xfrm>
          <a:prstGeom prst="roundRect">
            <a:avLst>
              <a:gd name="adj" fmla="val 6730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8973026" y="501086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Kluczowe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973026" y="5519380"/>
            <a:ext cx="481560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Właściciel procesu to nie jest osoba, która robi wszystko. To jest osoba, która wie kto co robi i sprawdza czy się dzieje.</a:t>
            </a:r>
            <a:endParaRPr lang="en-US" sz="15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453515"/>
            <a:ext cx="1085850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2B0A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20472" y="1520666"/>
            <a:ext cx="832485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TYDZIEŃ 4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1921193"/>
            <a:ext cx="1043928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Polityka planu minimum: Jedna strona, nie trzydzieści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271498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Czwarty tydzień to efekt pracy właściciela procesu: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polityka AI na jedną stronę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25576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dwadzieścia stron. Nie załączniki, flowcharty, matryce odpowiedzialności. Jedna strona, która mówi: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37965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1438632" y="3864769"/>
            <a:ext cx="39407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Jakie narzędzia AI są dozwolone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1438632" y="4293989"/>
            <a:ext cx="5752505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Lista konkretnych narzędzi zatwierdzonych przez IT i prawny. Wszystko inne wymaga zgody.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7439144" y="3796546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8083987" y="3864769"/>
            <a:ext cx="536674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Jakie dane można do nich wrzucać, jakie nie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8083987" y="4293989"/>
            <a:ext cx="575262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Dane osobowe klientów -  nie. Dane osobowe pracowników - nie. Strategie, cenniki, tajemnice - nie. Pytania ogólne, research, drafty do własnego użytku - tak.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793790" y="564344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4" name="Text 12"/>
          <p:cNvSpPr/>
          <p:nvPr/>
        </p:nvSpPr>
        <p:spPr>
          <a:xfrm>
            <a:off x="1438632" y="5711666"/>
            <a:ext cx="379214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Kto zatwierdza nowe narzędzia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1438632" y="6140887"/>
            <a:ext cx="5752505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Nazwisko i mail. Osoba z tygodnia trzeciego.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7439144" y="5643443"/>
            <a:ext cx="446484" cy="446484"/>
          </a:xfrm>
          <a:prstGeom prst="roundRect">
            <a:avLst>
              <a:gd name="adj" fmla="val 18670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8083987" y="5711666"/>
            <a:ext cx="384452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robić gdy coś pójdzie nie tak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8083987" y="6140887"/>
            <a:ext cx="575262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Kogo informować. W jakim czasie. Jakie działania podjąć natychmiast.</a:t>
            </a:r>
            <a:endParaRPr lang="en-US" sz="15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05364"/>
            <a:ext cx="5128736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 komunikować politykę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8983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Politykę wysyłacie do wszystkich. Nie jako 30-stroniczny dokument do podpisu, a jako krótki mail od zarządu.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439114"/>
            <a:ext cx="13042821" cy="4785003"/>
          </a:xfrm>
          <a:prstGeom prst="roundRect">
            <a:avLst>
              <a:gd name="adj" fmla="val 1742"/>
            </a:avLst>
          </a:prstGeom>
          <a:solidFill>
            <a:srgbClr val="0A004D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48" y="2713792"/>
            <a:ext cx="310039" cy="248007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00545" y="2687003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Przykładowy mail</a:t>
            </a:r>
            <a:endParaRPr lang="en-US" sz="1950" dirty="0"/>
          </a:p>
        </p:txBody>
      </p:sp>
      <p:sp>
        <p:nvSpPr>
          <p:cNvPr id="7" name="Text 4"/>
          <p:cNvSpPr/>
          <p:nvPr/>
        </p:nvSpPr>
        <p:spPr>
          <a:xfrm>
            <a:off x="1500545" y="3195518"/>
            <a:ext cx="121377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Temat: Nowa polityka korzystania z narzędzi AI - obowiązuje od jutra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1500545" y="3691652"/>
            <a:ext cx="121377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Cześć wszystkim,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1500545" y="4187785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Wdrażamy nową politykę korzystania z narzędzi AI w firmie. To jedna strona - prosta, konkretna, łatwa do zrozumienia. Obowiązuje od jutra.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500545" y="5001458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Dlaczego? Bo AI to świetne narzędzie, ale niesie ryzyka - szczególnie gdy chodzi o dane klientów, tajemnice firmy, bezpieczeństwo. Chcemy, żebyście mogli korzystać z AI, ale bezpiecznie.</a:t>
            </a:r>
            <a:endParaRPr lang="en-US" sz="1550" dirty="0"/>
          </a:p>
        </p:txBody>
      </p:sp>
      <p:sp>
        <p:nvSpPr>
          <p:cNvPr id="11" name="Text 8"/>
          <p:cNvSpPr/>
          <p:nvPr/>
        </p:nvSpPr>
        <p:spPr>
          <a:xfrm>
            <a:off x="1500545" y="5815132"/>
            <a:ext cx="12137708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Polityka jest w załączniku. Jeśli macie pytania - piszcie do [imię, mail]. Jeśli chcecie użyć narzędzia, którego nie ma na liście - zgłaszajcie się tam samo.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1500545" y="6628805"/>
            <a:ext cx="121377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Dziękuję, [zarząd]</a:t>
            </a:r>
            <a:endParaRPr lang="en-US" sz="15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51673"/>
            <a:ext cx="7923967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jeśli ludzie nie będą stosować polityki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844641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Pytanie, które zawsze pada: co jeśli ludzie i tak będą używać niedozwolonych narzędzi?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38542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Odpowiedź jest prosta: będą. Część osób będzie. Ale to nie znaczy, że polityka nie ma sensu.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926205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Polityka nie jest barierą techniczną - jest barierą prawną i organizacyjną. Jeśli ludzie wiedzą, że jest polityka, że jest zakaz, że jest osoba odpowiedzialna - i mimo to używają narzędzi niedozwolonych - to już nie jest wina organizacji za brak polityki. To jest indywidualna odpowiedzialność pracownika za naruszenie zasad.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10206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to zmienia wszystko w kontekście art. 430 KC. Odpowiedzialność pracodawcy za podwładnego nie oznacza, że pracodawca odpowiada za wszystko co podwładny zrobi. Oznacza, że odpowiada za brak należytej staranności w doborze, instrukcji i nadzorze.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596038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macie politykę, szkolenie, nadzór - i mimo to pracownik naruszy zasady - odpowiedzialność jest inna niż gdy nie macie nic.</a:t>
            </a:r>
            <a:endParaRPr lang="en-US" sz="15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3790" y="1728907"/>
            <a:ext cx="1380411" cy="388382"/>
          </a:xfrm>
          <a:prstGeom prst="roundRect">
            <a:avLst>
              <a:gd name="adj" fmla="val 17171"/>
            </a:avLst>
          </a:prstGeom>
          <a:noFill/>
          <a:ln w="7620">
            <a:solidFill>
              <a:srgbClr val="2B0AFF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3" name="Text 1"/>
          <p:cNvSpPr/>
          <p:nvPr/>
        </p:nvSpPr>
        <p:spPr>
          <a:xfrm>
            <a:off x="920472" y="1796058"/>
            <a:ext cx="1127046" cy="2540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50" dirty="0">
                <a:solidFill>
                  <a:srgbClr val="2B0A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OPCJONALNIE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793790" y="2196584"/>
            <a:ext cx="802528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Pieniądze do wzięcia: Programy wsparcia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793790" y="299037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po tych czterech tygodniach chcecie iść dalej, są pieniądze publiczne, które możecie wykorzystać. Są realne programy, które wspierają wdrożenia AI compliance.</a:t>
            </a:r>
            <a:endParaRPr lang="en-US" sz="15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848695"/>
            <a:ext cx="496133" cy="49613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7930" y="3848695"/>
            <a:ext cx="281297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Ścieżka SMART (PARP)</a:t>
            </a:r>
            <a:endParaRPr lang="en-US" sz="1950" dirty="0"/>
          </a:p>
        </p:txBody>
      </p:sp>
      <p:sp>
        <p:nvSpPr>
          <p:cNvPr id="8" name="Text 5"/>
          <p:cNvSpPr/>
          <p:nvPr/>
        </p:nvSpPr>
        <p:spPr>
          <a:xfrm>
            <a:off x="1537930" y="4277916"/>
            <a:ext cx="3438049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Dofinansowanie na wdrożenie innowacyjnych rozwiązań, w tym AI. Dla MŚP do 10 milionów złotych. Wymaga biznesplanu i gotowości technologicznej, ale jest dostępne.</a:t>
            </a:r>
            <a:endParaRPr lang="en-US" sz="155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223986" y="3848695"/>
            <a:ext cx="496133" cy="496133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968127" y="3848695"/>
            <a:ext cx="3007757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Piaskownice regulacyjne</a:t>
            </a:r>
            <a:endParaRPr lang="en-US" sz="1950" dirty="0"/>
          </a:p>
        </p:txBody>
      </p:sp>
      <p:sp>
        <p:nvSpPr>
          <p:cNvPr id="11" name="Text 7"/>
          <p:cNvSpPr/>
          <p:nvPr/>
        </p:nvSpPr>
        <p:spPr>
          <a:xfrm>
            <a:off x="5968127" y="4277916"/>
            <a:ext cx="3438168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rozwijacie własne rozwiązania AI, od 2028 roku będą dostępne środowiska testowe z ulgami regulacyjnymi - możliwość testowania systemów high-risk w kontrolowanym środowisku, z ograniczoną odpowiedzialnością.</a:t>
            </a:r>
            <a:endParaRPr lang="en-US" sz="15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654302" y="3848695"/>
            <a:ext cx="496133" cy="496133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98443" y="3848695"/>
            <a:ext cx="310872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Program AIDA przy UODO</a:t>
            </a:r>
            <a:endParaRPr lang="en-US" sz="1950" dirty="0"/>
          </a:p>
        </p:txBody>
      </p:sp>
      <p:sp>
        <p:nvSpPr>
          <p:cNvPr id="14" name="Text 9"/>
          <p:cNvSpPr/>
          <p:nvPr/>
        </p:nvSpPr>
        <p:spPr>
          <a:xfrm>
            <a:off x="10398443" y="4277916"/>
            <a:ext cx="3438168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Bezpłatne narzędzia i wytyczne, które regulator udostępnia. 91% organizacji chce wsparcia regulatora - sprawdźcie, czy nie daje go już za darmo. Szablony DPIA, flowcharty klasyfikacyjne, interpretacje.</a:t>
            </a:r>
            <a:endParaRPr lang="en-US" sz="15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71218"/>
            <a:ext cx="649974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Gdzie śledzić zmiany: Trzy źródła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06418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zostawiam was z wrażeniem, że musicie teraz monitorować pięćdziesiąt źródeł, czytać codziennie dziesięć newsletterów, śledzić każdą publikację Komisji Europejskiej.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292250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Daję wam trzy źródła. To wystarczy, żebyście nie byli zaskoczeni.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346329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01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3777615"/>
            <a:ext cx="4215289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7" name="Text 5"/>
          <p:cNvSpPr/>
          <p:nvPr/>
        </p:nvSpPr>
        <p:spPr>
          <a:xfrm>
            <a:off x="793790" y="3922514"/>
            <a:ext cx="42152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Strona AI Office przy Komisji Europejskiej</a:t>
            </a:r>
            <a:endParaRPr lang="en-US" sz="1950" dirty="0"/>
          </a:p>
        </p:txBody>
      </p:sp>
      <p:sp>
        <p:nvSpPr>
          <p:cNvPr id="8" name="Text 6"/>
          <p:cNvSpPr/>
          <p:nvPr/>
        </p:nvSpPr>
        <p:spPr>
          <a:xfrm>
            <a:off x="793790" y="4661892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będą publikowane standardy, guidelines, kody praktyk. To jest źródło pierwotne - wszystko inne to interpretacje.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93790" y="5733574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Link: digital-strategy.ec.europa.eu/en/policies/ai-office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207437" y="346329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02</a:t>
            </a:r>
            <a:endParaRPr lang="en-US" sz="1550" dirty="0"/>
          </a:p>
        </p:txBody>
      </p:sp>
      <p:sp>
        <p:nvSpPr>
          <p:cNvPr id="11" name="Shape 9"/>
          <p:cNvSpPr/>
          <p:nvPr/>
        </p:nvSpPr>
        <p:spPr>
          <a:xfrm>
            <a:off x="5207437" y="3777615"/>
            <a:ext cx="4215408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2" name="Text 10"/>
          <p:cNvSpPr/>
          <p:nvPr/>
        </p:nvSpPr>
        <p:spPr>
          <a:xfrm>
            <a:off x="5207437" y="3922514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Strona UODO</a:t>
            </a:r>
            <a:endParaRPr lang="en-US" sz="1950" dirty="0"/>
          </a:p>
        </p:txBody>
      </p:sp>
      <p:sp>
        <p:nvSpPr>
          <p:cNvPr id="13" name="Text 11"/>
          <p:cNvSpPr/>
          <p:nvPr/>
        </p:nvSpPr>
        <p:spPr>
          <a:xfrm>
            <a:off x="5207437" y="4351734"/>
            <a:ext cx="42154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Tam będą polskie wytyczne, interpretacje, decyzje. UODO publikuje stanowiska w konkretnych sprawach - to jest najlepsza wskazówka jak regulator myśli.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5207437" y="5740956"/>
            <a:ext cx="4215408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Link: uodo.gov.pl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9621203" y="3463290"/>
            <a:ext cx="198358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 Light" pitchFamily="34" charset="0"/>
                <a:ea typeface="Inter Light" pitchFamily="34" charset="-122"/>
                <a:cs typeface="Inter Light" pitchFamily="34" charset="-120"/>
              </a:rPr>
              <a:t>03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9621203" y="3777615"/>
            <a:ext cx="4215289" cy="22860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7" name="Text 15"/>
          <p:cNvSpPr/>
          <p:nvPr/>
        </p:nvSpPr>
        <p:spPr>
          <a:xfrm>
            <a:off x="9621203" y="3922514"/>
            <a:ext cx="388489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Newsletter EU AI Act Newsletter</a:t>
            </a:r>
            <a:endParaRPr lang="en-US" sz="1950" dirty="0"/>
          </a:p>
        </p:txBody>
      </p:sp>
      <p:sp>
        <p:nvSpPr>
          <p:cNvPr id="18" name="Text 16"/>
          <p:cNvSpPr/>
          <p:nvPr/>
        </p:nvSpPr>
        <p:spPr>
          <a:xfrm>
            <a:off x="9621203" y="4351734"/>
            <a:ext cx="4215289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Dwutygodniowy przegląd zmian od Future of Life Institute. Bezpłatny, po angielsku, bez spamu. Kilka akapitów, kluczowe zmiany, linki do źródeł.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9621203" y="5740956"/>
            <a:ext cx="4215289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Link: futureoflife.org/ai-act-newsletter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793790" y="674072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Reszta to szum. Te trzy źródła wystarczą.</a:t>
            </a:r>
            <a:endParaRPr lang="en-US" sz="15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018353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Q&amp;A: Wasze pytania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403526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Otwieramy teraz 5-7 minut na pytania z sali. Zasada jest prosta: pytajcie o wszystko. Jeśli pytanie wymaga dłuższej odpowiedzi niż trzy minuty - dam wam kontakt i odpowiem po szkoleniu.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489358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ma głupich pytań. Są tylko pytania, których nie zadaliście - i potem żałujecie.</a:t>
            </a:r>
            <a:endParaRPr lang="en-US" sz="15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50695"/>
            <a:ext cx="8036123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Najczęstsze pytania z poprzednich edycji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643664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Żebyście wiedzieli czego się spodziewać, daję wam kilka pytań, które padają najczęściej: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3293566"/>
            <a:ext cx="99179" cy="99179"/>
          </a:xfrm>
          <a:prstGeom prst="roundRect">
            <a:avLst>
              <a:gd name="adj" fmla="val 460985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5" name="Text 3"/>
          <p:cNvSpPr/>
          <p:nvPr/>
        </p:nvSpPr>
        <p:spPr>
          <a:xfrm>
            <a:off x="1091327" y="3184446"/>
            <a:ext cx="3884652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„Czy ChatGPT w wersji płatnej (Plus, Enterprise) to bezpieczniejsze rozwiązanie niż darmowa?"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1327" y="4256127"/>
            <a:ext cx="3884652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Tak, ale nie dlatego że AI jest lepsze. Dlatego że warunki umowy są inne - w wersji Enterprise dane nie trafiają do treningu modelu, są umowy powierzenia przetwarzania, są gwarancje bezpieczeństwa. W darmowej wersji nie ma żadnej z tych rzeczy.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5223986" y="3293566"/>
            <a:ext cx="99179" cy="99179"/>
          </a:xfrm>
          <a:prstGeom prst="roundRect">
            <a:avLst>
              <a:gd name="adj" fmla="val 460985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8" name="Text 6"/>
          <p:cNvSpPr/>
          <p:nvPr/>
        </p:nvSpPr>
        <p:spPr>
          <a:xfrm>
            <a:off x="5521523" y="3184446"/>
            <a:ext cx="388477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„Czy musimy zgłaszać do UODO każde narzędzie AI, które wdrażamy?"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5521523" y="3938588"/>
            <a:ext cx="3884771" cy="190523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Nie. UODO nie prowadzi rejestru narzędzi AI. Ale jeśli narzędzie przetwarza dane osobowe, musicie mieć wpis w rejestrze czynności przetwarzania z RODO. I jeśli używa automated decision-making - DPIA.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9654302" y="3293566"/>
            <a:ext cx="99179" cy="99179"/>
          </a:xfrm>
          <a:prstGeom prst="roundRect">
            <a:avLst>
              <a:gd name="adj" fmla="val 460985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9951839" y="3184446"/>
            <a:ext cx="388477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„Co jeśli dostawca AI nie chce podpisać umowy powierzenia przetwarzania?"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9951839" y="3938588"/>
            <a:ext cx="3884771" cy="22227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możecie z niego korzystać do przetwarzania danych osobowych. Koniec. Jeśli dostawca nie chce być procesorem pod RODO, znaczy że albo nie rozumie RODO, albo świadomie tego unika. W obu przypadkach - nie korzystajcie.</a:t>
            </a:r>
            <a:endParaRPr lang="en-US" sz="15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524720"/>
            <a:ext cx="8341995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Zamknięcie - jedna myśl na koniec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35416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Kończę jednym zdaniem, które chcę żebyście zabrali ze sobą: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1091446" y="4305657"/>
            <a:ext cx="12745164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Raport UODO pokazuje, że 91% organizacji w Polsce chce wsparcia w zakresie AI. Jednocześnie 75% nie ma ekspertów, żeby to wsparcie wykorzystać.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1091446" y="5163979"/>
            <a:ext cx="12745164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Ktoś tę lukę wypełni. Pytanie brzmi - czy to będziecie wy, czy wasza konkurencja.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793790" y="4082415"/>
            <a:ext cx="22860" cy="1622346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822728"/>
            <a:ext cx="807219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Dlaczego to nie jest tylko problem prawny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715697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compliance nie jest działem prawnym. To jest dział zarządu. Bo decyzje, które podejmujecie w kontekście AI, mają bezpośredni wpływ na: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752612"/>
            <a:ext cx="6279356" cy="190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Ryzyko operacyjne - ile procesów może się zatrzymać gdy AI zawiedzie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Ryzyko reputacyjne - co się stanie gdy media napiszą o waszym systemie AI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Ryzyko finansowe - ile może was kosztować decyzja UODO lub wyrok sądu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564874" y="3752612"/>
            <a:ext cx="6279356" cy="190535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Przewagę konkurencyjną - jeśli macie compliance a konkurencja nie, wygrywają przetargi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Możliwość skalowania - systemy bez compliance nie przejdą do innych krajów UE</a:t>
            </a:r>
            <a:endParaRPr lang="en-US" sz="1550" dirty="0"/>
          </a:p>
          <a:p>
            <a:pPr marL="342900" indent="-342900" algn="l">
              <a:lnSpc>
                <a:spcPts val="2500"/>
              </a:lnSpc>
              <a:buSzPct val="100000"/>
              <a:buChar char="•"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Zdolność do pozyskiwania kapitału - inwestorzy pytają o AI risk management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811910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endParaRPr lang="en-US" sz="15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38068"/>
            <a:ext cx="5715953" cy="4217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Materiały do rozdania po szkoleniu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46490"/>
            <a:ext cx="1304282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 dzisiejszym dniu dostajesz pięć dokumentów. Nie prezentację - konkretne narzędzia, które możesz użyć jutro: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793790" y="1857375"/>
            <a:ext cx="13042821" cy="1012150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5" name="Shape 3"/>
          <p:cNvSpPr/>
          <p:nvPr/>
        </p:nvSpPr>
        <p:spPr>
          <a:xfrm>
            <a:off x="816650" y="1880235"/>
            <a:ext cx="674727" cy="966430"/>
          </a:xfrm>
          <a:prstGeom prst="roundRect">
            <a:avLst>
              <a:gd name="adj" fmla="val 6436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6" name="Text 4"/>
          <p:cNvSpPr/>
          <p:nvPr/>
        </p:nvSpPr>
        <p:spPr>
          <a:xfrm>
            <a:off x="1023699" y="2205276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1634728" y="2048827"/>
            <a:ext cx="4085749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Lista „10 pytań do vendora AI" z Bloku 2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1634728" y="2398276"/>
            <a:ext cx="1201043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Konkretne pytania, które zadajecie dostawcy przed podpisaniem umowy. Z wyjaśnieniem dlaczego każde pytanie jest ważne.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3790" y="3012877"/>
            <a:ext cx="13042821" cy="1012150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0" name="Shape 8"/>
          <p:cNvSpPr/>
          <p:nvPr/>
        </p:nvSpPr>
        <p:spPr>
          <a:xfrm>
            <a:off x="816650" y="3035737"/>
            <a:ext cx="674727" cy="966430"/>
          </a:xfrm>
          <a:prstGeom prst="roundRect">
            <a:avLst>
              <a:gd name="adj" fmla="val 6436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1" name="Text 9"/>
          <p:cNvSpPr/>
          <p:nvPr/>
        </p:nvSpPr>
        <p:spPr>
          <a:xfrm>
            <a:off x="1023699" y="3360777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950" dirty="0"/>
          </a:p>
        </p:txBody>
      </p:sp>
      <p:sp>
        <p:nvSpPr>
          <p:cNvPr id="12" name="Text 10"/>
          <p:cNvSpPr/>
          <p:nvPr/>
        </p:nvSpPr>
        <p:spPr>
          <a:xfrm>
            <a:off x="1634728" y="3204329"/>
            <a:ext cx="369784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Checklist „4 tygodnie po szkoleniu"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34728" y="3553778"/>
            <a:ext cx="1201043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Konkretne działania tydzień po tygodniu. Inwentaryzacja, klasyfikacja, właściciel procesu, polityka.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3790" y="4168378"/>
            <a:ext cx="13042821" cy="1012150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5" name="Shape 13"/>
          <p:cNvSpPr/>
          <p:nvPr/>
        </p:nvSpPr>
        <p:spPr>
          <a:xfrm>
            <a:off x="816650" y="4191238"/>
            <a:ext cx="674727" cy="966430"/>
          </a:xfrm>
          <a:prstGeom prst="roundRect">
            <a:avLst>
              <a:gd name="adj" fmla="val 6436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16" name="Text 14"/>
          <p:cNvSpPr/>
          <p:nvPr/>
        </p:nvSpPr>
        <p:spPr>
          <a:xfrm>
            <a:off x="1023699" y="4516279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950" dirty="0"/>
          </a:p>
        </p:txBody>
      </p:sp>
      <p:sp>
        <p:nvSpPr>
          <p:cNvPr id="17" name="Text 15"/>
          <p:cNvSpPr/>
          <p:nvPr/>
        </p:nvSpPr>
        <p:spPr>
          <a:xfrm>
            <a:off x="1634728" y="4359831"/>
            <a:ext cx="5154811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Timeline AI Act z uwzględnieniem Digital Omnibus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1634728" y="4709279"/>
            <a:ext cx="1201043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Jednoosobowa tabela: daty, obowiązki, kto odpowiada. Z zaznaczeniem co się zmieniło przez Omnibus.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3790" y="5323880"/>
            <a:ext cx="13042821" cy="1012150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0" name="Shape 18"/>
          <p:cNvSpPr/>
          <p:nvPr/>
        </p:nvSpPr>
        <p:spPr>
          <a:xfrm>
            <a:off x="816650" y="5346740"/>
            <a:ext cx="674727" cy="966430"/>
          </a:xfrm>
          <a:prstGeom prst="roundRect">
            <a:avLst>
              <a:gd name="adj" fmla="val 6436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1" name="Text 19"/>
          <p:cNvSpPr/>
          <p:nvPr/>
        </p:nvSpPr>
        <p:spPr>
          <a:xfrm>
            <a:off x="1023699" y="5671780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950" dirty="0"/>
          </a:p>
        </p:txBody>
      </p:sp>
      <p:sp>
        <p:nvSpPr>
          <p:cNvPr id="22" name="Text 20"/>
          <p:cNvSpPr/>
          <p:nvPr/>
        </p:nvSpPr>
        <p:spPr>
          <a:xfrm>
            <a:off x="1634728" y="5515332"/>
            <a:ext cx="3723442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Trzy źródła do monitorowania zmian</a:t>
            </a:r>
            <a:endParaRPr lang="en-US" sz="1650" dirty="0"/>
          </a:p>
        </p:txBody>
      </p:sp>
      <p:sp>
        <p:nvSpPr>
          <p:cNvPr id="23" name="Text 21"/>
          <p:cNvSpPr/>
          <p:nvPr/>
        </p:nvSpPr>
        <p:spPr>
          <a:xfrm>
            <a:off x="1634728" y="5864781"/>
            <a:ext cx="1201043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Office, UODO, EU AI Act Newsletter - linki i krótkie opisy co tam znajdziecie.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93790" y="6479381"/>
            <a:ext cx="13042821" cy="1012150"/>
          </a:xfrm>
          <a:prstGeom prst="roundRect">
            <a:avLst>
              <a:gd name="adj" fmla="val 7000"/>
            </a:avLst>
          </a:prstGeom>
          <a:solidFill>
            <a:srgbClr val="272525"/>
          </a:solidFill>
          <a:ln w="2286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25" name="Shape 23"/>
          <p:cNvSpPr/>
          <p:nvPr/>
        </p:nvSpPr>
        <p:spPr>
          <a:xfrm>
            <a:off x="816650" y="6502241"/>
            <a:ext cx="674727" cy="966430"/>
          </a:xfrm>
          <a:prstGeom prst="roundRect">
            <a:avLst>
              <a:gd name="adj" fmla="val 6436"/>
            </a:avLst>
          </a:prstGeom>
          <a:solidFill>
            <a:srgbClr val="110080"/>
          </a:solidFill>
          <a:ln/>
        </p:spPr>
        <p:txBody>
          <a:bodyPr/>
          <a:lstStyle/>
          <a:p>
            <a:endParaRPr lang="pl-PL"/>
          </a:p>
        </p:txBody>
      </p:sp>
      <p:sp>
        <p:nvSpPr>
          <p:cNvPr id="26" name="Text 24"/>
          <p:cNvSpPr/>
          <p:nvPr/>
        </p:nvSpPr>
        <p:spPr>
          <a:xfrm>
            <a:off x="1023699" y="6827282"/>
            <a:ext cx="253008" cy="3162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950" dirty="0"/>
          </a:p>
        </p:txBody>
      </p:sp>
      <p:sp>
        <p:nvSpPr>
          <p:cNvPr id="27" name="Text 25"/>
          <p:cNvSpPr/>
          <p:nvPr/>
        </p:nvSpPr>
        <p:spPr>
          <a:xfrm>
            <a:off x="1634728" y="6670834"/>
            <a:ext cx="2694265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Kontakt do prowadzącego</a:t>
            </a:r>
            <a:endParaRPr lang="en-US" sz="1650" dirty="0"/>
          </a:p>
        </p:txBody>
      </p:sp>
      <p:sp>
        <p:nvSpPr>
          <p:cNvPr id="28" name="Text 26"/>
          <p:cNvSpPr/>
          <p:nvPr/>
        </p:nvSpPr>
        <p:spPr>
          <a:xfrm>
            <a:off x="1634728" y="7020282"/>
            <a:ext cx="12010430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Dla pytań indywidualnych po szkoleniu. Odpowiadam w ciągu 48 godzin.</a:t>
            </a:r>
            <a:endParaRPr lang="en-US" sz="13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06987"/>
            <a:ext cx="5282208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 korzystać z materiałów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499955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Materiały nie są do czytania. Są do używania. Oto jak: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239095"/>
            <a:ext cx="279880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W pierwszym tygodniu</a:t>
            </a:r>
            <a:endParaRPr lang="en-US" sz="1950" dirty="0"/>
          </a:p>
        </p:txBody>
      </p:sp>
      <p:sp>
        <p:nvSpPr>
          <p:cNvPr id="5" name="Text 3"/>
          <p:cNvSpPr/>
          <p:nvPr/>
        </p:nvSpPr>
        <p:spPr>
          <a:xfrm>
            <a:off x="793790" y="3747611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Otwieracie checklist „4 tygodnie" i robicie tydzień pierwszy: inwentaryzacja. Dosłownie — wydrukujcie, rozdajcie komuś kto to zrobi, sprawdźcie w piątek czy zrobione.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564874" y="3239095"/>
            <a:ext cx="402467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Gdy kupujecie nowe narzędzie AI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564874" y="3747611"/>
            <a:ext cx="627935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Otwieracie „10 pytań do vendora" i zadajecie je dostawcy przed podpisaniem umowy. Jeśli nie umie odpowiedzieć — nie kupujecie.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793790" y="5300424"/>
            <a:ext cx="4538186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Gdy ktoś pyta „kiedy wchodzi AI Act"</a:t>
            </a:r>
            <a:endParaRPr lang="en-US" sz="1950" dirty="0"/>
          </a:p>
        </p:txBody>
      </p:sp>
      <p:sp>
        <p:nvSpPr>
          <p:cNvPr id="9" name="Text 7"/>
          <p:cNvSpPr/>
          <p:nvPr/>
        </p:nvSpPr>
        <p:spPr>
          <a:xfrm>
            <a:off x="793790" y="580894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Wysyłacie timeline. Nie tłumaczycie ustnie, nie piszecie maila - wysyłacie jedną stronę z datami.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564874" y="5300424"/>
            <a:ext cx="450401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Gdy chcecie wiedzieć co się zmieniło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7564874" y="5808940"/>
            <a:ext cx="6279356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 dwa tygodnie sprawdzacie newsletter EU AI Act. Pięć minut, kilka akapitów, wiecie czy coś was dotyczy.</a:t>
            </a:r>
            <a:endParaRPr lang="en-US" sz="15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2063234"/>
            <a:ext cx="10397609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robić gdy wracacie do firmy i nikt nie chce słuchać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956203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Pytanie, które pada zawsze pod koniec: „Wracam do firmy, będę chciał wdrożyć to co usłyszałem. Zarząd powie że nie ma pieniędzy, IT powie że nie ma czasu, prawny powie że to nie ich temat. Co robię?"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81452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Odpowiedź jest trudna, ale uczciwa: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próbujcie wdrożyć wszystkiego naraz</a:t>
            </a: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Nie przychodzicie w poniedziałek z 50-slajdową prezentacją „musimy zbudować AI governance."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672846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Przychodzicie z jednym pytaniem: „Czy wiemy jakie narzędzia AI są używane w firmie?" Jeśli odpowiedź brzmi „nie" - mówicie: „Zróbmy inwentaryzację. Jeden tydzień, anonimowa ankieta, jedna tabela w Excelu. Nie kosztuje nic, nie zajmuje nikomu więcej niż godzinę."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5531168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to robicie. Bez wielkich planów, bez budżetów, bez projektów. Robicie tydzień pierwszy z checklisty. A potem pokazujecie wynik i pytacie: „Teraz gdy wiemy co mamy - co z tym robimy?"</a:t>
            </a:r>
            <a:endParaRPr lang="en-US" sz="15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9637"/>
            <a:ext cx="8005643" cy="4712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700"/>
              </a:lnSpc>
              <a:buNone/>
            </a:pPr>
            <a:r>
              <a:rPr lang="en-US" sz="29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Jak rozmawiać z zarządem o AI compliance</a:t>
            </a:r>
            <a:endParaRPr lang="en-US" sz="2950" dirty="0"/>
          </a:p>
        </p:txBody>
      </p:sp>
      <p:sp>
        <p:nvSpPr>
          <p:cNvPr id="3" name="Text 1"/>
          <p:cNvSpPr/>
          <p:nvPr/>
        </p:nvSpPr>
        <p:spPr>
          <a:xfrm>
            <a:off x="793790" y="1739027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Druga część tego samego pytania: jak przekonać zarząd?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793790" y="2234684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przekonujecie argumentami prawnymi. Nie mówicie „art. 17 AI Act wymaga systemu zarządzania jakością." Zarząd nie rozumie art. 17 i nie obchodzi go art. 17.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3790" y="3024545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Mówicie trzy rzeczy, które zarząd rozumie: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93790" y="3520202"/>
            <a:ext cx="4228148" cy="3304103"/>
          </a:xfrm>
          <a:prstGeom prst="roundRect">
            <a:avLst>
              <a:gd name="adj" fmla="val 239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7" name="Shape 5"/>
          <p:cNvSpPr/>
          <p:nvPr/>
        </p:nvSpPr>
        <p:spPr>
          <a:xfrm>
            <a:off x="989886" y="3716298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5381" y="3871793"/>
            <a:ext cx="254437" cy="254437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89886" y="4460915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Ryzyko finansowe</a:t>
            </a:r>
            <a:endParaRPr lang="en-US" sz="1850" dirty="0"/>
          </a:p>
        </p:txBody>
      </p:sp>
      <p:sp>
        <p:nvSpPr>
          <p:cNvPr id="10" name="Text 7"/>
          <p:cNvSpPr/>
          <p:nvPr/>
        </p:nvSpPr>
        <p:spPr>
          <a:xfrm>
            <a:off x="989886" y="4862989"/>
            <a:ext cx="3835956" cy="17652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„UODO może nałożyć karę do 30 milionów euro lub 6% rocznego obrotu za naruszenie AI Act. Sąd cywilny może orzec odszkodowanie za szkodę wyrządzoną przez system AI. To nie jest abstrakcyjne ryzyko - to są pieniądze z konta firmy."</a:t>
            </a:r>
            <a:endParaRPr lang="en-US" sz="1450" dirty="0"/>
          </a:p>
        </p:txBody>
      </p:sp>
      <p:sp>
        <p:nvSpPr>
          <p:cNvPr id="11" name="Shape 8"/>
          <p:cNvSpPr/>
          <p:nvPr/>
        </p:nvSpPr>
        <p:spPr>
          <a:xfrm>
            <a:off x="5201007" y="3520202"/>
            <a:ext cx="4228267" cy="3304103"/>
          </a:xfrm>
          <a:prstGeom prst="roundRect">
            <a:avLst>
              <a:gd name="adj" fmla="val 239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2" name="Shape 9"/>
          <p:cNvSpPr/>
          <p:nvPr/>
        </p:nvSpPr>
        <p:spPr>
          <a:xfrm>
            <a:off x="5397103" y="3716298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552599" y="3871793"/>
            <a:ext cx="254437" cy="2544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397103" y="4460915"/>
            <a:ext cx="290083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Przewaga konkurencyjna</a:t>
            </a:r>
            <a:endParaRPr lang="en-US" sz="1850" dirty="0"/>
          </a:p>
        </p:txBody>
      </p:sp>
      <p:sp>
        <p:nvSpPr>
          <p:cNvPr id="15" name="Text 11"/>
          <p:cNvSpPr/>
          <p:nvPr/>
        </p:nvSpPr>
        <p:spPr>
          <a:xfrm>
            <a:off x="5397103" y="4862989"/>
            <a:ext cx="3836075" cy="147101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„Klienci zaczynają pytać o AI compliance w przetargach. Szczególnie sektor publiczny i korporacje. Jeśli jesteśmy gotowi a konkurencja nie - wygrywamy przetargi."</a:t>
            </a:r>
            <a:endParaRPr lang="en-US" sz="1450" dirty="0"/>
          </a:p>
        </p:txBody>
      </p:sp>
      <p:sp>
        <p:nvSpPr>
          <p:cNvPr id="16" name="Shape 12"/>
          <p:cNvSpPr/>
          <p:nvPr/>
        </p:nvSpPr>
        <p:spPr>
          <a:xfrm>
            <a:off x="9608344" y="3520202"/>
            <a:ext cx="4228148" cy="3304103"/>
          </a:xfrm>
          <a:prstGeom prst="roundRect">
            <a:avLst>
              <a:gd name="adj" fmla="val 2397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  <p:txBody>
          <a:bodyPr/>
          <a:lstStyle/>
          <a:p>
            <a:endParaRPr lang="pl-PL"/>
          </a:p>
        </p:txBody>
      </p:sp>
      <p:sp>
        <p:nvSpPr>
          <p:cNvPr id="17" name="Shape 13"/>
          <p:cNvSpPr/>
          <p:nvPr/>
        </p:nvSpPr>
        <p:spPr>
          <a:xfrm>
            <a:off x="9804440" y="3716298"/>
            <a:ext cx="565547" cy="565547"/>
          </a:xfrm>
          <a:prstGeom prst="roundRect">
            <a:avLst>
              <a:gd name="adj" fmla="val 16166801"/>
            </a:avLst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59935" y="3871793"/>
            <a:ext cx="254437" cy="254437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804440" y="4460915"/>
            <a:ext cx="2774275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Zdolność do skalowania</a:t>
            </a:r>
            <a:endParaRPr lang="en-US" sz="1850" dirty="0"/>
          </a:p>
        </p:txBody>
      </p:sp>
      <p:sp>
        <p:nvSpPr>
          <p:cNvPr id="20" name="Text 15"/>
          <p:cNvSpPr/>
          <p:nvPr/>
        </p:nvSpPr>
        <p:spPr>
          <a:xfrm>
            <a:off x="9804440" y="4862989"/>
            <a:ext cx="3835956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„Jeśli chcemy sprzedawać produkt w innych krajach UE, musimy spełniać AI Act. Bez compliance nie ma ekspansji międzynarodowej."</a:t>
            </a:r>
            <a:endParaRPr lang="en-US" sz="1450" dirty="0"/>
          </a:p>
        </p:txBody>
      </p:sp>
      <p:sp>
        <p:nvSpPr>
          <p:cNvPr id="21" name="Text 16"/>
          <p:cNvSpPr/>
          <p:nvPr/>
        </p:nvSpPr>
        <p:spPr>
          <a:xfrm>
            <a:off x="793790" y="7025759"/>
            <a:ext cx="13042821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są argumenty, które zarząd rozumie. Nie art. 17 - ryzyko, przewaga, wzrost.</a:t>
            </a:r>
            <a:endParaRPr lang="en-US" sz="14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4153"/>
            <a:ext cx="7265551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 dalej: ścieżki rozwoju kompetencji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68712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dzisiejszy dzień was zainspirował i chcecie iść dalej, macie kilka ścieżek: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3227903"/>
            <a:ext cx="4347567" cy="79379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92148" y="42200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Certyfikacja IAPP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992148" y="4649272"/>
            <a:ext cx="395085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Certified Artificial Intelligence Governance Professional (CAIGP) - międzynarodowy certyfikat z AI governance. Egzamin, materiały, społeczność praktyków.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41357" y="3227903"/>
            <a:ext cx="4347567" cy="7937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39715" y="4220051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Kursy AI Office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5339715" y="4649272"/>
            <a:ext cx="395085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Komisja Europejska uruchamia bezpłatne kursy online dla deployerów systemów high-risk. Praktyczne, z case studies, z certyfikatem uczestnictwa.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88924" y="3227903"/>
            <a:ext cx="4347567" cy="79379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9687282" y="4220051"/>
            <a:ext cx="272700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Konferencje i meetupy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9687282" y="4649272"/>
            <a:ext cx="3950851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AI &amp; Law Conference, Legal Tech meetupy w Warszawie, wydarzenia organizowane przez izby gospodarcze. Networking z ludźmi, którzy rozwiązują te same problemy.</a:t>
            </a:r>
            <a:endParaRPr lang="en-US" sz="15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792843"/>
            <a:ext cx="12568595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Ostatnia wskazówka: Zaczynajcie od problemów, nie od regulacji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2685812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Jedna ostatnia wskazówka, którą chcę żebyście zabrali ze sobą. Gdy będziecie wdrażać AI compliance w firmie - nie zaczynajcie od czytania AI Act.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544133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Zaczynajcie od pytania: </a:t>
            </a:r>
            <a:r>
              <a:rPr lang="en-US" sz="1550" b="1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jakie problemy chcemy rozwiązać za pomocą AI?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08491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Bo jeśli zaczynacie od regulacji, kończycie z compliance dla compliance. Dokumenty do szuflady, procedury których nikt nie stosuje, systemy które blokują innowację.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4943237"/>
            <a:ext cx="13042821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Jeśli zaczynacie od problemu biznesowego - „chcemy przyspieszyć obsługę klienta", „chcemy zredukować błędy w procesie", „chcemy lepiej targetować marketing" - regulacja staje się narzędziem, nie celem. Pytacie: jak zbudować ten system AI tak, żeby rozwiązywał problem biznesowy I był zgodny z prawem?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793790" y="6119098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 wtedy compliance przestaje być kosztem. Staje się częścią projektu - tak jak testowanie, deployment, monitoring.</a:t>
            </a:r>
            <a:endParaRPr lang="en-US" sz="15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936790"/>
            <a:ext cx="4961811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Dziękuję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953702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koniec Bloku 3 i koniec dzisiejszego dnia.</a:t>
            </a:r>
            <a:endParaRPr lang="en-US" sz="1550" dirty="0"/>
          </a:p>
        </p:txBody>
      </p:sp>
      <p:sp>
        <p:nvSpPr>
          <p:cNvPr id="4" name="Text 2"/>
          <p:cNvSpPr/>
          <p:nvPr/>
        </p:nvSpPr>
        <p:spPr>
          <a:xfrm>
            <a:off x="793790" y="3494484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Nie dziękuję za uwagę — dziękuję za aktywność. Za pytania, za dyskusję, za to że nie siedzieliście cicho tylko mówiliście co myślicie. Bo to jest jedyny sposób, żeby ten temat przestał być abstrakcyjny.</a:t>
            </a:r>
            <a:endParaRPr lang="en-US" sz="1550" dirty="0"/>
          </a:p>
        </p:txBody>
      </p:sp>
      <p:sp>
        <p:nvSpPr>
          <p:cNvPr id="5" name="Text 3"/>
          <p:cNvSpPr/>
          <p:nvPr/>
        </p:nvSpPr>
        <p:spPr>
          <a:xfrm>
            <a:off x="793790" y="4352806"/>
            <a:ext cx="13042821" cy="3175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Widzimy się w poniedziałek - w waszych firmach, gdy zaczniecie wdrażać to co dzisiaj usłyszeliście. Powodzenia.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1091446" y="5116830"/>
            <a:ext cx="12745164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dr Paweł Kowalski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Email: [kontakt]</a:t>
            </a:r>
            <a:endParaRPr lang="en-US" sz="1550" dirty="0"/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LinkedIn: [profil]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93790" y="4893588"/>
            <a:ext cx="22860" cy="1399103"/>
          </a:xfrm>
          <a:prstGeom prst="rect">
            <a:avLst/>
          </a:prstGeom>
          <a:solidFill>
            <a:srgbClr val="2B0AFF"/>
          </a:solidFill>
          <a:ln/>
        </p:spPr>
        <p:txBody>
          <a:bodyPr/>
          <a:lstStyle/>
          <a:p>
            <a:endParaRPr lang="pl-PL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ytuł 1">
            <a:extLst>
              <a:ext uri="{FF2B5EF4-FFF2-40B4-BE49-F238E27FC236}">
                <a16:creationId xmlns:a16="http://schemas.microsoft.com/office/drawing/2014/main" id="{E6828A4D-8DFF-DC49-B4A0-56033031FA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5232" y="571412"/>
            <a:ext cx="3454426" cy="3309570"/>
          </a:xfrm>
        </p:spPr>
        <p:txBody>
          <a:bodyPr vert="horz" lIns="109728" tIns="54864" rIns="109728" bIns="54864" rtlCol="0" anchor="t">
            <a:normAutofit fontScale="90000"/>
          </a:bodyPr>
          <a:lstStyle/>
          <a:p>
            <a:br>
              <a:rPr lang="en-US" sz="4800" b="1" dirty="0"/>
            </a:br>
            <a:r>
              <a:rPr lang="en-US" sz="4800" b="1" dirty="0" err="1"/>
              <a:t>Dziękuję</a:t>
            </a:r>
            <a:r>
              <a:rPr lang="en-US" sz="4800" b="1" dirty="0"/>
              <a:t> za </a:t>
            </a:r>
            <a:r>
              <a:rPr lang="en-US" sz="4800" b="1" dirty="0" err="1"/>
              <a:t>uwagę</a:t>
            </a:r>
            <a:r>
              <a:rPr lang="en-US" sz="4800" b="1" dirty="0"/>
              <a:t>!</a:t>
            </a:r>
            <a:br>
              <a:rPr lang="pl-PL" sz="4800" b="1" dirty="0"/>
            </a:br>
            <a:br>
              <a:rPr lang="pl-PL" sz="4800" b="1" dirty="0"/>
            </a:br>
            <a:r>
              <a:rPr lang="pl-PL" sz="2200" b="1" dirty="0"/>
              <a:t>W przypadku chęci dalszych szkoleń zapraszam do kontaktu na adres: </a:t>
            </a:r>
            <a:r>
              <a:rPr lang="pl-PL" sz="2200" b="1" dirty="0">
                <a:hlinkClick r:id="rId2"/>
              </a:rPr>
              <a:t>pawel.kowalski@luminai.pl</a:t>
            </a:r>
            <a:br>
              <a:rPr lang="pl-PL" sz="2200" b="1" dirty="0"/>
            </a:br>
            <a:br>
              <a:rPr lang="pl-PL" sz="2200" b="1" dirty="0"/>
            </a:br>
            <a:r>
              <a:rPr lang="pl-PL" sz="2200" b="1" dirty="0"/>
              <a:t>lub poprzez </a:t>
            </a:r>
            <a:r>
              <a:rPr lang="pl-PL" sz="2200" b="1" dirty="0">
                <a:hlinkClick r:id="rId3"/>
              </a:rPr>
              <a:t>www.luminai.pl</a:t>
            </a:r>
            <a:br>
              <a:rPr lang="pl-PL" sz="2200" b="1" dirty="0"/>
            </a:br>
            <a:br>
              <a:rPr lang="en-US" sz="2200" b="1" dirty="0"/>
            </a:br>
            <a:endParaRPr lang="en-US" sz="2200" dirty="0"/>
          </a:p>
        </p:txBody>
      </p:sp>
      <p:pic>
        <p:nvPicPr>
          <p:cNvPr id="5" name="Symbol zastępczy zawartości 4" descr="Obraz zawierający tekst, zrzut ekranu, wzór, Grafik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FF25F07D-8A4B-945C-66E7-DF482003A83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30261" y="2226197"/>
            <a:ext cx="3776896" cy="3776896"/>
          </a:xfrm>
          <a:prstGeom prst="rect">
            <a:avLst/>
          </a:prstGeom>
        </p:spPr>
      </p:pic>
      <p:pic>
        <p:nvPicPr>
          <p:cNvPr id="7" name="Obraz 6" descr="Obraz zawierający Ludzka twarz, osoba, uśmiech, ubrania&#10;&#10;Zawartość wygenerowana przez sztuczną inteligencję może być niepoprawna.">
            <a:extLst>
              <a:ext uri="{FF2B5EF4-FFF2-40B4-BE49-F238E27FC236}">
                <a16:creationId xmlns:a16="http://schemas.microsoft.com/office/drawing/2014/main" id="{313A29FA-1BF4-018F-48CC-091484A1174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9697" y="1290559"/>
            <a:ext cx="3770368" cy="5648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7742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Motyw pakietu Office">
  <a:themeElements>
    <a:clrScheme name="Pakiet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Pakiet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Pakiet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7186</Words>
  <Application>Microsoft Office PowerPoint</Application>
  <PresentationFormat>Niestandardowy</PresentationFormat>
  <Paragraphs>514</Paragraphs>
  <Slides>60</Slides>
  <Notes>59</Notes>
  <HiddenSlides>0</HiddenSlides>
  <MMClips>0</MMClips>
  <ScaleCrop>false</ScaleCrop>
  <HeadingPairs>
    <vt:vector size="4" baseType="variant">
      <vt:variant>
        <vt:lpstr>Motyw</vt:lpstr>
      </vt:variant>
      <vt:variant>
        <vt:i4>1</vt:i4>
      </vt:variant>
      <vt:variant>
        <vt:lpstr>Tytuły slajdów</vt:lpstr>
      </vt:variant>
      <vt:variant>
        <vt:i4>60</vt:i4>
      </vt:variant>
    </vt:vector>
  </HeadingPairs>
  <TitlesOfParts>
    <vt:vector size="61" baseType="lpstr">
      <vt:lpstr>Office Theme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Prezentacja programu PowerPoint</vt:lpstr>
      <vt:lpstr> Dziękuję za uwagę!  W przypadku chęci dalszych szkoleń zapraszam do kontaktu na adres: pawel.kowalski@luminai.pl  lub poprzez www.luminai.pl 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Paweł Kowalski</cp:lastModifiedBy>
  <cp:revision>2</cp:revision>
  <dcterms:created xsi:type="dcterms:W3CDTF">2026-02-06T22:53:43Z</dcterms:created>
  <dcterms:modified xsi:type="dcterms:W3CDTF">2026-02-09T12:07:07Z</dcterms:modified>
</cp:coreProperties>
</file>